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21c26e9cf1749c3" /><Relationship Type="http://schemas.openxmlformats.org/officeDocument/2006/relationships/extended-properties" Target="/docProps/app.xml" Id="Ra7f39348d6a5422c" /><Relationship Type="http://schemas.openxmlformats.org/officeDocument/2006/relationships/officeDocument" Target="/ppt/presentation.xml" Id="R37e4296ae4af4157" /></Relationships>
</file>

<file path=ppt/presentation.xml><?xml version="1.0" encoding="utf-8"?>
<p:presentation xmlns:p="http://schemas.openxmlformats.org/presentationml/2006/main">
  <p:sldMasterIdLst>
    <p:sldMasterId xmlns:r="http://schemas.openxmlformats.org/officeDocument/2006/relationships" id="2147483648" r:id="Rca877761a48647b3"/>
  </p:sldMasterIdLst>
  <p:notesMasterIdLst>
    <p:notesMasterId xmlns:r="http://schemas.openxmlformats.org/officeDocument/2006/relationships" r:id="Rd95d515b593042b6"/>
  </p:notesMasterIdLst>
  <p:sldIdLst>
    <p:sldId xmlns:r="http://schemas.openxmlformats.org/officeDocument/2006/relationships" id="256" r:id="R3c6a78c384784bd5"/>
    <p:sldId xmlns:r="http://schemas.openxmlformats.org/officeDocument/2006/relationships" id="257" r:id="Rd128d50dfbbc4eac"/>
    <p:sldId xmlns:r="http://schemas.openxmlformats.org/officeDocument/2006/relationships" id="258" r:id="Recd6b1e37a9d48dc"/>
    <p:sldId xmlns:r="http://schemas.openxmlformats.org/officeDocument/2006/relationships" id="259" r:id="R6739af223beb4803"/>
    <p:sldId xmlns:r="http://schemas.openxmlformats.org/officeDocument/2006/relationships" id="260" r:id="R84d170f1483b4d0d"/>
    <p:sldId xmlns:r="http://schemas.openxmlformats.org/officeDocument/2006/relationships" id="261" r:id="Rb0624dfc42694490"/>
    <p:sldId xmlns:r="http://schemas.openxmlformats.org/officeDocument/2006/relationships" id="262" r:id="R3f1fd88375de4185"/>
    <p:sldId xmlns:r="http://schemas.openxmlformats.org/officeDocument/2006/relationships" id="263" r:id="R38721a7048d64d6e"/>
    <p:sldId xmlns:r="http://schemas.openxmlformats.org/officeDocument/2006/relationships" id="264" r:id="Rf01cc88ada90428a"/>
    <p:sldId xmlns:r="http://schemas.openxmlformats.org/officeDocument/2006/relationships" id="265" r:id="R5894d9aa18244698"/>
    <p:sldId xmlns:r="http://schemas.openxmlformats.org/officeDocument/2006/relationships" id="266" r:id="R663f8af93d0f447d"/>
    <p:sldId xmlns:r="http://schemas.openxmlformats.org/officeDocument/2006/relationships" id="267" r:id="R6a3fa35946df48aa"/>
    <p:sldId xmlns:r="http://schemas.openxmlformats.org/officeDocument/2006/relationships" id="268" r:id="R366a71bb46fa471a"/>
    <p:sldId xmlns:r="http://schemas.openxmlformats.org/officeDocument/2006/relationships" id="269" r:id="R54948a31e9bb4af1"/>
    <p:sldId xmlns:r="http://schemas.openxmlformats.org/officeDocument/2006/relationships" id="270" r:id="R47be1a46679c4d00"/>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fe25c1db3e54905" /><Relationship Type="http://schemas.openxmlformats.org/officeDocument/2006/relationships/slideMaster" Target="/ppt/slideMasters/slideMaster1.xml" Id="Rca877761a48647b3" /><Relationship Type="http://schemas.openxmlformats.org/officeDocument/2006/relationships/notesMaster" Target="/ppt/notesMasters/notesMaster1.xml" Id="Rd95d515b593042b6" /><Relationship Type="http://schemas.openxmlformats.org/officeDocument/2006/relationships/presProps" Target="/ppt/presProps.xml" Id="R67176dd89e434dfe" /><Relationship Type="http://schemas.openxmlformats.org/officeDocument/2006/relationships/tableStyles" Target="/ppt/tableStyles.xml" Id="Rb88ff144e817418d" /><Relationship Type="http://schemas.openxmlformats.org/officeDocument/2006/relationships/slide" Target="/ppt/slides/slide1.xml" Id="R3c6a78c384784bd5" /><Relationship Type="http://schemas.openxmlformats.org/officeDocument/2006/relationships/slide" Target="/ppt/slides/slide2.xml" Id="Rd128d50dfbbc4eac" /><Relationship Type="http://schemas.openxmlformats.org/officeDocument/2006/relationships/slide" Target="/ppt/slides/slide3.xml" Id="Recd6b1e37a9d48dc" /><Relationship Type="http://schemas.openxmlformats.org/officeDocument/2006/relationships/slide" Target="/ppt/slides/slide4.xml" Id="R6739af223beb4803" /><Relationship Type="http://schemas.openxmlformats.org/officeDocument/2006/relationships/slide" Target="/ppt/slides/slide5.xml" Id="R84d170f1483b4d0d" /><Relationship Type="http://schemas.openxmlformats.org/officeDocument/2006/relationships/slide" Target="/ppt/slides/slide6.xml" Id="Rb0624dfc42694490" /><Relationship Type="http://schemas.openxmlformats.org/officeDocument/2006/relationships/slide" Target="/ppt/slides/slide7.xml" Id="R3f1fd88375de4185" /><Relationship Type="http://schemas.openxmlformats.org/officeDocument/2006/relationships/slide" Target="/ppt/slides/slide8.xml" Id="R38721a7048d64d6e" /><Relationship Type="http://schemas.openxmlformats.org/officeDocument/2006/relationships/slide" Target="/ppt/slides/slide9.xml" Id="Rf01cc88ada90428a" /><Relationship Type="http://schemas.openxmlformats.org/officeDocument/2006/relationships/slide" Target="/ppt/slides/slide10.xml" Id="R5894d9aa18244698" /><Relationship Type="http://schemas.openxmlformats.org/officeDocument/2006/relationships/slide" Target="/ppt/slides/slide11.xml" Id="R663f8af93d0f447d" /><Relationship Type="http://schemas.openxmlformats.org/officeDocument/2006/relationships/slide" Target="/ppt/slides/slide12.xml" Id="R6a3fa35946df48aa" /><Relationship Type="http://schemas.openxmlformats.org/officeDocument/2006/relationships/slide" Target="/ppt/slides/slide13.xml" Id="R366a71bb46fa471a" /><Relationship Type="http://schemas.openxmlformats.org/officeDocument/2006/relationships/slide" Target="/ppt/slides/slide14.xml" Id="R54948a31e9bb4af1" /><Relationship Type="http://schemas.openxmlformats.org/officeDocument/2006/relationships/slide" Target="/ppt/slides/slide15.xml" Id="R47be1a46679c4d0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0c22037c1d745e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90ee6050c674e44" /><Relationship Type="http://schemas.openxmlformats.org/officeDocument/2006/relationships/notesMaster" Target="/ppt/notesMasters/notesMaster1.xml" Id="Rd67fb44baa854353" /></Relationships>
</file>

<file path=ppt/notesSlides/_rels/notesSlide2.xml.rels>&#65279;<?xml version="1.0" encoding="utf-8"?><Relationships xmlns="http://schemas.openxmlformats.org/package/2006/relationships"><Relationship Type="http://schemas.openxmlformats.org/officeDocument/2006/relationships/slide" Target="/ppt/slides/slide2.xml" Id="Rd2d20670ab64424e" /><Relationship Type="http://schemas.openxmlformats.org/officeDocument/2006/relationships/notesMaster" Target="/ppt/notesMasters/notesMaster1.xml" Id="R975a319a02854de8" /></Relationships>
</file>

<file path=ppt/notesSlides/_rels/notesSlide3.xml.rels>&#65279;<?xml version="1.0" encoding="utf-8"?><Relationships xmlns="http://schemas.openxmlformats.org/package/2006/relationships"><Relationship Type="http://schemas.openxmlformats.org/officeDocument/2006/relationships/slide" Target="/ppt/slides/slide3.xml" Id="Rbb8bbc1a2caf45d6" /><Relationship Type="http://schemas.openxmlformats.org/officeDocument/2006/relationships/notesMaster" Target="/ppt/notesMasters/notesMaster1.xml" Id="R61dd905d19b74ddb" /></Relationships>
</file>

<file path=ppt/notesSlides/_rels/notesSlide4.xml.rels>&#65279;<?xml version="1.0" encoding="utf-8"?><Relationships xmlns="http://schemas.openxmlformats.org/package/2006/relationships"><Relationship Type="http://schemas.openxmlformats.org/officeDocument/2006/relationships/slide" Target="/ppt/slides/slide4.xml" Id="Rfa33224d44e546ed" /><Relationship Type="http://schemas.openxmlformats.org/officeDocument/2006/relationships/notesMaster" Target="/ppt/notesMasters/notesMaster1.xml" Id="Ra006324753fa49f3" /></Relationships>
</file>

<file path=ppt/notesSlides/_rels/notesSlide5.xml.rels>&#65279;<?xml version="1.0" encoding="utf-8"?><Relationships xmlns="http://schemas.openxmlformats.org/package/2006/relationships"><Relationship Type="http://schemas.openxmlformats.org/officeDocument/2006/relationships/slide" Target="/ppt/slides/slide5.xml" Id="Rd22065bdb5de48d1" /><Relationship Type="http://schemas.openxmlformats.org/officeDocument/2006/relationships/notesMaster" Target="/ppt/notesMasters/notesMaster1.xml" Id="R6f1f6b3805274ef0" /></Relationships>
</file>

<file path=ppt/notesSlides/_rels/notesSlide6.xml.rels>&#65279;<?xml version="1.0" encoding="utf-8"?><Relationships xmlns="http://schemas.openxmlformats.org/package/2006/relationships"><Relationship Type="http://schemas.openxmlformats.org/officeDocument/2006/relationships/slide" Target="/ppt/slides/slide6.xml" Id="R8d506d7a4ea3456a" /><Relationship Type="http://schemas.openxmlformats.org/officeDocument/2006/relationships/notesMaster" Target="/ppt/notesMasters/notesMaster1.xml" Id="Re17353dc12f14c77" /></Relationships>
</file>

<file path=ppt/notesSlides/_rels/notesSlide7.xml.rels>&#65279;<?xml version="1.0" encoding="utf-8"?><Relationships xmlns="http://schemas.openxmlformats.org/package/2006/relationships"><Relationship Type="http://schemas.openxmlformats.org/officeDocument/2006/relationships/slide" Target="/ppt/slides/slide7.xml" Id="R8c8dffa780f94de8" /><Relationship Type="http://schemas.openxmlformats.org/officeDocument/2006/relationships/notesMaster" Target="/ppt/notesMasters/notesMaster1.xml" Id="Re20d746e20f34690" /></Relationships>
</file>

<file path=ppt/notesSlides/_rels/notesSlide8.xml.rels>&#65279;<?xml version="1.0" encoding="utf-8"?><Relationships xmlns="http://schemas.openxmlformats.org/package/2006/relationships"><Relationship Type="http://schemas.openxmlformats.org/officeDocument/2006/relationships/slide" Target="/ppt/slides/slide8.xml" Id="R759e59f368d64768" /><Relationship Type="http://schemas.openxmlformats.org/officeDocument/2006/relationships/notesMaster" Target="/ppt/notesMasters/notesMaster1.xml" Id="Rb74e2f43ede94f88" /></Relationships>
</file>

<file path=ppt/notesSlides/_rels/notesSlide9.xml.rels>&#65279;<?xml version="1.0" encoding="utf-8"?><Relationships xmlns="http://schemas.openxmlformats.org/package/2006/relationships"><Relationship Type="http://schemas.openxmlformats.org/officeDocument/2006/relationships/slide" Target="/ppt/slides/slide9.xml" Id="R77afbc051354411e" /><Relationship Type="http://schemas.openxmlformats.org/officeDocument/2006/relationships/notesMaster" Target="/ppt/notesMasters/notesMaster1.xml" Id="R386757eb25a8437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f892efb379c47c5" /><Relationship Type="http://schemas.openxmlformats.org/officeDocument/2006/relationships/notesMaster" Target="/ppt/notesMasters/notesMaster1.xml" Id="Rc1f5355e861441f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165dc80b43d4b79" /><Relationship Type="http://schemas.openxmlformats.org/officeDocument/2006/relationships/notesMaster" Target="/ppt/notesMasters/notesMaster1.xml" Id="R4b12a287e46d4d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e0ae8fc7f5e4173" /><Relationship Type="http://schemas.openxmlformats.org/officeDocument/2006/relationships/notesMaster" Target="/ppt/notesMasters/notesMaster1.xml" Id="R0d210d743662465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13dbfccc0ba4bf4" /><Relationship Type="http://schemas.openxmlformats.org/officeDocument/2006/relationships/notesMaster" Target="/ppt/notesMasters/notesMaster1.xml" Id="R9eb9ceec14574ed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4064a32bdbe4569" /><Relationship Type="http://schemas.openxmlformats.org/officeDocument/2006/relationships/notesMaster" Target="/ppt/notesMasters/notesMaster1.xml" Id="Rf93db6b259dc402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901fc6edc0e4097" /><Relationship Type="http://schemas.openxmlformats.org/officeDocument/2006/relationships/notesMaster" Target="/ppt/notesMasters/notesMaster1.xml" Id="R1195a4bac8db415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AuthLab is a Teach Something project for university students and cybersecurity beginners. The problem is not that people have failed to memorise enough password advice. It is that one word—login—hides different decisions and different attack paths. My goal was to make those boundaries visible without asking anyone for a real credential.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 The audience does not need prior cryptography or programming. Six stable learning objectives fit three moves. First, identify the difference between identity, authentication and authorisation. Second, analyse replay, credential stuffing and real-time phishing. Third, explain how public-key proof is bound to a relying party while still naming recovery, device and implementation risks.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built a responsive web activity, learner workbook, separate facilitator guide, report, slides, a narrated demonstration and analysis tooling. [Play AuthLab_Presentation_Clip_25s.mp4 silently here; do not speak over the clip.] Form A and Form B use different wording but map to the same six objectives. The pre-test records answers without revealing correctness. Each module needs an explicit checkpoint, and Form B then gives the correct answer, rationale, distractor explanations and objective mapping.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The password lab changes one variable. A fixed fictional credential is exposed and tried against three fictional services, with no outbound request. Two services reuse the proof; one accepts a unique or non-replayable proof. The engineering lesson is propagation. Complexity can help guessing resistance, but a complex reused password is still a shared bearer secret. Controls must address exposure, automation, cross-service reuse and post-login privilege.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The phishing module does not rely on spelling mistakes or ugly pages. It asks who receives the proof: inspect the registered domain, verify whether the request fits the context, and use an independently trusted route. This also corrects a common MFA misconception. TOTP is short-lived and helps ordinary replay resistance, but a real-time adversary can relay it before expiry. Phishing resistance requires a protocol property, not merely another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In WebAuthn, a production server sends a fresh challenge. The authenticator signs for the relying party, while the relying party keeps public-key material. The private key is not sent during authentication. RP-ID and origin binding stop a copied domain from obtaining a valid assertion for the real domain. AuthLab teaches this conceptually by default. Its optional browser API call requires consent and is explicitly not a full login because no server persists or verifies the ceremony.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The technical evidence is genuine: installation, lint, behavioural tests, production build, security headers and four viewport checks are preserved in the evidence folder. The browser path shown here deliberately answers one TOTP item incorrectly, producing six out of six then five out of six. That proves hidden and revealed feedback plus score change work. It does not prove learning. No participant records were supplied, so effectiveness remains unmeasured.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 My conclusion is precise: security improves when the accepted proof changes, and project quality improves when evidence boundaries are explicit. AuthLab helps a beginner diagnose the failed layer, trace replay and relay, and explain RP-bound public-key authentication without entering real secrets. The artefact is complete and technically verified. Human effectiveness and my final personal reflection remain separate student responsibilities.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Passkeys reduce credential phishing through RP binding. They do not remove device compromise, weak recovery, malicious relying-party code, browser or authenticator defects, availability problems or excessive authorisation.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TOTP improves ordinary replay resistance because the code expires, but a live phishing proxy can forward it immediately. The missing property is verifier-name binding.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A production relying party must persist and verify challenge, origin, RP ID binding, credential record, flags and signature. AuthLab intentionally does none of those server-side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The random session code and item responses are de-identified because direct identity fields and exact timestamps are excluded. They are not guaranteed anonymous once combined with external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Parallel wording and delayed feedback improve internal validity, but a small convenience sample still cannot establish general or retained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The main limitations are an absent human dataset, no retention test, no production server-side WebAuthn, simplified phishing scenarios and no assistive-technology user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Future work should improve evidence and system completeness: genuine consented evaluation, a controlled production-style relying party, recovery-path threat modelling and accessibility/browser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111b16602f24b7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68d31d9854f4d72" /><Relationship Type="http://schemas.openxmlformats.org/officeDocument/2006/relationships/slideLayout" Target="/ppt/slideLayouts/slideLayout1.xml" Id="R0d840f0b05144a4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840f0b05144a4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396de1369da46a0" /><Relationship Type="http://schemas.openxmlformats.org/officeDocument/2006/relationships/image" Target="/ppt/media/image.png" Id="Ra78f9631d2054ea6" /><Relationship Type="http://schemas.openxmlformats.org/officeDocument/2006/relationships/notesSlide" Target="/ppt/notesSlides/notesSlide1.xml" Id="R0561c6057fe24d1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3af50c536d14e3c" /><Relationship Type="http://schemas.openxmlformats.org/officeDocument/2006/relationships/notesSlide" Target="/ppt/notesSlides/notesSlide2.xml" Id="R6d43cdae29204e8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c120a932daf4f61" /><Relationship Type="http://schemas.openxmlformats.org/officeDocument/2006/relationships/image" Target="/ppt/media/image2.png" Id="R470d503f60ee4dd3" /><Relationship Type="http://schemas.openxmlformats.org/officeDocument/2006/relationships/notesSlide" Target="/ppt/notesSlides/notesSlide3.xml" Id="R3255edffbd9f4bc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5666a5041d3405d" /><Relationship Type="http://schemas.openxmlformats.org/officeDocument/2006/relationships/image" Target="/ppt/media/image3.png" Id="R9a1d7b0e4f9d4839" /><Relationship Type="http://schemas.openxmlformats.org/officeDocument/2006/relationships/notesSlide" Target="/ppt/notesSlides/notesSlide4.xml" Id="R0d0f9e9bcb6748e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e04b7cfeb9c4b82" /><Relationship Type="http://schemas.openxmlformats.org/officeDocument/2006/relationships/image" Target="/ppt/media/image4.png" Id="Rad76cb318af9484a" /><Relationship Type="http://schemas.openxmlformats.org/officeDocument/2006/relationships/notesSlide" Target="/ppt/notesSlides/notesSlide5.xml" Id="R07c7427d5f9648d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0a7c6e823c94e48" /><Relationship Type="http://schemas.openxmlformats.org/officeDocument/2006/relationships/image" Target="/ppt/media/image5.png" Id="Reeb672a42dfa4eb6" /><Relationship Type="http://schemas.openxmlformats.org/officeDocument/2006/relationships/notesSlide" Target="/ppt/notesSlides/notesSlide6.xml" Id="Rf17c278624214ac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ce22375d6a2442d" /><Relationship Type="http://schemas.openxmlformats.org/officeDocument/2006/relationships/image" Target="/ppt/media/image6.png" Id="R9ab96a321eaa431e" /><Relationship Type="http://schemas.openxmlformats.org/officeDocument/2006/relationships/notesSlide" Target="/ppt/notesSlides/notesSlide7.xml" Id="R6e2f78d3492f47d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c67ea5c689a46e0" /><Relationship Type="http://schemas.openxmlformats.org/officeDocument/2006/relationships/notesSlide" Target="/ppt/notesSlides/notesSlide8.xml" Id="R73ffa058f04d418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5b42e80bae24c4c" /><Relationship Type="http://schemas.openxmlformats.org/officeDocument/2006/relationships/image" Target="/ppt/media/image5.png" Id="R571668aa50be4e61" /><Relationship Type="http://schemas.openxmlformats.org/officeDocument/2006/relationships/notesSlide" Target="/ppt/notesSlides/notesSlide9.xml" Id="Ra5706f040ab6461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134b3f07ce24ffc" /><Relationship Type="http://schemas.openxmlformats.org/officeDocument/2006/relationships/image" Target="/ppt/media/image4.png" Id="Re306d5abecc349c0" /><Relationship Type="http://schemas.openxmlformats.org/officeDocument/2006/relationships/notesSlide" Target="/ppt/notesSlides/notesSlide10.xml" Id="R4b4a989d2370424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f2f7e7d78a04b78" /><Relationship Type="http://schemas.openxmlformats.org/officeDocument/2006/relationships/image" Target="/ppt/media/image5.png" Id="Radfcf20f4a224d45" /><Relationship Type="http://schemas.openxmlformats.org/officeDocument/2006/relationships/notesSlide" Target="/ppt/notesSlides/notesSlide11.xml" Id="R2931a67504eb417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6f99de3870c4c0c" /><Relationship Type="http://schemas.openxmlformats.org/officeDocument/2006/relationships/image" Target="/ppt/media/image6.png" Id="R66dc2f05296142c5" /><Relationship Type="http://schemas.openxmlformats.org/officeDocument/2006/relationships/notesSlide" Target="/ppt/notesSlides/notesSlide12.xml" Id="R11de90c4f17941f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0afff4b2c454a87" /><Relationship Type="http://schemas.openxmlformats.org/officeDocument/2006/relationships/image" Target="/ppt/media/image6.png" Id="R83a6f03b6bcf4a64" /><Relationship Type="http://schemas.openxmlformats.org/officeDocument/2006/relationships/notesSlide" Target="/ppt/notesSlides/notesSlide13.xml" Id="R46a72eed2b874a1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58822a4717949a4" /><Relationship Type="http://schemas.openxmlformats.org/officeDocument/2006/relationships/notesSlide" Target="/ppt/notesSlides/notesSlide14.xml" Id="Rcd1f99cd43b14f2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bd05c3a65274492" /><Relationship Type="http://schemas.openxmlformats.org/officeDocument/2006/relationships/notesSlide" Target="/ppt/notesSlides/notesSlide15.xml" Id="Rf3ab316b3c8c40fc" /></Relationships>
</file>

<file path=ppt/slides/slide1.xml><?xml version="1.0" encoding="utf-8"?>
<p:sld xmlns:p="http://schemas.openxmlformats.org/presentationml/2006/main">
  <p:cSld>
    <p:bg>
      <p:bgPr>
        <a:solidFill xmlns:a="http://schemas.openxmlformats.org/drawingml/2006/main">
          <a:srgbClr val="07111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F35A88D-50E6-4EF6-A864-76E90EF3B912}"/>
              </a:ext>
            </a:extLst>
          </p:cNvPr>
          <p:cNvSpPr>
            <a:spLocks xmlns:a="http://schemas.openxmlformats.org/drawingml/2006/main" noGrp="1"/>
          </p:cNvSpPr>
          <p:nvPr/>
        </p:nvSpPr>
        <p:spPr>
          <a:xfrm xmlns:a="http://schemas.openxmlformats.org/drawingml/2006/main">
            <a:off x="0" y="0"/>
            <a:ext cx="752475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txBody>
          <a:bodyPr xmlns:a="http://schemas.openxmlformats.org/drawingml/2006/main"/>
          <a:lstStyle xmlns:a="http://schemas.openxmlformats.org/drawingml/2006/main"/>
          <a:p xmlns:a="http://schemas.openxmlformats.org/drawingml/2006/main"/>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78f9631d2054ea6"/>
          <a:srcRect xmlns:a="http://schemas.openxmlformats.org/drawingml/2006/main" l="0" t="0" r="0" b="0"/>
          <a:stretch xmlns:a="http://schemas.openxmlformats.org/drawingml/2006/main">
            <a:fillRect l="0" t="0" r="0" b="0"/>
          </a:stretch>
        </p:blipFill>
        <p:spPr>
          <a:xfrm xmlns:a="http://schemas.openxmlformats.org/drawingml/2006/main" flipH="0" flipV="0">
            <a:off x="7239000" y="0"/>
            <a:ext cx="4953000" cy="6858000"/>
          </a:xfrm>
          <a:prstGeom xmlns:a="http://schemas.openxmlformats.org/drawingml/2006/main" prst="roundRect">
            <a:avLst/>
          </a:prstGeom>
        </p:spPr>
      </p:pic>
      <p:sp>
        <p:nvSpPr>
          <p:cNvPr id="3" name="">
            <a:extLst xmlns:a="http://schemas.openxmlformats.org/drawingml/2006/main">
              <a:ext uri="{FF2B5EF4-FFF2-40B4-BE49-F238E27FC236}">
                <a16:creationId xmlns:a16="http://schemas.microsoft.com/office/drawing/2014/main" id="{DCDE3A6F-F609-4262-BFB7-84D30C4B4955}"/>
              </a:ext>
            </a:extLst>
          </p:cNvPr>
          <p:cNvSpPr>
            <a:spLocks xmlns:a="http://schemas.openxmlformats.org/drawingml/2006/main" noGrp="1"/>
          </p:cNvSpPr>
          <p:nvPr/>
        </p:nvSpPr>
        <p:spPr>
          <a:xfrm xmlns:a="http://schemas.openxmlformats.org/drawingml/2006/main">
            <a:off x="6896100" y="0"/>
            <a:ext cx="85725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319157C5-50AF-4FD5-B6F3-C2E092961130}"/>
              </a:ext>
            </a:extLst>
          </p:cNvPr>
          <p:cNvSpPr>
            <a:spLocks xmlns:a="http://schemas.openxmlformats.org/drawingml/2006/main" noGrp="1"/>
          </p:cNvSpPr>
          <p:nvPr/>
        </p:nvSpPr>
        <p:spPr>
          <a:xfrm xmlns:a="http://schemas.openxmlformats.org/drawingml/2006/main">
            <a:off x="590550" y="476250"/>
            <a:ext cx="2819400" cy="361950"/>
          </a:xfrm>
          <a:prstGeom xmlns:a="http://schemas.openxmlformats.org/drawingml/2006/main" prst="roundRect">
            <a:avLst>
              <a:gd name="adj" fmla="val 50000"/>
            </a:avLst>
          </a:prstGeom>
          <a:solidFill xmlns:a="http://schemas.openxmlformats.org/drawingml/2006/main">
            <a:srgbClr val="48D2C2"/>
          </a:solidFill>
          <a:ln xmlns:a="http://schemas.openxmlformats.org/drawingml/2006/main" w="0">
            <a:solidFill>
              <a:srgbClr val="48D2C2"/>
            </a:solidFill>
            <a:prstDash val="solid"/>
          </a:ln>
        </p:spPr>
        <p:txBody>
          <a:bodyPr xmlns:a="http://schemas.openxmlformats.org/drawingml/2006/main"/>
          <a:lstStyle xmlns:a="http://schemas.openxmlformats.org/drawingml/2006/main"/>
          <a:p xmlns:a="http://schemas.openxmlformats.org/drawingml/2006/main"/>
        </p:txBody>
      </p:sp>
      <p:sp>
        <p:nvSpPr>
          <p:cNvPr id="5" name="">
            <a:extLst xmlns:a="http://schemas.openxmlformats.org/drawingml/2006/main">
              <a:ext uri="{FF2B5EF4-FFF2-40B4-BE49-F238E27FC236}">
                <a16:creationId xmlns:a16="http://schemas.microsoft.com/office/drawing/2014/main" id="{AE627875-B7CD-48D0-BEAD-E083058510E8}"/>
              </a:ext>
            </a:extLst>
          </p:cNvPr>
          <p:cNvSpPr>
            <a:spLocks xmlns:a="http://schemas.openxmlformats.org/drawingml/2006/main" noGrp="1"/>
          </p:cNvSpPr>
          <p:nvPr/>
        </p:nvSpPr>
        <p:spPr>
          <a:xfrm xmlns:a="http://schemas.openxmlformats.org/drawingml/2006/main">
            <a:off x="704850" y="552450"/>
            <a:ext cx="2590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COMP6441 SECURITY ENGINEERING</a:t>
            </a:r>
          </a:p>
        </p:txBody>
      </p:sp>
      <p:sp>
        <p:nvSpPr>
          <p:cNvPr id="6" name="">
            <a:extLst xmlns:a="http://schemas.openxmlformats.org/drawingml/2006/main">
              <a:ext uri="{FF2B5EF4-FFF2-40B4-BE49-F238E27FC236}">
                <a16:creationId xmlns:a16="http://schemas.microsoft.com/office/drawing/2014/main" id="{767C8A34-F025-4392-9E89-C102C761E1EF}"/>
              </a:ext>
            </a:extLst>
          </p:cNvPr>
          <p:cNvSpPr>
            <a:spLocks xmlns:a="http://schemas.openxmlformats.org/drawingml/2006/main" noGrp="1"/>
          </p:cNvSpPr>
          <p:nvPr/>
        </p:nvSpPr>
        <p:spPr>
          <a:xfrm xmlns:a="http://schemas.openxmlformats.org/drawingml/2006/main">
            <a:off x="590550" y="1447800"/>
            <a:ext cx="6191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4650" b="1">
                <a:solidFill>
                  <a:srgbClr val="FFFFFF"/>
                </a:solidFill>
                <a:latin typeface="Arial"/>
                <a:ea typeface="Arial"/>
                <a:cs typeface="Arial"/>
              </a:defRPr>
            </a:pPr>
            <a:r>
              <a:rPr sz="4650" b="1">
                <a:solidFill>
                  <a:srgbClr val="FFFFFF"/>
                </a:solidFill>
                <a:latin typeface="Arial"/>
                <a:ea typeface="Arial"/>
                <a:cs typeface="Arial"/>
              </a:rPr>
              <a:t>FROM PASSWORDS</a:t>
            </a:r>
          </a:p>
          <a:p xmlns:a="http://schemas.openxmlformats.org/drawingml/2006/main">
            <a:pPr algn="l">
              <a:buNone/>
              <a:defRPr sz="4650" b="1">
                <a:solidFill>
                  <a:srgbClr val="FFFFFF"/>
                </a:solidFill>
                <a:latin typeface="Arial"/>
                <a:ea typeface="Arial"/>
                <a:cs typeface="Arial"/>
              </a:defRPr>
            </a:pPr>
            <a:r>
              <a:rPr sz="4650" b="1">
                <a:solidFill>
                  <a:srgbClr val="FFFFFF"/>
                </a:solidFill>
                <a:latin typeface="Arial"/>
                <a:ea typeface="Arial"/>
                <a:cs typeface="Arial"/>
              </a:rPr>
              <a:t>TO PASSKEYS</a:t>
            </a:r>
          </a:p>
        </p:txBody>
      </p:sp>
      <p:sp>
        <p:nvSpPr>
          <p:cNvPr id="7" name="">
            <a:extLst xmlns:a="http://schemas.openxmlformats.org/drawingml/2006/main">
              <a:ext uri="{FF2B5EF4-FFF2-40B4-BE49-F238E27FC236}">
                <a16:creationId xmlns:a16="http://schemas.microsoft.com/office/drawing/2014/main" id="{953B05C2-DCD8-4B08-815A-D9EBCD9EBADC}"/>
              </a:ext>
            </a:extLst>
          </p:cNvPr>
          <p:cNvSpPr>
            <a:spLocks xmlns:a="http://schemas.openxmlformats.org/drawingml/2006/main" noGrp="1"/>
          </p:cNvSpPr>
          <p:nvPr/>
        </p:nvSpPr>
        <p:spPr>
          <a:xfrm xmlns:a="http://schemas.openxmlformats.org/drawingml/2006/main">
            <a:off x="609600" y="3695700"/>
            <a:ext cx="5810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0">
                <a:solidFill>
                  <a:srgbClr val="A9B5C5"/>
                </a:solidFill>
                <a:latin typeface="Arial"/>
                <a:ea typeface="Arial"/>
                <a:cs typeface="Arial"/>
              </a:defRPr>
            </a:pPr>
            <a:r>
              <a:rPr sz="1875" b="0">
                <a:solidFill>
                  <a:srgbClr val="A9B5C5"/>
                </a:solidFill>
                <a:latin typeface="Arial"/>
                <a:ea typeface="Arial"/>
                <a:cs typeface="Arial"/>
              </a:rPr>
              <a:t>An interactive guide to authentication, phishing, MFA and WebAuthn</a:t>
            </a:r>
          </a:p>
        </p:txBody>
      </p:sp>
      <p:sp>
        <p:nvSpPr>
          <p:cNvPr id="8" name="">
            <a:extLst xmlns:a="http://schemas.openxmlformats.org/drawingml/2006/main">
              <a:ext uri="{FF2B5EF4-FFF2-40B4-BE49-F238E27FC236}">
                <a16:creationId xmlns:a16="http://schemas.microsoft.com/office/drawing/2014/main" id="{0427C1EA-51AB-4937-A927-70DD84349D7F}"/>
              </a:ext>
            </a:extLst>
          </p:cNvPr>
          <p:cNvSpPr>
            <a:spLocks xmlns:a="http://schemas.openxmlformats.org/drawingml/2006/main" noGrp="1"/>
          </p:cNvSpPr>
          <p:nvPr/>
        </p:nvSpPr>
        <p:spPr>
          <a:xfrm xmlns:a="http://schemas.openxmlformats.org/drawingml/2006/main">
            <a:off x="609600" y="4829175"/>
            <a:ext cx="1143000" cy="66675"/>
          </a:xfrm>
          <a:prstGeom xmlns:a="http://schemas.openxmlformats.org/drawingml/2006/main" prst="rect">
            <a:avLst/>
          </a:prstGeom>
          <a:solidFill xmlns:a="http://schemas.openxmlformats.org/drawingml/2006/main">
            <a:srgbClr val="48D2C2"/>
          </a:solidFill>
          <a:ln xmlns:a="http://schemas.openxmlformats.org/drawingml/2006/main" w="0">
            <a:solidFill>
              <a:srgbClr val="48D2C2"/>
            </a:solidFill>
            <a:prstDash val="solid"/>
          </a:ln>
        </p:spPr>
        <p:txBody>
          <a:bodyPr xmlns:a="http://schemas.openxmlformats.org/drawingml/2006/main"/>
          <a:lstStyle xmlns:a="http://schemas.openxmlformats.org/drawingml/2006/main"/>
          <a:p xmlns:a="http://schemas.openxmlformats.org/drawingml/2006/main"/>
        </p:txBody>
      </p:sp>
      <p:sp>
        <p:nvSpPr>
          <p:cNvPr id="9" name="">
            <a:extLst xmlns:a="http://schemas.openxmlformats.org/drawingml/2006/main">
              <a:ext uri="{FF2B5EF4-FFF2-40B4-BE49-F238E27FC236}">
                <a16:creationId xmlns:a16="http://schemas.microsoft.com/office/drawing/2014/main" id="{C4AC16A1-3BB0-4FDE-9E67-A0D970F3ACDA}"/>
              </a:ext>
            </a:extLst>
          </p:cNvPr>
          <p:cNvSpPr>
            <a:spLocks xmlns:a="http://schemas.openxmlformats.org/drawingml/2006/main" noGrp="1"/>
          </p:cNvSpPr>
          <p:nvPr/>
        </p:nvSpPr>
        <p:spPr>
          <a:xfrm xmlns:a="http://schemas.openxmlformats.org/drawingml/2006/main">
            <a:off x="609600" y="5200650"/>
            <a:ext cx="533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Name: ____________   zID: ____________</a:t>
            </a:r>
          </a:p>
        </p:txBody>
      </p:sp>
      <p:sp>
        <p:nvSpPr>
          <p:cNvPr id="10" name="">
            <a:extLst xmlns:a="http://schemas.openxmlformats.org/drawingml/2006/main">
              <a:ext uri="{FF2B5EF4-FFF2-40B4-BE49-F238E27FC236}">
                <a16:creationId xmlns:a16="http://schemas.microsoft.com/office/drawing/2014/main" id="{10A4FCBC-BDA0-4C78-9C68-B77363EAE79B}"/>
              </a:ext>
            </a:extLst>
          </p:cNvPr>
          <p:cNvSpPr>
            <a:spLocks xmlns:a="http://schemas.openxmlformats.org/drawingml/2006/main" noGrp="1"/>
          </p:cNvSpPr>
          <p:nvPr/>
        </p:nvSpPr>
        <p:spPr>
          <a:xfrm xmlns:a="http://schemas.openxmlformats.org/drawingml/2006/main">
            <a:off x="609600" y="56959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00" b="0">
                <a:solidFill>
                  <a:srgbClr val="A9B5C5"/>
                </a:solidFill>
                <a:latin typeface="Arial"/>
                <a:ea typeface="Arial"/>
                <a:cs typeface="Arial"/>
              </a:defRPr>
            </a:pPr>
            <a:r>
              <a:rPr sz="1200" b="0">
                <a:solidFill>
                  <a:srgbClr val="A9B5C5"/>
                </a:solidFill>
                <a:latin typeface="Arial"/>
                <a:ea typeface="Arial"/>
                <a:cs typeface="Arial"/>
              </a:rPr>
              <a:t>Teach Something · beginner audience · maximum 5 minutes</a:t>
            </a:r>
          </a:p>
        </p:txBody>
      </p:sp>
    </p:spTree>
    <p:extLst>
      <p:ext uri="{BB962C8B-B14F-4D97-AF65-F5344CB8AC3E}">
        <p14:creationId xmlns:p14="http://schemas.microsoft.com/office/powerpoint/2010/main" val="1522844067"/>
      </p:ext>
    </p:extLst>
  </p:cSld>
</p:sld>
</file>

<file path=ppt/slides/slide2.xml><?xml version="1.0" encoding="utf-8"?>
<p:sld xmlns:p="http://schemas.openxmlformats.org/presentationml/2006/main">
  <p:cSld>
    <p:bg>
      <p:bgPr>
        <a:solidFill xmlns:a="http://schemas.openxmlformats.org/drawingml/2006/main">
          <a:srgbClr val="07111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DBDB1837-3003-45D2-BDCB-537CDA059026}"/>
              </a:ext>
            </a:extLst>
          </p:cNvPr>
          <p:cNvSpPr>
            <a:spLocks xmlns:a="http://schemas.openxmlformats.org/drawingml/2006/main" noGrp="1"/>
          </p:cNvSpPr>
          <p:nvPr/>
        </p:nvSpPr>
        <p:spPr>
          <a:xfrm xmlns:a="http://schemas.openxmlformats.org/drawingml/2006/main">
            <a:off x="514350" y="2857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48D2C2"/>
                </a:solidFill>
                <a:latin typeface="Arial"/>
                <a:ea typeface="Arial"/>
                <a:cs typeface="Arial"/>
              </a:defRPr>
            </a:pPr>
            <a:r>
              <a:rPr sz="975" b="1">
                <a:solidFill>
                  <a:srgbClr val="48D2C2"/>
                </a:solidFill>
                <a:latin typeface="Arial"/>
                <a:ea typeface="Arial"/>
                <a:cs typeface="Arial"/>
              </a:rPr>
              <a:t>AUTHLAB  /  PROBLEM</a:t>
            </a:r>
          </a:p>
        </p:txBody>
      </p:sp>
      <p:sp>
        <p:nvSpPr>
          <p:cNvPr id="2" name="">
            <a:extLst xmlns:a="http://schemas.openxmlformats.org/drawingml/2006/main">
              <a:ext uri="{FF2B5EF4-FFF2-40B4-BE49-F238E27FC236}">
                <a16:creationId xmlns:a16="http://schemas.microsoft.com/office/drawing/2014/main" id="{3799FD52-1E0E-4554-8819-1B1B22429E42}"/>
              </a:ext>
            </a:extLst>
          </p:cNvPr>
          <p:cNvSpPr>
            <a:spLocks xmlns:a="http://schemas.openxmlformats.org/drawingml/2006/main" noGrp="1"/>
          </p:cNvSpPr>
          <p:nvPr/>
        </p:nvSpPr>
        <p:spPr>
          <a:xfrm xmlns:a="http://schemas.openxmlformats.org/drawingml/2006/main">
            <a:off x="11334750" y="295275"/>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A9B5C5"/>
                </a:solidFill>
                <a:latin typeface="Arial"/>
                <a:ea typeface="Arial"/>
                <a:cs typeface="Arial"/>
              </a:defRPr>
            </a:pPr>
            <a:r>
              <a:rPr sz="975" b="1">
                <a:solidFill>
                  <a:srgbClr val="A9B5C5"/>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7BCE8863-49D0-46B1-8AF9-B3554946BD27}"/>
              </a:ext>
            </a:extLst>
          </p:cNvPr>
          <p:cNvSpPr>
            <a:spLocks xmlns:a="http://schemas.openxmlformats.org/drawingml/2006/main" noGrp="1"/>
          </p:cNvSpPr>
          <p:nvPr/>
        </p:nvSpPr>
        <p:spPr>
          <a:xfrm xmlns:a="http://schemas.openxmlformats.org/drawingml/2006/main">
            <a:off x="514350" y="590550"/>
            <a:ext cx="11182350" cy="19050"/>
          </a:xfrm>
          <a:prstGeom xmlns:a="http://schemas.openxmlformats.org/drawingml/2006/main" prst="rect">
            <a:avLst/>
          </a:prstGeom>
          <a:solidFill xmlns:a="http://schemas.openxmlformats.org/drawingml/2006/main">
            <a:srgbClr val="263B58"/>
          </a:solidFill>
          <a:ln xmlns:a="http://schemas.openxmlformats.org/drawingml/2006/main" w="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CF5F430C-2EA5-4A7D-8B88-575AB98704BA}"/>
              </a:ext>
            </a:extLst>
          </p:cNvPr>
          <p:cNvSpPr>
            <a:spLocks xmlns:a="http://schemas.openxmlformats.org/drawingml/2006/main" noGrp="1"/>
          </p:cNvSpPr>
          <p:nvPr/>
        </p:nvSpPr>
        <p:spPr>
          <a:xfrm xmlns:a="http://schemas.openxmlformats.org/drawingml/2006/main">
            <a:off x="514350" y="800100"/>
            <a:ext cx="11049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FFFFFF"/>
                </a:solidFill>
                <a:latin typeface="Arial"/>
                <a:ea typeface="Arial"/>
                <a:cs typeface="Arial"/>
              </a:defRPr>
            </a:pPr>
            <a:r>
              <a:rPr sz="3150" b="1">
                <a:solidFill>
                  <a:srgbClr val="FFFFFF"/>
                </a:solidFill>
                <a:latin typeface="Arial"/>
                <a:ea typeface="Arial"/>
                <a:cs typeface="Arial"/>
              </a:rPr>
              <a:t>A login fails in three different places</a:t>
            </a:r>
          </a:p>
        </p:txBody>
      </p:sp>
      <p:sp>
        <p:nvSpPr>
          <p:cNvPr id="5" name="">
            <a:extLst xmlns:a="http://schemas.openxmlformats.org/drawingml/2006/main">
              <a:ext uri="{FF2B5EF4-FFF2-40B4-BE49-F238E27FC236}">
                <a16:creationId xmlns:a16="http://schemas.microsoft.com/office/drawing/2014/main" id="{13A4935B-323E-4AD9-8E56-4E11472F5E79}"/>
              </a:ext>
            </a:extLst>
          </p:cNvPr>
          <p:cNvSpPr>
            <a:spLocks xmlns:a="http://schemas.openxmlformats.org/drawingml/2006/main" noGrp="1"/>
          </p:cNvSpPr>
          <p:nvPr/>
        </p:nvSpPr>
        <p:spPr>
          <a:xfrm xmlns:a="http://schemas.openxmlformats.org/drawingml/2006/main">
            <a:off x="533400" y="1485900"/>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A9B5C5"/>
                </a:solidFill>
                <a:latin typeface="Arial"/>
                <a:ea typeface="Arial"/>
                <a:cs typeface="Arial"/>
              </a:defRPr>
            </a:pPr>
            <a:r>
              <a:rPr sz="1425" b="0">
                <a:solidFill>
                  <a:srgbClr val="A9B5C5"/>
                </a:solidFill>
                <a:latin typeface="Arial"/>
                <a:ea typeface="Arial"/>
                <a:cs typeface="Arial"/>
              </a:rPr>
              <a:t>The learning sequence names the boundary before it compares the technology.</a:t>
            </a:r>
          </a:p>
        </p:txBody>
      </p:sp>
      <p:sp>
        <p:nvSpPr>
          <p:cNvPr id="6" name="">
            <a:extLst xmlns:a="http://schemas.openxmlformats.org/drawingml/2006/main">
              <a:ext uri="{FF2B5EF4-FFF2-40B4-BE49-F238E27FC236}">
                <a16:creationId xmlns:a16="http://schemas.microsoft.com/office/drawing/2014/main" id="{EA705CDF-8176-4A0C-BFB2-DEA21C112BE9}"/>
              </a:ext>
            </a:extLst>
          </p:cNvPr>
          <p:cNvSpPr>
            <a:spLocks xmlns:a="http://schemas.openxmlformats.org/drawingml/2006/main" noGrp="1"/>
          </p:cNvSpPr>
          <p:nvPr/>
        </p:nvSpPr>
        <p:spPr>
          <a:xfrm xmlns:a="http://schemas.openxmlformats.org/drawingml/2006/main">
            <a:off x="514350" y="2228850"/>
            <a:ext cx="3467100" cy="2514600"/>
          </a:xfrm>
          <a:prstGeom xmlns:a="http://schemas.openxmlformats.org/drawingml/2006/main" prst="roundRect">
            <a:avLst>
              <a:gd name="adj" fmla="val 6061"/>
            </a:avLst>
          </a:prstGeom>
          <a:solidFill xmlns:a="http://schemas.openxmlformats.org/drawingml/2006/main">
            <a:srgbClr val="13243D"/>
          </a:solidFill>
          <a:ln xmlns:a="http://schemas.openxmlformats.org/drawingml/2006/main" w="1905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7" name="">
            <a:extLst xmlns:a="http://schemas.openxmlformats.org/drawingml/2006/main">
              <a:ext uri="{FF2B5EF4-FFF2-40B4-BE49-F238E27FC236}">
                <a16:creationId xmlns:a16="http://schemas.microsoft.com/office/drawing/2014/main" id="{23FDBD5D-C6A5-49EA-9F9B-AEA6FD6CAA44}"/>
              </a:ext>
            </a:extLst>
          </p:cNvPr>
          <p:cNvSpPr>
            <a:spLocks xmlns:a="http://schemas.openxmlformats.org/drawingml/2006/main" noGrp="1"/>
          </p:cNvSpPr>
          <p:nvPr/>
        </p:nvSpPr>
        <p:spPr>
          <a:xfrm xmlns:a="http://schemas.openxmlformats.org/drawingml/2006/main">
            <a:off x="514350" y="2228850"/>
            <a:ext cx="3467100" cy="76200"/>
          </a:xfrm>
          <a:prstGeom xmlns:a="http://schemas.openxmlformats.org/drawingml/2006/main" prst="rect">
            <a:avLst/>
          </a:prstGeom>
          <a:solidFill xmlns:a="http://schemas.openxmlformats.org/drawingml/2006/main">
            <a:srgbClr val="5DA8FF"/>
          </a:solidFill>
          <a:ln xmlns:a="http://schemas.openxmlformats.org/drawingml/2006/main" w="0">
            <a:solidFill>
              <a:srgbClr val="5DA8FF"/>
            </a:solidFill>
            <a:prstDash val="solid"/>
          </a:ln>
        </p:spPr>
        <p:txBody>
          <a:bodyPr xmlns:a="http://schemas.openxmlformats.org/drawingml/2006/main"/>
          <a:lstStyle xmlns:a="http://schemas.openxmlformats.org/drawingml/2006/main"/>
          <a:p xmlns:a="http://schemas.openxmlformats.org/drawingml/2006/main"/>
        </p:txBody>
      </p:sp>
      <p:sp>
        <p:nvSpPr>
          <p:cNvPr id="8" name="">
            <a:extLst xmlns:a="http://schemas.openxmlformats.org/drawingml/2006/main">
              <a:ext uri="{FF2B5EF4-FFF2-40B4-BE49-F238E27FC236}">
                <a16:creationId xmlns:a16="http://schemas.microsoft.com/office/drawing/2014/main" id="{7DB7AC1C-A32F-4916-A7E1-2D208FA7441C}"/>
              </a:ext>
            </a:extLst>
          </p:cNvPr>
          <p:cNvSpPr>
            <a:spLocks xmlns:a="http://schemas.openxmlformats.org/drawingml/2006/main" noGrp="1"/>
          </p:cNvSpPr>
          <p:nvPr/>
        </p:nvSpPr>
        <p:spPr>
          <a:xfrm xmlns:a="http://schemas.openxmlformats.org/drawingml/2006/main">
            <a:off x="781050" y="25717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00" b="1">
                <a:solidFill>
                  <a:srgbClr val="5DA8FF"/>
                </a:solidFill>
                <a:latin typeface="Arial"/>
                <a:ea typeface="Arial"/>
                <a:cs typeface="Arial"/>
              </a:defRPr>
            </a:pPr>
            <a:r>
              <a:rPr sz="1200" b="1">
                <a:solidFill>
                  <a:srgbClr val="5DA8FF"/>
                </a:solidFill>
                <a:latin typeface="Arial"/>
                <a:ea typeface="Arial"/>
                <a:cs typeface="Arial"/>
              </a:rPr>
              <a:t>IDENTIFY</a:t>
            </a:r>
          </a:p>
        </p:txBody>
      </p:sp>
      <p:sp>
        <p:nvSpPr>
          <p:cNvPr id="9" name="">
            <a:extLst xmlns:a="http://schemas.openxmlformats.org/drawingml/2006/main">
              <a:ext uri="{FF2B5EF4-FFF2-40B4-BE49-F238E27FC236}">
                <a16:creationId xmlns:a16="http://schemas.microsoft.com/office/drawing/2014/main" id="{DDB07388-3C5B-4102-923B-D53E44868D2C}"/>
              </a:ext>
            </a:extLst>
          </p:cNvPr>
          <p:cNvSpPr>
            <a:spLocks xmlns:a="http://schemas.openxmlformats.org/drawingml/2006/main" noGrp="1"/>
          </p:cNvSpPr>
          <p:nvPr/>
        </p:nvSpPr>
        <p:spPr>
          <a:xfrm xmlns:a="http://schemas.openxmlformats.org/drawingml/2006/main">
            <a:off x="781050" y="3105150"/>
            <a:ext cx="28956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175" b="1">
                <a:solidFill>
                  <a:srgbClr val="FFFFFF"/>
                </a:solidFill>
                <a:latin typeface="Arial"/>
                <a:ea typeface="Arial"/>
                <a:cs typeface="Arial"/>
              </a:defRPr>
            </a:pPr>
            <a:r>
              <a:rPr sz="2175" b="1">
                <a:solidFill>
                  <a:srgbClr val="FFFFFF"/>
                </a:solidFill>
                <a:latin typeface="Arial"/>
                <a:ea typeface="Arial"/>
                <a:cs typeface="Arial"/>
              </a:rPr>
              <a:t>Which account is claimed?</a:t>
            </a:r>
          </a:p>
        </p:txBody>
      </p:sp>
      <p:sp>
        <p:nvSpPr>
          <p:cNvPr id="10" name="">
            <a:extLst xmlns:a="http://schemas.openxmlformats.org/drawingml/2006/main">
              <a:ext uri="{FF2B5EF4-FFF2-40B4-BE49-F238E27FC236}">
                <a16:creationId xmlns:a16="http://schemas.microsoft.com/office/drawing/2014/main" id="{6BFE82FE-CB2C-46C4-8587-56C1A638AD6E}"/>
              </a:ext>
            </a:extLst>
          </p:cNvPr>
          <p:cNvSpPr>
            <a:spLocks xmlns:a="http://schemas.openxmlformats.org/drawingml/2006/main" noGrp="1"/>
          </p:cNvSpPr>
          <p:nvPr/>
        </p:nvSpPr>
        <p:spPr>
          <a:xfrm xmlns:a="http://schemas.openxmlformats.org/drawingml/2006/main">
            <a:off x="781050" y="4105275"/>
            <a:ext cx="1428750" cy="361950"/>
          </a:xfrm>
          <a:prstGeom xmlns:a="http://schemas.openxmlformats.org/drawingml/2006/main" prst="roundRect">
            <a:avLst>
              <a:gd name="adj" fmla="val 50000"/>
            </a:avLst>
          </a:prstGeom>
          <a:solidFill xmlns:a="http://schemas.openxmlformats.org/drawingml/2006/main">
            <a:srgbClr val="5DA8FF"/>
          </a:solidFill>
          <a:ln xmlns:a="http://schemas.openxmlformats.org/drawingml/2006/main" w="0">
            <a:solidFill>
              <a:srgbClr val="5DA8FF"/>
            </a:solidFill>
            <a:prstDash val="solid"/>
          </a:ln>
        </p:spPr>
        <p:txBody>
          <a:bodyPr xmlns:a="http://schemas.openxmlformats.org/drawingml/2006/main"/>
          <a:lstStyle xmlns:a="http://schemas.openxmlformats.org/drawingml/2006/main"/>
          <a:p xmlns:a="http://schemas.openxmlformats.org/drawingml/2006/main"/>
        </p:txBody>
      </p:sp>
      <p:sp>
        <p:nvSpPr>
          <p:cNvPr id="11" name="">
            <a:extLst xmlns:a="http://schemas.openxmlformats.org/drawingml/2006/main">
              <a:ext uri="{FF2B5EF4-FFF2-40B4-BE49-F238E27FC236}">
                <a16:creationId xmlns:a16="http://schemas.microsoft.com/office/drawing/2014/main" id="{39520C72-CC6A-4795-BE17-C935709139B2}"/>
              </a:ext>
            </a:extLst>
          </p:cNvPr>
          <p:cNvSpPr>
            <a:spLocks xmlns:a="http://schemas.openxmlformats.org/drawingml/2006/main" noGrp="1"/>
          </p:cNvSpPr>
          <p:nvPr/>
        </p:nvSpPr>
        <p:spPr>
          <a:xfrm xmlns:a="http://schemas.openxmlformats.org/drawingml/2006/main">
            <a:off x="895350" y="4181475"/>
            <a:ext cx="1200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LO-01</a:t>
            </a:r>
          </a:p>
        </p:txBody>
      </p:sp>
      <p:sp>
        <p:nvSpPr>
          <p:cNvPr id="12" name="">
            <a:extLst xmlns:a="http://schemas.openxmlformats.org/drawingml/2006/main">
              <a:ext uri="{FF2B5EF4-FFF2-40B4-BE49-F238E27FC236}">
                <a16:creationId xmlns:a16="http://schemas.microsoft.com/office/drawing/2014/main" id="{48F7B92D-391A-4051-B7E3-948C26E9D291}"/>
              </a:ext>
            </a:extLst>
          </p:cNvPr>
          <p:cNvSpPr>
            <a:spLocks xmlns:a="http://schemas.openxmlformats.org/drawingml/2006/main" noGrp="1"/>
          </p:cNvSpPr>
          <p:nvPr/>
        </p:nvSpPr>
        <p:spPr>
          <a:xfrm xmlns:a="http://schemas.openxmlformats.org/drawingml/2006/main">
            <a:off x="4305300" y="2228850"/>
            <a:ext cx="3467100" cy="2514600"/>
          </a:xfrm>
          <a:prstGeom xmlns:a="http://schemas.openxmlformats.org/drawingml/2006/main" prst="roundRect">
            <a:avLst>
              <a:gd name="adj" fmla="val 6061"/>
            </a:avLst>
          </a:prstGeom>
          <a:solidFill xmlns:a="http://schemas.openxmlformats.org/drawingml/2006/main">
            <a:srgbClr val="13243D"/>
          </a:solidFill>
          <a:ln xmlns:a="http://schemas.openxmlformats.org/drawingml/2006/main" w="1905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3" name="">
            <a:extLst xmlns:a="http://schemas.openxmlformats.org/drawingml/2006/main">
              <a:ext uri="{FF2B5EF4-FFF2-40B4-BE49-F238E27FC236}">
                <a16:creationId xmlns:a16="http://schemas.microsoft.com/office/drawing/2014/main" id="{46C59C74-0606-44AF-B15A-9866F1016AA8}"/>
              </a:ext>
            </a:extLst>
          </p:cNvPr>
          <p:cNvSpPr>
            <a:spLocks xmlns:a="http://schemas.openxmlformats.org/drawingml/2006/main" noGrp="1"/>
          </p:cNvSpPr>
          <p:nvPr/>
        </p:nvSpPr>
        <p:spPr>
          <a:xfrm xmlns:a="http://schemas.openxmlformats.org/drawingml/2006/main">
            <a:off x="4305300" y="2228850"/>
            <a:ext cx="3467100" cy="76200"/>
          </a:xfrm>
          <a:prstGeom xmlns:a="http://schemas.openxmlformats.org/drawingml/2006/main" prst="rect">
            <a:avLst/>
          </a:prstGeom>
          <a:solidFill xmlns:a="http://schemas.openxmlformats.org/drawingml/2006/main">
            <a:srgbClr val="48D2C2"/>
          </a:solidFill>
          <a:ln xmlns:a="http://schemas.openxmlformats.org/drawingml/2006/main" w="0">
            <a:solidFill>
              <a:srgbClr val="48D2C2"/>
            </a:solidFill>
            <a:prstDash val="solid"/>
          </a:ln>
        </p:spPr>
        <p:txBody>
          <a:bodyPr xmlns:a="http://schemas.openxmlformats.org/drawingml/2006/main"/>
          <a:lstStyle xmlns:a="http://schemas.openxmlformats.org/drawingml/2006/main"/>
          <a:p xmlns:a="http://schemas.openxmlformats.org/drawingml/2006/main"/>
        </p:txBody>
      </p:sp>
      <p:sp>
        <p:nvSpPr>
          <p:cNvPr id="14" name="">
            <a:extLst xmlns:a="http://schemas.openxmlformats.org/drawingml/2006/main">
              <a:ext uri="{FF2B5EF4-FFF2-40B4-BE49-F238E27FC236}">
                <a16:creationId xmlns:a16="http://schemas.microsoft.com/office/drawing/2014/main" id="{CA8A1002-4C81-4003-BC6F-E327B7195B11}"/>
              </a:ext>
            </a:extLst>
          </p:cNvPr>
          <p:cNvSpPr>
            <a:spLocks xmlns:a="http://schemas.openxmlformats.org/drawingml/2006/main" noGrp="1"/>
          </p:cNvSpPr>
          <p:nvPr/>
        </p:nvSpPr>
        <p:spPr>
          <a:xfrm xmlns:a="http://schemas.openxmlformats.org/drawingml/2006/main">
            <a:off x="4572000" y="25717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00" b="1">
                <a:solidFill>
                  <a:srgbClr val="48D2C2"/>
                </a:solidFill>
                <a:latin typeface="Arial"/>
                <a:ea typeface="Arial"/>
                <a:cs typeface="Arial"/>
              </a:defRPr>
            </a:pPr>
            <a:r>
              <a:rPr sz="1200" b="1">
                <a:solidFill>
                  <a:srgbClr val="48D2C2"/>
                </a:solidFill>
                <a:latin typeface="Arial"/>
                <a:ea typeface="Arial"/>
                <a:cs typeface="Arial"/>
              </a:rPr>
              <a:t>ANALYSE</a:t>
            </a:r>
          </a:p>
        </p:txBody>
      </p:sp>
      <p:sp>
        <p:nvSpPr>
          <p:cNvPr id="15" name="">
            <a:extLst xmlns:a="http://schemas.openxmlformats.org/drawingml/2006/main">
              <a:ext uri="{FF2B5EF4-FFF2-40B4-BE49-F238E27FC236}">
                <a16:creationId xmlns:a16="http://schemas.microsoft.com/office/drawing/2014/main" id="{4C7F4877-C4FE-43E2-921A-1F8E43F377AE}"/>
              </a:ext>
            </a:extLst>
          </p:cNvPr>
          <p:cNvSpPr>
            <a:spLocks xmlns:a="http://schemas.openxmlformats.org/drawingml/2006/main" noGrp="1"/>
          </p:cNvSpPr>
          <p:nvPr/>
        </p:nvSpPr>
        <p:spPr>
          <a:xfrm xmlns:a="http://schemas.openxmlformats.org/drawingml/2006/main">
            <a:off x="4572000" y="3105150"/>
            <a:ext cx="28956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175" b="1">
                <a:solidFill>
                  <a:srgbClr val="FFFFFF"/>
                </a:solidFill>
                <a:latin typeface="Arial"/>
                <a:ea typeface="Arial"/>
                <a:cs typeface="Arial"/>
              </a:defRPr>
            </a:pPr>
            <a:r>
              <a:rPr sz="2175" b="1">
                <a:solidFill>
                  <a:srgbClr val="FFFFFF"/>
                </a:solidFill>
                <a:latin typeface="Arial"/>
                <a:ea typeface="Arial"/>
                <a:cs typeface="Arial"/>
              </a:rPr>
              <a:t>How can proof be replayed or relayed?</a:t>
            </a:r>
          </a:p>
        </p:txBody>
      </p:sp>
      <p:sp>
        <p:nvSpPr>
          <p:cNvPr id="16" name="">
            <a:extLst xmlns:a="http://schemas.openxmlformats.org/drawingml/2006/main">
              <a:ext uri="{FF2B5EF4-FFF2-40B4-BE49-F238E27FC236}">
                <a16:creationId xmlns:a16="http://schemas.microsoft.com/office/drawing/2014/main" id="{77E6660F-4FFA-4173-B03C-3586BDB21124}"/>
              </a:ext>
            </a:extLst>
          </p:cNvPr>
          <p:cNvSpPr>
            <a:spLocks xmlns:a="http://schemas.openxmlformats.org/drawingml/2006/main" noGrp="1"/>
          </p:cNvSpPr>
          <p:nvPr/>
        </p:nvSpPr>
        <p:spPr>
          <a:xfrm xmlns:a="http://schemas.openxmlformats.org/drawingml/2006/main">
            <a:off x="4572000" y="4105275"/>
            <a:ext cx="1428750" cy="361950"/>
          </a:xfrm>
          <a:prstGeom xmlns:a="http://schemas.openxmlformats.org/drawingml/2006/main" prst="roundRect">
            <a:avLst>
              <a:gd name="adj" fmla="val 50000"/>
            </a:avLst>
          </a:prstGeom>
          <a:solidFill xmlns:a="http://schemas.openxmlformats.org/drawingml/2006/main">
            <a:srgbClr val="48D2C2"/>
          </a:solidFill>
          <a:ln xmlns:a="http://schemas.openxmlformats.org/drawingml/2006/main" w="0">
            <a:solidFill>
              <a:srgbClr val="48D2C2"/>
            </a:solidFill>
            <a:prstDash val="solid"/>
          </a:ln>
        </p:spPr>
        <p:txBody>
          <a:bodyPr xmlns:a="http://schemas.openxmlformats.org/drawingml/2006/main"/>
          <a:lstStyle xmlns:a="http://schemas.openxmlformats.org/drawingml/2006/main"/>
          <a:p xmlns:a="http://schemas.openxmlformats.org/drawingml/2006/main"/>
        </p:txBody>
      </p:sp>
      <p:sp>
        <p:nvSpPr>
          <p:cNvPr id="17" name="">
            <a:extLst xmlns:a="http://schemas.openxmlformats.org/drawingml/2006/main">
              <a:ext uri="{FF2B5EF4-FFF2-40B4-BE49-F238E27FC236}">
                <a16:creationId xmlns:a16="http://schemas.microsoft.com/office/drawing/2014/main" id="{9DA9DA95-81FE-469B-8E83-5911EB78335B}"/>
              </a:ext>
            </a:extLst>
          </p:cNvPr>
          <p:cNvSpPr>
            <a:spLocks xmlns:a="http://schemas.openxmlformats.org/drawingml/2006/main" noGrp="1"/>
          </p:cNvSpPr>
          <p:nvPr/>
        </p:nvSpPr>
        <p:spPr>
          <a:xfrm xmlns:a="http://schemas.openxmlformats.org/drawingml/2006/main">
            <a:off x="4686300" y="4181475"/>
            <a:ext cx="1200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LO-02–04</a:t>
            </a:r>
          </a:p>
        </p:txBody>
      </p:sp>
      <p:sp>
        <p:nvSpPr>
          <p:cNvPr id="18" name="">
            <a:extLst xmlns:a="http://schemas.openxmlformats.org/drawingml/2006/main">
              <a:ext uri="{FF2B5EF4-FFF2-40B4-BE49-F238E27FC236}">
                <a16:creationId xmlns:a16="http://schemas.microsoft.com/office/drawing/2014/main" id="{F0DF0D1F-4C8E-40F8-A981-0F0A79BE6DDE}"/>
              </a:ext>
            </a:extLst>
          </p:cNvPr>
          <p:cNvSpPr>
            <a:spLocks xmlns:a="http://schemas.openxmlformats.org/drawingml/2006/main" noGrp="1"/>
          </p:cNvSpPr>
          <p:nvPr/>
        </p:nvSpPr>
        <p:spPr>
          <a:xfrm xmlns:a="http://schemas.openxmlformats.org/drawingml/2006/main">
            <a:off x="8096250" y="2228850"/>
            <a:ext cx="3467100" cy="2514600"/>
          </a:xfrm>
          <a:prstGeom xmlns:a="http://schemas.openxmlformats.org/drawingml/2006/main" prst="roundRect">
            <a:avLst>
              <a:gd name="adj" fmla="val 6061"/>
            </a:avLst>
          </a:prstGeom>
          <a:solidFill xmlns:a="http://schemas.openxmlformats.org/drawingml/2006/main">
            <a:srgbClr val="13243D"/>
          </a:solidFill>
          <a:ln xmlns:a="http://schemas.openxmlformats.org/drawingml/2006/main" w="1905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9" name="">
            <a:extLst xmlns:a="http://schemas.openxmlformats.org/drawingml/2006/main">
              <a:ext uri="{FF2B5EF4-FFF2-40B4-BE49-F238E27FC236}">
                <a16:creationId xmlns:a16="http://schemas.microsoft.com/office/drawing/2014/main" id="{CB7FC9F6-2977-42CF-AF41-A0F799A1BE92}"/>
              </a:ext>
            </a:extLst>
          </p:cNvPr>
          <p:cNvSpPr>
            <a:spLocks xmlns:a="http://schemas.openxmlformats.org/drawingml/2006/main" noGrp="1"/>
          </p:cNvSpPr>
          <p:nvPr/>
        </p:nvSpPr>
        <p:spPr>
          <a:xfrm xmlns:a="http://schemas.openxmlformats.org/drawingml/2006/main">
            <a:off x="8096250" y="2228850"/>
            <a:ext cx="3467100" cy="76200"/>
          </a:xfrm>
          <a:prstGeom xmlns:a="http://schemas.openxmlformats.org/drawingml/2006/main" prst="rect">
            <a:avLst/>
          </a:prstGeom>
          <a:solidFill xmlns:a="http://schemas.openxmlformats.org/drawingml/2006/main">
            <a:srgbClr val="F4C866"/>
          </a:solidFill>
          <a:ln xmlns:a="http://schemas.openxmlformats.org/drawingml/2006/main" w="0">
            <a:solidFill>
              <a:srgbClr val="F4C866"/>
            </a:solidFill>
            <a:prstDash val="solid"/>
          </a:ln>
        </p:spPr>
        <p:txBody>
          <a:bodyPr xmlns:a="http://schemas.openxmlformats.org/drawingml/2006/main"/>
          <a:lstStyle xmlns:a="http://schemas.openxmlformats.org/drawingml/2006/main"/>
          <a:p xmlns:a="http://schemas.openxmlformats.org/drawingml/2006/main"/>
        </p:txBody>
      </p:sp>
      <p:sp>
        <p:nvSpPr>
          <p:cNvPr id="20" name="">
            <a:extLst xmlns:a="http://schemas.openxmlformats.org/drawingml/2006/main">
              <a:ext uri="{FF2B5EF4-FFF2-40B4-BE49-F238E27FC236}">
                <a16:creationId xmlns:a16="http://schemas.microsoft.com/office/drawing/2014/main" id="{3BB628AC-D006-4C26-820C-521C4BDA29D1}"/>
              </a:ext>
            </a:extLst>
          </p:cNvPr>
          <p:cNvSpPr>
            <a:spLocks xmlns:a="http://schemas.openxmlformats.org/drawingml/2006/main" noGrp="1"/>
          </p:cNvSpPr>
          <p:nvPr/>
        </p:nvSpPr>
        <p:spPr>
          <a:xfrm xmlns:a="http://schemas.openxmlformats.org/drawingml/2006/main">
            <a:off x="8362950" y="25717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00" b="1">
                <a:solidFill>
                  <a:srgbClr val="F4C866"/>
                </a:solidFill>
                <a:latin typeface="Arial"/>
                <a:ea typeface="Arial"/>
                <a:cs typeface="Arial"/>
              </a:defRPr>
            </a:pPr>
            <a:r>
              <a:rPr sz="1200" b="1">
                <a:solidFill>
                  <a:srgbClr val="F4C866"/>
                </a:solidFill>
                <a:latin typeface="Arial"/>
                <a:ea typeface="Arial"/>
                <a:cs typeface="Arial"/>
              </a:rPr>
              <a:t>EXPLAIN</a:t>
            </a:r>
          </a:p>
        </p:txBody>
      </p:sp>
      <p:sp>
        <p:nvSpPr>
          <p:cNvPr id="21" name="">
            <a:extLst xmlns:a="http://schemas.openxmlformats.org/drawingml/2006/main">
              <a:ext uri="{FF2B5EF4-FFF2-40B4-BE49-F238E27FC236}">
                <a16:creationId xmlns:a16="http://schemas.microsoft.com/office/drawing/2014/main" id="{724BE176-6B4C-4D02-B666-ED3632C68E16}"/>
              </a:ext>
            </a:extLst>
          </p:cNvPr>
          <p:cNvSpPr>
            <a:spLocks xmlns:a="http://schemas.openxmlformats.org/drawingml/2006/main" noGrp="1"/>
          </p:cNvSpPr>
          <p:nvPr/>
        </p:nvSpPr>
        <p:spPr>
          <a:xfrm xmlns:a="http://schemas.openxmlformats.org/drawingml/2006/main">
            <a:off x="8362950" y="3105150"/>
            <a:ext cx="28956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84"/>
          </a:bodyPr>
          <a:lstStyle xmlns:a="http://schemas.openxmlformats.org/drawingml/2006/main"/>
          <a:p xmlns:a="http://schemas.openxmlformats.org/drawingml/2006/main">
            <a:pPr algn="l">
              <a:buNone/>
              <a:defRPr sz="2175" b="1">
                <a:solidFill>
                  <a:srgbClr val="FFFFFF"/>
                </a:solidFill>
                <a:latin typeface="Arial"/>
                <a:ea typeface="Arial"/>
                <a:cs typeface="Arial"/>
              </a:defRPr>
            </a:pPr>
            <a:r>
              <a:rPr sz="2175" b="1">
                <a:solidFill>
                  <a:srgbClr val="FFFFFF"/>
                </a:solidFill>
                <a:latin typeface="Arial"/>
                <a:ea typeface="Arial"/>
                <a:cs typeface="Arial"/>
              </a:rPr>
              <a:t>Why does RP-bound proof resist phishing?</a:t>
            </a:r>
          </a:p>
        </p:txBody>
      </p:sp>
      <p:sp>
        <p:nvSpPr>
          <p:cNvPr id="22" name="">
            <a:extLst xmlns:a="http://schemas.openxmlformats.org/drawingml/2006/main">
              <a:ext uri="{FF2B5EF4-FFF2-40B4-BE49-F238E27FC236}">
                <a16:creationId xmlns:a16="http://schemas.microsoft.com/office/drawing/2014/main" id="{CC586619-5771-4D25-88C2-4B1F2882217C}"/>
              </a:ext>
            </a:extLst>
          </p:cNvPr>
          <p:cNvSpPr>
            <a:spLocks xmlns:a="http://schemas.openxmlformats.org/drawingml/2006/main" noGrp="1"/>
          </p:cNvSpPr>
          <p:nvPr/>
        </p:nvSpPr>
        <p:spPr>
          <a:xfrm xmlns:a="http://schemas.openxmlformats.org/drawingml/2006/main">
            <a:off x="8362950" y="4105275"/>
            <a:ext cx="1428750" cy="361950"/>
          </a:xfrm>
          <a:prstGeom xmlns:a="http://schemas.openxmlformats.org/drawingml/2006/main" prst="roundRect">
            <a:avLst>
              <a:gd name="adj" fmla="val 50000"/>
            </a:avLst>
          </a:prstGeom>
          <a:solidFill xmlns:a="http://schemas.openxmlformats.org/drawingml/2006/main">
            <a:srgbClr val="F4C866"/>
          </a:solidFill>
          <a:ln xmlns:a="http://schemas.openxmlformats.org/drawingml/2006/main" w="0">
            <a:solidFill>
              <a:srgbClr val="F4C866"/>
            </a:solidFill>
            <a:prstDash val="solid"/>
          </a:ln>
        </p:spPr>
        <p:txBody>
          <a:bodyPr xmlns:a="http://schemas.openxmlformats.org/drawingml/2006/main"/>
          <a:lstStyle xmlns:a="http://schemas.openxmlformats.org/drawingml/2006/main"/>
          <a:p xmlns:a="http://schemas.openxmlformats.org/drawingml/2006/main"/>
        </p:txBody>
      </p:sp>
      <p:sp>
        <p:nvSpPr>
          <p:cNvPr id="23" name="">
            <a:extLst xmlns:a="http://schemas.openxmlformats.org/drawingml/2006/main">
              <a:ext uri="{FF2B5EF4-FFF2-40B4-BE49-F238E27FC236}">
                <a16:creationId xmlns:a16="http://schemas.microsoft.com/office/drawing/2014/main" id="{70526126-5B22-4A1F-B3F6-2837B6246FE7}"/>
              </a:ext>
            </a:extLst>
          </p:cNvPr>
          <p:cNvSpPr>
            <a:spLocks xmlns:a="http://schemas.openxmlformats.org/drawingml/2006/main" noGrp="1"/>
          </p:cNvSpPr>
          <p:nvPr/>
        </p:nvSpPr>
        <p:spPr>
          <a:xfrm xmlns:a="http://schemas.openxmlformats.org/drawingml/2006/main">
            <a:off x="8477250" y="4181475"/>
            <a:ext cx="1200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LO-05–06</a:t>
            </a:r>
          </a:p>
        </p:txBody>
      </p:sp>
      <p:sp>
        <p:nvSpPr>
          <p:cNvPr id="24" name="">
            <a:extLst xmlns:a="http://schemas.openxmlformats.org/drawingml/2006/main">
              <a:ext uri="{FF2B5EF4-FFF2-40B4-BE49-F238E27FC236}">
                <a16:creationId xmlns:a16="http://schemas.microsoft.com/office/drawing/2014/main" id="{27BBE747-FA3C-43CC-B986-70B5364132DD}"/>
              </a:ext>
            </a:extLst>
          </p:cNvPr>
          <p:cNvSpPr>
            <a:spLocks xmlns:a="http://schemas.openxmlformats.org/drawingml/2006/main" noGrp="1"/>
          </p:cNvSpPr>
          <p:nvPr/>
        </p:nvSpPr>
        <p:spPr>
          <a:xfrm xmlns:a="http://schemas.openxmlformats.org/drawingml/2006/main">
            <a:off x="514350" y="52197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48D2C2"/>
                </a:solidFill>
                <a:latin typeface="Arial"/>
                <a:ea typeface="Arial"/>
                <a:cs typeface="Arial"/>
              </a:defRPr>
            </a:pPr>
            <a:r>
              <a:rPr sz="1050" b="1">
                <a:solidFill>
                  <a:srgbClr val="48D2C2"/>
                </a:solidFill>
                <a:latin typeface="Arial"/>
                <a:ea typeface="Arial"/>
                <a:cs typeface="Arial"/>
              </a:rPr>
              <a:t>Aim</a:t>
            </a:r>
          </a:p>
        </p:txBody>
      </p:sp>
      <p:sp>
        <p:nvSpPr>
          <p:cNvPr id="25" name="">
            <a:extLst xmlns:a="http://schemas.openxmlformats.org/drawingml/2006/main">
              <a:ext uri="{FF2B5EF4-FFF2-40B4-BE49-F238E27FC236}">
                <a16:creationId xmlns:a16="http://schemas.microsoft.com/office/drawing/2014/main" id="{F1C06D6D-DA44-4449-B000-31AD7471DECC}"/>
              </a:ext>
            </a:extLst>
          </p:cNvPr>
          <p:cNvSpPr>
            <a:spLocks xmlns:a="http://schemas.openxmlformats.org/drawingml/2006/main" noGrp="1"/>
          </p:cNvSpPr>
          <p:nvPr/>
        </p:nvSpPr>
        <p:spPr>
          <a:xfrm xmlns:a="http://schemas.openxmlformats.org/drawingml/2006/main">
            <a:off x="1390650" y="5181600"/>
            <a:ext cx="9620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a:solidFill>
                  <a:srgbClr val="FFFFFF"/>
                </a:solidFill>
                <a:latin typeface="Arial"/>
                <a:ea typeface="Arial"/>
                <a:cs typeface="Arial"/>
              </a:defRPr>
            </a:pPr>
            <a:r>
              <a:rPr sz="1800" b="1">
                <a:solidFill>
                  <a:srgbClr val="FFFFFF"/>
                </a:solidFill>
                <a:latin typeface="Arial"/>
                <a:ea typeface="Arial"/>
                <a:cs typeface="Arial"/>
              </a:rPr>
              <a:t>A beginner should diagnose the failed layer, choose a control that changes the attack path, and state residual risk.</a:t>
            </a:r>
          </a:p>
        </p:txBody>
      </p:sp>
    </p:spTree>
    <p:extLst>
      <p:ext uri="{BB962C8B-B14F-4D97-AF65-F5344CB8AC3E}">
        <p14:creationId xmlns:p14="http://schemas.microsoft.com/office/powerpoint/2010/main" val="765797237"/>
      </p:ext>
    </p:extLst>
  </p:cSld>
</p:sld>
</file>

<file path=ppt/slides/slide3.xml><?xml version="1.0" encoding="utf-8"?>
<p:sld xmlns:p="http://schemas.openxmlformats.org/presentationml/2006/main">
  <p:cSld>
    <p:bg>
      <p:bgPr>
        <a:solidFill xmlns:a="http://schemas.openxmlformats.org/drawingml/2006/main">
          <a:srgbClr val="07111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231A683-8DF4-428C-AC40-AB5193BFCB2C}"/>
              </a:ext>
            </a:extLst>
          </p:cNvPr>
          <p:cNvSpPr>
            <a:spLocks xmlns:a="http://schemas.openxmlformats.org/drawingml/2006/main" noGrp="1"/>
          </p:cNvSpPr>
          <p:nvPr/>
        </p:nvSpPr>
        <p:spPr>
          <a:xfrm xmlns:a="http://schemas.openxmlformats.org/drawingml/2006/main">
            <a:off x="514350" y="2857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48D2C2"/>
                </a:solidFill>
                <a:latin typeface="Arial"/>
                <a:ea typeface="Arial"/>
                <a:cs typeface="Arial"/>
              </a:defRPr>
            </a:pPr>
            <a:r>
              <a:rPr sz="975" b="1">
                <a:solidFill>
                  <a:srgbClr val="48D2C2"/>
                </a:solidFill>
                <a:latin typeface="Arial"/>
                <a:ea typeface="Arial"/>
                <a:cs typeface="Arial"/>
              </a:rPr>
              <a:t>AUTHLAB  /  BUILD</a:t>
            </a:r>
          </a:p>
        </p:txBody>
      </p:sp>
      <p:sp>
        <p:nvSpPr>
          <p:cNvPr id="2" name="">
            <a:extLst xmlns:a="http://schemas.openxmlformats.org/drawingml/2006/main">
              <a:ext uri="{FF2B5EF4-FFF2-40B4-BE49-F238E27FC236}">
                <a16:creationId xmlns:a16="http://schemas.microsoft.com/office/drawing/2014/main" id="{BB98F55C-8FD1-473A-8085-6D00A065091D}"/>
              </a:ext>
            </a:extLst>
          </p:cNvPr>
          <p:cNvSpPr>
            <a:spLocks xmlns:a="http://schemas.openxmlformats.org/drawingml/2006/main" noGrp="1"/>
          </p:cNvSpPr>
          <p:nvPr/>
        </p:nvSpPr>
        <p:spPr>
          <a:xfrm xmlns:a="http://schemas.openxmlformats.org/drawingml/2006/main">
            <a:off x="11334750" y="295275"/>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A9B5C5"/>
                </a:solidFill>
                <a:latin typeface="Arial"/>
                <a:ea typeface="Arial"/>
                <a:cs typeface="Arial"/>
              </a:defRPr>
            </a:pPr>
            <a:r>
              <a:rPr sz="975" b="1">
                <a:solidFill>
                  <a:srgbClr val="A9B5C5"/>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012B9FB4-D317-4188-BB9A-E761D1B9CEC7}"/>
              </a:ext>
            </a:extLst>
          </p:cNvPr>
          <p:cNvSpPr>
            <a:spLocks xmlns:a="http://schemas.openxmlformats.org/drawingml/2006/main" noGrp="1"/>
          </p:cNvSpPr>
          <p:nvPr/>
        </p:nvSpPr>
        <p:spPr>
          <a:xfrm xmlns:a="http://schemas.openxmlformats.org/drawingml/2006/main">
            <a:off x="514350" y="590550"/>
            <a:ext cx="11182350" cy="19050"/>
          </a:xfrm>
          <a:prstGeom xmlns:a="http://schemas.openxmlformats.org/drawingml/2006/main" prst="rect">
            <a:avLst/>
          </a:prstGeom>
          <a:solidFill xmlns:a="http://schemas.openxmlformats.org/drawingml/2006/main">
            <a:srgbClr val="263B58"/>
          </a:solidFill>
          <a:ln xmlns:a="http://schemas.openxmlformats.org/drawingml/2006/main" w="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5635F176-16A7-4D9C-B57D-6C0E62FCF687}"/>
              </a:ext>
            </a:extLst>
          </p:cNvPr>
          <p:cNvSpPr>
            <a:spLocks xmlns:a="http://schemas.openxmlformats.org/drawingml/2006/main" noGrp="1"/>
          </p:cNvSpPr>
          <p:nvPr/>
        </p:nvSpPr>
        <p:spPr>
          <a:xfrm xmlns:a="http://schemas.openxmlformats.org/drawingml/2006/main">
            <a:off x="514350" y="800100"/>
            <a:ext cx="11049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FFFFFF"/>
                </a:solidFill>
                <a:latin typeface="Arial"/>
                <a:ea typeface="Arial"/>
                <a:cs typeface="Arial"/>
              </a:defRPr>
            </a:pPr>
            <a:r>
              <a:rPr sz="3150" b="1">
                <a:solidFill>
                  <a:srgbClr val="FFFFFF"/>
                </a:solidFill>
                <a:latin typeface="Arial"/>
                <a:ea typeface="Arial"/>
                <a:cs typeface="Arial"/>
              </a:rPr>
              <a:t>One safe journey links four security decisions</a:t>
            </a:r>
          </a:p>
        </p:txBody>
      </p:sp>
      <p:sp>
        <p:nvSpPr>
          <p:cNvPr id="5" name="">
            <a:extLst xmlns:a="http://schemas.openxmlformats.org/drawingml/2006/main">
              <a:ext uri="{FF2B5EF4-FFF2-40B4-BE49-F238E27FC236}">
                <a16:creationId xmlns:a16="http://schemas.microsoft.com/office/drawing/2014/main" id="{ECBD2EF3-9668-4A3D-A801-CE73D0C7ABFE}"/>
              </a:ext>
            </a:extLst>
          </p:cNvPr>
          <p:cNvSpPr>
            <a:spLocks xmlns:a="http://schemas.openxmlformats.org/drawingml/2006/main" noGrp="1"/>
          </p:cNvSpPr>
          <p:nvPr/>
        </p:nvSpPr>
        <p:spPr>
          <a:xfrm xmlns:a="http://schemas.openxmlformats.org/drawingml/2006/main">
            <a:off x="533400" y="1485900"/>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A9B5C5"/>
                </a:solidFill>
                <a:latin typeface="Arial"/>
                <a:ea typeface="Arial"/>
                <a:cs typeface="Arial"/>
              </a:defRPr>
            </a:pPr>
            <a:r>
              <a:rPr sz="1425" b="0">
                <a:solidFill>
                  <a:srgbClr val="A9B5C5"/>
                </a:solidFill>
                <a:latin typeface="Arial"/>
                <a:ea typeface="Arial"/>
                <a:cs typeface="Arial"/>
              </a:rPr>
              <a:t>Versioned, device-local and designed not to collect credentials.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470d503f60ee4dd3"/>
          <a:srcRect xmlns:a="http://schemas.openxmlformats.org/drawingml/2006/main" l="32" t="0" r="32" b="0"/>
          <a:stretch xmlns:a="http://schemas.openxmlformats.org/drawingml/2006/main">
            <a:fillRect l="0" t="0" r="0" b="0"/>
          </a:stretch>
        </p:blipFill>
        <p:spPr>
          <a:xfrm xmlns:a="http://schemas.openxmlformats.org/drawingml/2006/main" flipH="0" flipV="0">
            <a:off x="514350" y="2076450"/>
            <a:ext cx="6667500" cy="3752850"/>
          </a:xfrm>
          <a:prstGeom xmlns:a="http://schemas.openxmlformats.org/drawingml/2006/main" prst="roundRect">
            <a:avLst/>
          </a:prstGeom>
        </p:spPr>
      </p:pic>
      <p:sp>
        <p:nvSpPr>
          <p:cNvPr id="7" name="">
            <a:extLst xmlns:a="http://schemas.openxmlformats.org/drawingml/2006/main">
              <a:ext uri="{FF2B5EF4-FFF2-40B4-BE49-F238E27FC236}">
                <a16:creationId xmlns:a16="http://schemas.microsoft.com/office/drawing/2014/main" id="{016F2EA7-9166-4904-BADE-C6C72197E187}"/>
              </a:ext>
            </a:extLst>
          </p:cNvPr>
          <p:cNvSpPr>
            <a:spLocks xmlns:a="http://schemas.openxmlformats.org/drawingml/2006/main" noGrp="1"/>
          </p:cNvSpPr>
          <p:nvPr/>
        </p:nvSpPr>
        <p:spPr>
          <a:xfrm xmlns:a="http://schemas.openxmlformats.org/drawingml/2006/main">
            <a:off x="7486650" y="2076450"/>
            <a:ext cx="4210050" cy="3752850"/>
          </a:xfrm>
          <a:prstGeom xmlns:a="http://schemas.openxmlformats.org/drawingml/2006/main" prst="roundRect">
            <a:avLst>
              <a:gd name="adj" fmla="val 4061"/>
            </a:avLst>
          </a:prstGeom>
          <a:solidFill xmlns:a="http://schemas.openxmlformats.org/drawingml/2006/main">
            <a:srgbClr val="13243D"/>
          </a:solidFill>
          <a:ln xmlns:a="http://schemas.openxmlformats.org/drawingml/2006/main" w="1905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8" name="">
            <a:extLst xmlns:a="http://schemas.openxmlformats.org/drawingml/2006/main">
              <a:ext uri="{FF2B5EF4-FFF2-40B4-BE49-F238E27FC236}">
                <a16:creationId xmlns:a16="http://schemas.microsoft.com/office/drawing/2014/main" id="{88B1713D-04B8-4693-97D1-AED5F8122067}"/>
              </a:ext>
            </a:extLst>
          </p:cNvPr>
          <p:cNvSpPr>
            <a:spLocks xmlns:a="http://schemas.openxmlformats.org/drawingml/2006/main" noGrp="1"/>
          </p:cNvSpPr>
          <p:nvPr/>
        </p:nvSpPr>
        <p:spPr>
          <a:xfrm xmlns:a="http://schemas.openxmlformats.org/drawingml/2006/main">
            <a:off x="7734300" y="2343150"/>
            <a:ext cx="457200" cy="361950"/>
          </a:xfrm>
          <a:prstGeom xmlns:a="http://schemas.openxmlformats.org/drawingml/2006/main" prst="roundRect">
            <a:avLst>
              <a:gd name="adj" fmla="val 50000"/>
            </a:avLst>
          </a:prstGeom>
          <a:solidFill xmlns:a="http://schemas.openxmlformats.org/drawingml/2006/main">
            <a:srgbClr val="5DA8FF"/>
          </a:solidFill>
          <a:ln xmlns:a="http://schemas.openxmlformats.org/drawingml/2006/main" w="0">
            <a:solidFill>
              <a:srgbClr val="5DA8FF"/>
            </a:solidFill>
            <a:prstDash val="solid"/>
          </a:ln>
        </p:spPr>
        <p:txBody>
          <a:bodyPr xmlns:a="http://schemas.openxmlformats.org/drawingml/2006/main"/>
          <a:lstStyle xmlns:a="http://schemas.openxmlformats.org/drawingml/2006/main"/>
          <a:p xmlns:a="http://schemas.openxmlformats.org/drawingml/2006/main"/>
        </p:txBody>
      </p:sp>
      <p:sp>
        <p:nvSpPr>
          <p:cNvPr id="9" name="">
            <a:extLst xmlns:a="http://schemas.openxmlformats.org/drawingml/2006/main">
              <a:ext uri="{FF2B5EF4-FFF2-40B4-BE49-F238E27FC236}">
                <a16:creationId xmlns:a16="http://schemas.microsoft.com/office/drawing/2014/main" id="{4EE0A6BF-0202-403C-B03F-FE3079B3647B}"/>
              </a:ext>
            </a:extLst>
          </p:cNvPr>
          <p:cNvSpPr>
            <a:spLocks xmlns:a="http://schemas.openxmlformats.org/drawingml/2006/main" noGrp="1"/>
          </p:cNvSpPr>
          <p:nvPr/>
        </p:nvSpPr>
        <p:spPr>
          <a:xfrm xmlns:a="http://schemas.openxmlformats.org/drawingml/2006/main">
            <a:off x="7848600" y="2419350"/>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01</a:t>
            </a:r>
          </a:p>
        </p:txBody>
      </p:sp>
      <p:sp>
        <p:nvSpPr>
          <p:cNvPr id="10" name="">
            <a:extLst xmlns:a="http://schemas.openxmlformats.org/drawingml/2006/main">
              <a:ext uri="{FF2B5EF4-FFF2-40B4-BE49-F238E27FC236}">
                <a16:creationId xmlns:a16="http://schemas.microsoft.com/office/drawing/2014/main" id="{4D407EE7-E160-4B52-A958-1DA2F8B3C94B}"/>
              </a:ext>
            </a:extLst>
          </p:cNvPr>
          <p:cNvSpPr>
            <a:spLocks xmlns:a="http://schemas.openxmlformats.org/drawingml/2006/main" noGrp="1"/>
          </p:cNvSpPr>
          <p:nvPr/>
        </p:nvSpPr>
        <p:spPr>
          <a:xfrm xmlns:a="http://schemas.openxmlformats.org/drawingml/2006/main">
            <a:off x="8382000" y="2390775"/>
            <a:ext cx="3009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532"/>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Separate claim, proof and permission</a:t>
            </a:r>
          </a:p>
        </p:txBody>
      </p:sp>
      <p:sp>
        <p:nvSpPr>
          <p:cNvPr id="11" name="">
            <a:extLst xmlns:a="http://schemas.openxmlformats.org/drawingml/2006/main">
              <a:ext uri="{FF2B5EF4-FFF2-40B4-BE49-F238E27FC236}">
                <a16:creationId xmlns:a16="http://schemas.microsoft.com/office/drawing/2014/main" id="{D5775BA0-DB36-4913-B9CE-5A70D6786807}"/>
              </a:ext>
            </a:extLst>
          </p:cNvPr>
          <p:cNvSpPr>
            <a:spLocks xmlns:a="http://schemas.openxmlformats.org/drawingml/2006/main" noGrp="1"/>
          </p:cNvSpPr>
          <p:nvPr/>
        </p:nvSpPr>
        <p:spPr>
          <a:xfrm xmlns:a="http://schemas.openxmlformats.org/drawingml/2006/main">
            <a:off x="7734300" y="2857500"/>
            <a:ext cx="3657600" cy="9525"/>
          </a:xfrm>
          <a:prstGeom xmlns:a="http://schemas.openxmlformats.org/drawingml/2006/main" prst="rect">
            <a:avLst/>
          </a:prstGeom>
          <a:solidFill xmlns:a="http://schemas.openxmlformats.org/drawingml/2006/main">
            <a:srgbClr val="263B58"/>
          </a:solidFill>
          <a:ln xmlns:a="http://schemas.openxmlformats.org/drawingml/2006/main" w="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2" name="">
            <a:extLst xmlns:a="http://schemas.openxmlformats.org/drawingml/2006/main">
              <a:ext uri="{FF2B5EF4-FFF2-40B4-BE49-F238E27FC236}">
                <a16:creationId xmlns:a16="http://schemas.microsoft.com/office/drawing/2014/main" id="{1D55868A-EB8E-4AF0-8DF6-71AB08914605}"/>
              </a:ext>
            </a:extLst>
          </p:cNvPr>
          <p:cNvSpPr>
            <a:spLocks xmlns:a="http://schemas.openxmlformats.org/drawingml/2006/main" noGrp="1"/>
          </p:cNvSpPr>
          <p:nvPr/>
        </p:nvSpPr>
        <p:spPr>
          <a:xfrm xmlns:a="http://schemas.openxmlformats.org/drawingml/2006/main">
            <a:off x="7734300" y="3076575"/>
            <a:ext cx="457200" cy="361950"/>
          </a:xfrm>
          <a:prstGeom xmlns:a="http://schemas.openxmlformats.org/drawingml/2006/main" prst="roundRect">
            <a:avLst>
              <a:gd name="adj" fmla="val 50000"/>
            </a:avLst>
          </a:prstGeom>
          <a:solidFill xmlns:a="http://schemas.openxmlformats.org/drawingml/2006/main">
            <a:srgbClr val="FF7A85"/>
          </a:solidFill>
          <a:ln xmlns:a="http://schemas.openxmlformats.org/drawingml/2006/main" w="0">
            <a:solidFill>
              <a:srgbClr val="FF7A85"/>
            </a:solidFill>
            <a:prstDash val="solid"/>
          </a:ln>
        </p:spPr>
        <p:txBody>
          <a:bodyPr xmlns:a="http://schemas.openxmlformats.org/drawingml/2006/main"/>
          <a:lstStyle xmlns:a="http://schemas.openxmlformats.org/drawingml/2006/main"/>
          <a:p xmlns:a="http://schemas.openxmlformats.org/drawingml/2006/main"/>
        </p:txBody>
      </p:sp>
      <p:sp>
        <p:nvSpPr>
          <p:cNvPr id="13" name="">
            <a:extLst xmlns:a="http://schemas.openxmlformats.org/drawingml/2006/main">
              <a:ext uri="{FF2B5EF4-FFF2-40B4-BE49-F238E27FC236}">
                <a16:creationId xmlns:a16="http://schemas.microsoft.com/office/drawing/2014/main" id="{7EDF987C-0C64-4062-A0BE-90D7F68D3A5D}"/>
              </a:ext>
            </a:extLst>
          </p:cNvPr>
          <p:cNvSpPr>
            <a:spLocks xmlns:a="http://schemas.openxmlformats.org/drawingml/2006/main" noGrp="1"/>
          </p:cNvSpPr>
          <p:nvPr/>
        </p:nvSpPr>
        <p:spPr>
          <a:xfrm xmlns:a="http://schemas.openxmlformats.org/drawingml/2006/main">
            <a:off x="7848600" y="31527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02</a:t>
            </a:r>
          </a:p>
        </p:txBody>
      </p:sp>
      <p:sp>
        <p:nvSpPr>
          <p:cNvPr id="14" name="">
            <a:extLst xmlns:a="http://schemas.openxmlformats.org/drawingml/2006/main">
              <a:ext uri="{FF2B5EF4-FFF2-40B4-BE49-F238E27FC236}">
                <a16:creationId xmlns:a16="http://schemas.microsoft.com/office/drawing/2014/main" id="{191B2EAF-ACBA-496E-B3F7-F2577647D745}"/>
              </a:ext>
            </a:extLst>
          </p:cNvPr>
          <p:cNvSpPr>
            <a:spLocks xmlns:a="http://schemas.openxmlformats.org/drawingml/2006/main" noGrp="1"/>
          </p:cNvSpPr>
          <p:nvPr/>
        </p:nvSpPr>
        <p:spPr>
          <a:xfrm xmlns:a="http://schemas.openxmlformats.org/drawingml/2006/main">
            <a:off x="8382000" y="3124200"/>
            <a:ext cx="3009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Trace replay with fictional data</a:t>
            </a:r>
          </a:p>
        </p:txBody>
      </p:sp>
      <p:sp>
        <p:nvSpPr>
          <p:cNvPr id="15" name="">
            <a:extLst xmlns:a="http://schemas.openxmlformats.org/drawingml/2006/main">
              <a:ext uri="{FF2B5EF4-FFF2-40B4-BE49-F238E27FC236}">
                <a16:creationId xmlns:a16="http://schemas.microsoft.com/office/drawing/2014/main" id="{C58F6A75-588C-4D7E-84AB-4608AB071278}"/>
              </a:ext>
            </a:extLst>
          </p:cNvPr>
          <p:cNvSpPr>
            <a:spLocks xmlns:a="http://schemas.openxmlformats.org/drawingml/2006/main" noGrp="1"/>
          </p:cNvSpPr>
          <p:nvPr/>
        </p:nvSpPr>
        <p:spPr>
          <a:xfrm xmlns:a="http://schemas.openxmlformats.org/drawingml/2006/main">
            <a:off x="7734300" y="3590925"/>
            <a:ext cx="3657600" cy="9525"/>
          </a:xfrm>
          <a:prstGeom xmlns:a="http://schemas.openxmlformats.org/drawingml/2006/main" prst="rect">
            <a:avLst/>
          </a:prstGeom>
          <a:solidFill xmlns:a="http://schemas.openxmlformats.org/drawingml/2006/main">
            <a:srgbClr val="263B58"/>
          </a:solidFill>
          <a:ln xmlns:a="http://schemas.openxmlformats.org/drawingml/2006/main" w="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6" name="">
            <a:extLst xmlns:a="http://schemas.openxmlformats.org/drawingml/2006/main">
              <a:ext uri="{FF2B5EF4-FFF2-40B4-BE49-F238E27FC236}">
                <a16:creationId xmlns:a16="http://schemas.microsoft.com/office/drawing/2014/main" id="{65B79CE9-C031-4159-8A64-2AD34317502C}"/>
              </a:ext>
            </a:extLst>
          </p:cNvPr>
          <p:cNvSpPr>
            <a:spLocks xmlns:a="http://schemas.openxmlformats.org/drawingml/2006/main" noGrp="1"/>
          </p:cNvSpPr>
          <p:nvPr/>
        </p:nvSpPr>
        <p:spPr>
          <a:xfrm xmlns:a="http://schemas.openxmlformats.org/drawingml/2006/main">
            <a:off x="7734300" y="3810000"/>
            <a:ext cx="457200" cy="361950"/>
          </a:xfrm>
          <a:prstGeom xmlns:a="http://schemas.openxmlformats.org/drawingml/2006/main" prst="roundRect">
            <a:avLst>
              <a:gd name="adj" fmla="val 50000"/>
            </a:avLst>
          </a:prstGeom>
          <a:solidFill xmlns:a="http://schemas.openxmlformats.org/drawingml/2006/main">
            <a:srgbClr val="F4C866"/>
          </a:solidFill>
          <a:ln xmlns:a="http://schemas.openxmlformats.org/drawingml/2006/main" w="0">
            <a:solidFill>
              <a:srgbClr val="F4C866"/>
            </a:solidFill>
            <a:prstDash val="solid"/>
          </a:ln>
        </p:spPr>
        <p:txBody>
          <a:bodyPr xmlns:a="http://schemas.openxmlformats.org/drawingml/2006/main"/>
          <a:lstStyle xmlns:a="http://schemas.openxmlformats.org/drawingml/2006/main"/>
          <a:p xmlns:a="http://schemas.openxmlformats.org/drawingml/2006/main"/>
        </p:txBody>
      </p:sp>
      <p:sp>
        <p:nvSpPr>
          <p:cNvPr id="17" name="">
            <a:extLst xmlns:a="http://schemas.openxmlformats.org/drawingml/2006/main">
              <a:ext uri="{FF2B5EF4-FFF2-40B4-BE49-F238E27FC236}">
                <a16:creationId xmlns:a16="http://schemas.microsoft.com/office/drawing/2014/main" id="{86A1F429-26DC-49A4-98C9-4ACACC44E9C2}"/>
              </a:ext>
            </a:extLst>
          </p:cNvPr>
          <p:cNvSpPr>
            <a:spLocks xmlns:a="http://schemas.openxmlformats.org/drawingml/2006/main" noGrp="1"/>
          </p:cNvSpPr>
          <p:nvPr/>
        </p:nvSpPr>
        <p:spPr>
          <a:xfrm xmlns:a="http://schemas.openxmlformats.org/drawingml/2006/main">
            <a:off x="7848600" y="3886200"/>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03</a:t>
            </a:r>
          </a:p>
        </p:txBody>
      </p:sp>
      <p:sp>
        <p:nvSpPr>
          <p:cNvPr id="18" name="">
            <a:extLst xmlns:a="http://schemas.openxmlformats.org/drawingml/2006/main">
              <a:ext uri="{FF2B5EF4-FFF2-40B4-BE49-F238E27FC236}">
                <a16:creationId xmlns:a16="http://schemas.microsoft.com/office/drawing/2014/main" id="{AF4F8F0C-16F6-4D18-BF7E-E758DBEB4386}"/>
              </a:ext>
            </a:extLst>
          </p:cNvPr>
          <p:cNvSpPr>
            <a:spLocks xmlns:a="http://schemas.openxmlformats.org/drawingml/2006/main" noGrp="1"/>
          </p:cNvSpPr>
          <p:nvPr/>
        </p:nvSpPr>
        <p:spPr>
          <a:xfrm xmlns:a="http://schemas.openxmlformats.org/drawingml/2006/main">
            <a:off x="8382000" y="3857625"/>
            <a:ext cx="3009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422"/>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Inspect domain, context and route</a:t>
            </a:r>
          </a:p>
        </p:txBody>
      </p:sp>
      <p:sp>
        <p:nvSpPr>
          <p:cNvPr id="19" name="">
            <a:extLst xmlns:a="http://schemas.openxmlformats.org/drawingml/2006/main">
              <a:ext uri="{FF2B5EF4-FFF2-40B4-BE49-F238E27FC236}">
                <a16:creationId xmlns:a16="http://schemas.microsoft.com/office/drawing/2014/main" id="{5782B1ED-EACF-45E4-B716-CC4361D93F33}"/>
              </a:ext>
            </a:extLst>
          </p:cNvPr>
          <p:cNvSpPr>
            <a:spLocks xmlns:a="http://schemas.openxmlformats.org/drawingml/2006/main" noGrp="1"/>
          </p:cNvSpPr>
          <p:nvPr/>
        </p:nvSpPr>
        <p:spPr>
          <a:xfrm xmlns:a="http://schemas.openxmlformats.org/drawingml/2006/main">
            <a:off x="7734300" y="4324350"/>
            <a:ext cx="3657600" cy="9525"/>
          </a:xfrm>
          <a:prstGeom xmlns:a="http://schemas.openxmlformats.org/drawingml/2006/main" prst="rect">
            <a:avLst/>
          </a:prstGeom>
          <a:solidFill xmlns:a="http://schemas.openxmlformats.org/drawingml/2006/main">
            <a:srgbClr val="263B58"/>
          </a:solidFill>
          <a:ln xmlns:a="http://schemas.openxmlformats.org/drawingml/2006/main" w="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20" name="">
            <a:extLst xmlns:a="http://schemas.openxmlformats.org/drawingml/2006/main">
              <a:ext uri="{FF2B5EF4-FFF2-40B4-BE49-F238E27FC236}">
                <a16:creationId xmlns:a16="http://schemas.microsoft.com/office/drawing/2014/main" id="{7F1403B8-1923-44DC-9EC1-0C8F8D7652C9}"/>
              </a:ext>
            </a:extLst>
          </p:cNvPr>
          <p:cNvSpPr>
            <a:spLocks xmlns:a="http://schemas.openxmlformats.org/drawingml/2006/main" noGrp="1"/>
          </p:cNvSpPr>
          <p:nvPr/>
        </p:nvSpPr>
        <p:spPr>
          <a:xfrm xmlns:a="http://schemas.openxmlformats.org/drawingml/2006/main">
            <a:off x="7734300" y="4543425"/>
            <a:ext cx="457200" cy="361950"/>
          </a:xfrm>
          <a:prstGeom xmlns:a="http://schemas.openxmlformats.org/drawingml/2006/main" prst="roundRect">
            <a:avLst>
              <a:gd name="adj" fmla="val 50000"/>
            </a:avLst>
          </a:prstGeom>
          <a:solidFill xmlns:a="http://schemas.openxmlformats.org/drawingml/2006/main">
            <a:srgbClr val="48D2C2"/>
          </a:solidFill>
          <a:ln xmlns:a="http://schemas.openxmlformats.org/drawingml/2006/main" w="0">
            <a:solidFill>
              <a:srgbClr val="48D2C2"/>
            </a:solidFill>
            <a:prstDash val="solid"/>
          </a:ln>
        </p:spPr>
        <p:txBody>
          <a:bodyPr xmlns:a="http://schemas.openxmlformats.org/drawingml/2006/main"/>
          <a:lstStyle xmlns:a="http://schemas.openxmlformats.org/drawingml/2006/main"/>
          <a:p xmlns:a="http://schemas.openxmlformats.org/drawingml/2006/main"/>
        </p:txBody>
      </p:sp>
      <p:sp>
        <p:nvSpPr>
          <p:cNvPr id="21" name="">
            <a:extLst xmlns:a="http://schemas.openxmlformats.org/drawingml/2006/main">
              <a:ext uri="{FF2B5EF4-FFF2-40B4-BE49-F238E27FC236}">
                <a16:creationId xmlns:a16="http://schemas.microsoft.com/office/drawing/2014/main" id="{B4351764-1AB2-4737-B493-155F49361C75}"/>
              </a:ext>
            </a:extLst>
          </p:cNvPr>
          <p:cNvSpPr>
            <a:spLocks xmlns:a="http://schemas.openxmlformats.org/drawingml/2006/main" noGrp="1"/>
          </p:cNvSpPr>
          <p:nvPr/>
        </p:nvSpPr>
        <p:spPr>
          <a:xfrm xmlns:a="http://schemas.openxmlformats.org/drawingml/2006/main">
            <a:off x="7848600" y="461962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04</a:t>
            </a:r>
          </a:p>
        </p:txBody>
      </p:sp>
      <p:sp>
        <p:nvSpPr>
          <p:cNvPr id="22" name="">
            <a:extLst xmlns:a="http://schemas.openxmlformats.org/drawingml/2006/main">
              <a:ext uri="{FF2B5EF4-FFF2-40B4-BE49-F238E27FC236}">
                <a16:creationId xmlns:a16="http://schemas.microsoft.com/office/drawing/2014/main" id="{B7468AED-5696-467B-AB2C-45BCF9B02761}"/>
              </a:ext>
            </a:extLst>
          </p:cNvPr>
          <p:cNvSpPr>
            <a:spLocks xmlns:a="http://schemas.openxmlformats.org/drawingml/2006/main" noGrp="1"/>
          </p:cNvSpPr>
          <p:nvPr/>
        </p:nvSpPr>
        <p:spPr>
          <a:xfrm xmlns:a="http://schemas.openxmlformats.org/drawingml/2006/main">
            <a:off x="8382000" y="4591050"/>
            <a:ext cx="3009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882"/>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Compare MFA with RP-bound passkeys</a:t>
            </a:r>
          </a:p>
        </p:txBody>
      </p:sp>
      <p:sp>
        <p:nvSpPr>
          <p:cNvPr id="23" name="">
            <a:extLst xmlns:a="http://schemas.openxmlformats.org/drawingml/2006/main">
              <a:ext uri="{FF2B5EF4-FFF2-40B4-BE49-F238E27FC236}">
                <a16:creationId xmlns:a16="http://schemas.microsoft.com/office/drawing/2014/main" id="{9593A8FA-95FA-4F15-ABC6-BAC5CC8F5017}"/>
              </a:ext>
            </a:extLst>
          </p:cNvPr>
          <p:cNvSpPr>
            <a:spLocks xmlns:a="http://schemas.openxmlformats.org/drawingml/2006/main" noGrp="1"/>
          </p:cNvSpPr>
          <p:nvPr/>
        </p:nvSpPr>
        <p:spPr>
          <a:xfrm xmlns:a="http://schemas.openxmlformats.org/drawingml/2006/main">
            <a:off x="7734300" y="5334000"/>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48D2C2"/>
                </a:solidFill>
                <a:latin typeface="Arial"/>
                <a:ea typeface="Arial"/>
                <a:cs typeface="Arial"/>
              </a:defRPr>
            </a:pPr>
            <a:r>
              <a:rPr sz="900" b="1">
                <a:solidFill>
                  <a:srgbClr val="48D2C2"/>
                </a:solidFill>
                <a:latin typeface="Arial"/>
                <a:ea typeface="Arial"/>
                <a:cs typeface="Arial"/>
              </a:rPr>
              <a:t>OUTPUT</a:t>
            </a:r>
          </a:p>
        </p:txBody>
      </p:sp>
      <p:sp>
        <p:nvSpPr>
          <p:cNvPr id="24" name="">
            <a:extLst xmlns:a="http://schemas.openxmlformats.org/drawingml/2006/main">
              <a:ext uri="{FF2B5EF4-FFF2-40B4-BE49-F238E27FC236}">
                <a16:creationId xmlns:a16="http://schemas.microsoft.com/office/drawing/2014/main" id="{0FA9D820-2E61-4118-8A54-A5F9C4338D11}"/>
              </a:ext>
            </a:extLst>
          </p:cNvPr>
          <p:cNvSpPr>
            <a:spLocks xmlns:a="http://schemas.openxmlformats.org/drawingml/2006/main" noGrp="1"/>
          </p:cNvSpPr>
          <p:nvPr/>
        </p:nvSpPr>
        <p:spPr>
          <a:xfrm xmlns:a="http://schemas.openxmlformats.org/drawingml/2006/main">
            <a:off x="8572500" y="5295900"/>
            <a:ext cx="2800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0">
                <a:solidFill>
                  <a:srgbClr val="A9B5C5"/>
                </a:solidFill>
                <a:latin typeface="Arial"/>
                <a:ea typeface="Arial"/>
                <a:cs typeface="Arial"/>
              </a:defRPr>
            </a:pPr>
            <a:r>
              <a:rPr sz="1125" b="0">
                <a:solidFill>
                  <a:srgbClr val="A9B5C5"/>
                </a:solidFill>
                <a:latin typeface="Arial"/>
                <a:ea typeface="Arial"/>
                <a:cs typeface="Arial"/>
              </a:rPr>
              <a:t>Form A/B items · 4 scenarios · confidence · de-identified export</a:t>
            </a:r>
          </a:p>
        </p:txBody>
      </p:sp>
    </p:spTree>
    <p:extLst>
      <p:ext uri="{BB962C8B-B14F-4D97-AF65-F5344CB8AC3E}">
        <p14:creationId xmlns:p14="http://schemas.microsoft.com/office/powerpoint/2010/main" val="1822002231"/>
      </p:ext>
    </p:extLst>
  </p:cSld>
</p:sld>
</file>

<file path=ppt/slides/slide4.xml><?xml version="1.0" encoding="utf-8"?>
<p:sld xmlns:p="http://schemas.openxmlformats.org/presentationml/2006/main">
  <p:cSld>
    <p:bg>
      <p:bgPr>
        <a:solidFill xmlns:a="http://schemas.openxmlformats.org/drawingml/2006/main">
          <a:srgbClr val="07111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F5219D2-77DF-41E4-B98A-B31B0CB1CBE9}"/>
              </a:ext>
            </a:extLst>
          </p:cNvPr>
          <p:cNvSpPr>
            <a:spLocks xmlns:a="http://schemas.openxmlformats.org/drawingml/2006/main" noGrp="1"/>
          </p:cNvSpPr>
          <p:nvPr/>
        </p:nvSpPr>
        <p:spPr>
          <a:xfrm xmlns:a="http://schemas.openxmlformats.org/drawingml/2006/main">
            <a:off x="514350" y="2857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48D2C2"/>
                </a:solidFill>
                <a:latin typeface="Arial"/>
                <a:ea typeface="Arial"/>
                <a:cs typeface="Arial"/>
              </a:defRPr>
            </a:pPr>
            <a:r>
              <a:rPr sz="975" b="1">
                <a:solidFill>
                  <a:srgbClr val="48D2C2"/>
                </a:solidFill>
                <a:latin typeface="Arial"/>
                <a:ea typeface="Arial"/>
                <a:cs typeface="Arial"/>
              </a:rPr>
              <a:t>AUTHLAB  /  ANALYSIS</a:t>
            </a:r>
          </a:p>
        </p:txBody>
      </p:sp>
      <p:sp>
        <p:nvSpPr>
          <p:cNvPr id="2" name="">
            <a:extLst xmlns:a="http://schemas.openxmlformats.org/drawingml/2006/main">
              <a:ext uri="{FF2B5EF4-FFF2-40B4-BE49-F238E27FC236}">
                <a16:creationId xmlns:a16="http://schemas.microsoft.com/office/drawing/2014/main" id="{F7A84D3B-CBAF-4DB1-9F1A-1D6556628783}"/>
              </a:ext>
            </a:extLst>
          </p:cNvPr>
          <p:cNvSpPr>
            <a:spLocks xmlns:a="http://schemas.openxmlformats.org/drawingml/2006/main" noGrp="1"/>
          </p:cNvSpPr>
          <p:nvPr/>
        </p:nvSpPr>
        <p:spPr>
          <a:xfrm xmlns:a="http://schemas.openxmlformats.org/drawingml/2006/main">
            <a:off x="11334750" y="295275"/>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A9B5C5"/>
                </a:solidFill>
                <a:latin typeface="Arial"/>
                <a:ea typeface="Arial"/>
                <a:cs typeface="Arial"/>
              </a:defRPr>
            </a:pPr>
            <a:r>
              <a:rPr sz="975" b="1">
                <a:solidFill>
                  <a:srgbClr val="A9B5C5"/>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F57AC509-E632-4ABA-8563-F41BA48F57D6}"/>
              </a:ext>
            </a:extLst>
          </p:cNvPr>
          <p:cNvSpPr>
            <a:spLocks xmlns:a="http://schemas.openxmlformats.org/drawingml/2006/main" noGrp="1"/>
          </p:cNvSpPr>
          <p:nvPr/>
        </p:nvSpPr>
        <p:spPr>
          <a:xfrm xmlns:a="http://schemas.openxmlformats.org/drawingml/2006/main">
            <a:off x="514350" y="590550"/>
            <a:ext cx="11182350" cy="19050"/>
          </a:xfrm>
          <a:prstGeom xmlns:a="http://schemas.openxmlformats.org/drawingml/2006/main" prst="rect">
            <a:avLst/>
          </a:prstGeom>
          <a:solidFill xmlns:a="http://schemas.openxmlformats.org/drawingml/2006/main">
            <a:srgbClr val="263B58"/>
          </a:solidFill>
          <a:ln xmlns:a="http://schemas.openxmlformats.org/drawingml/2006/main" w="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FE6F3EDD-27A9-4B31-906F-A48D45AAE45E}"/>
              </a:ext>
            </a:extLst>
          </p:cNvPr>
          <p:cNvSpPr>
            <a:spLocks xmlns:a="http://schemas.openxmlformats.org/drawingml/2006/main" noGrp="1"/>
          </p:cNvSpPr>
          <p:nvPr/>
        </p:nvSpPr>
        <p:spPr>
          <a:xfrm xmlns:a="http://schemas.openxmlformats.org/drawingml/2006/main">
            <a:off x="514350" y="800100"/>
            <a:ext cx="11049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FFFFFF"/>
                </a:solidFill>
                <a:latin typeface="Arial"/>
                <a:ea typeface="Arial"/>
                <a:cs typeface="Arial"/>
              </a:defRPr>
            </a:pPr>
            <a:r>
              <a:rPr sz="3150" b="1">
                <a:solidFill>
                  <a:srgbClr val="FFFFFF"/>
                </a:solidFill>
                <a:latin typeface="Arial"/>
                <a:ea typeface="Arial"/>
                <a:cs typeface="Arial"/>
              </a:rPr>
              <a:t>A strong reused password is still replayable proof</a:t>
            </a:r>
          </a:p>
        </p:txBody>
      </p:sp>
      <p:sp>
        <p:nvSpPr>
          <p:cNvPr id="5" name="">
            <a:extLst xmlns:a="http://schemas.openxmlformats.org/drawingml/2006/main">
              <a:ext uri="{FF2B5EF4-FFF2-40B4-BE49-F238E27FC236}">
                <a16:creationId xmlns:a16="http://schemas.microsoft.com/office/drawing/2014/main" id="{E3F08D6E-E048-4CDA-9557-AEF85DCAA602}"/>
              </a:ext>
            </a:extLst>
          </p:cNvPr>
          <p:cNvSpPr>
            <a:spLocks xmlns:a="http://schemas.openxmlformats.org/drawingml/2006/main" noGrp="1"/>
          </p:cNvSpPr>
          <p:nvPr/>
        </p:nvSpPr>
        <p:spPr>
          <a:xfrm xmlns:a="http://schemas.openxmlformats.org/drawingml/2006/main">
            <a:off x="533400" y="1485900"/>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A9B5C5"/>
                </a:solidFill>
                <a:latin typeface="Arial"/>
                <a:ea typeface="Arial"/>
                <a:cs typeface="Arial"/>
              </a:defRPr>
            </a:pPr>
            <a:r>
              <a:rPr sz="1425" b="0">
                <a:solidFill>
                  <a:srgbClr val="A9B5C5"/>
                </a:solidFill>
                <a:latin typeface="Arial"/>
                <a:ea typeface="Arial"/>
                <a:cs typeface="Arial"/>
              </a:rPr>
              <a:t>Fixed fictional data shows why reuse—not complexity alone—propagates a breach.</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9a1d7b0e4f9d4839"/>
          <a:srcRect xmlns:a="http://schemas.openxmlformats.org/drawingml/2006/main" l="0" t="102" r="0" b="102"/>
          <a:stretch xmlns:a="http://schemas.openxmlformats.org/drawingml/2006/main">
            <a:fillRect l="0" t="0" r="0" b="0"/>
          </a:stretch>
        </p:blipFill>
        <p:spPr>
          <a:xfrm xmlns:a="http://schemas.openxmlformats.org/drawingml/2006/main" flipH="0" flipV="0">
            <a:off x="514350" y="2133600"/>
            <a:ext cx="7296150" cy="4095750"/>
          </a:xfrm>
          <a:prstGeom xmlns:a="http://schemas.openxmlformats.org/drawingml/2006/main" prst="roundRect">
            <a:avLst/>
          </a:prstGeom>
        </p:spPr>
      </p:pic>
      <p:sp>
        <p:nvSpPr>
          <p:cNvPr id="7" name="">
            <a:extLst xmlns:a="http://schemas.openxmlformats.org/drawingml/2006/main">
              <a:ext uri="{FF2B5EF4-FFF2-40B4-BE49-F238E27FC236}">
                <a16:creationId xmlns:a16="http://schemas.microsoft.com/office/drawing/2014/main" id="{94D8EAC5-C046-499D-A559-A6949472B88A}"/>
              </a:ext>
            </a:extLst>
          </p:cNvPr>
          <p:cNvSpPr>
            <a:spLocks xmlns:a="http://schemas.openxmlformats.org/drawingml/2006/main" noGrp="1"/>
          </p:cNvSpPr>
          <p:nvPr/>
        </p:nvSpPr>
        <p:spPr>
          <a:xfrm xmlns:a="http://schemas.openxmlformats.org/drawingml/2006/main">
            <a:off x="8134350" y="2190750"/>
            <a:ext cx="438150" cy="361950"/>
          </a:xfrm>
          <a:prstGeom xmlns:a="http://schemas.openxmlformats.org/drawingml/2006/main" prst="roundRect">
            <a:avLst>
              <a:gd name="adj" fmla="val 50000"/>
            </a:avLst>
          </a:prstGeom>
          <a:solidFill xmlns:a="http://schemas.openxmlformats.org/drawingml/2006/main">
            <a:srgbClr val="FF7A85"/>
          </a:solidFill>
          <a:ln xmlns:a="http://schemas.openxmlformats.org/drawingml/2006/main" w="0">
            <a:solidFill>
              <a:srgbClr val="FF7A85"/>
            </a:solidFill>
            <a:prstDash val="solid"/>
          </a:ln>
        </p:spPr>
        <p:txBody>
          <a:bodyPr xmlns:a="http://schemas.openxmlformats.org/drawingml/2006/main"/>
          <a:lstStyle xmlns:a="http://schemas.openxmlformats.org/drawingml/2006/main"/>
          <a:p xmlns:a="http://schemas.openxmlformats.org/drawingml/2006/main"/>
        </p:txBody>
      </p:sp>
      <p:sp>
        <p:nvSpPr>
          <p:cNvPr id="8" name="">
            <a:extLst xmlns:a="http://schemas.openxmlformats.org/drawingml/2006/main">
              <a:ext uri="{FF2B5EF4-FFF2-40B4-BE49-F238E27FC236}">
                <a16:creationId xmlns:a16="http://schemas.microsoft.com/office/drawing/2014/main" id="{9F7FF24A-4A03-47D4-9A35-847F2F95E948}"/>
              </a:ext>
            </a:extLst>
          </p:cNvPr>
          <p:cNvSpPr>
            <a:spLocks xmlns:a="http://schemas.openxmlformats.org/drawingml/2006/main" noGrp="1"/>
          </p:cNvSpPr>
          <p:nvPr/>
        </p:nvSpPr>
        <p:spPr>
          <a:xfrm xmlns:a="http://schemas.openxmlformats.org/drawingml/2006/main">
            <a:off x="8248650" y="2266950"/>
            <a:ext cx="209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B337B83E-3F1A-43EA-8F2F-C4F8F9C4BB4D}"/>
              </a:ext>
            </a:extLst>
          </p:cNvPr>
          <p:cNvSpPr>
            <a:spLocks xmlns:a="http://schemas.openxmlformats.org/drawingml/2006/main" noGrp="1"/>
          </p:cNvSpPr>
          <p:nvPr/>
        </p:nvSpPr>
        <p:spPr>
          <a:xfrm xmlns:a="http://schemas.openxmlformats.org/drawingml/2006/main">
            <a:off x="8763000" y="2190750"/>
            <a:ext cx="2714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a:solidFill>
                  <a:srgbClr val="FF7A85"/>
                </a:solidFill>
                <a:latin typeface="Arial"/>
                <a:ea typeface="Arial"/>
                <a:cs typeface="Arial"/>
              </a:defRPr>
            </a:pPr>
            <a:r>
              <a:rPr sz="1425" b="1">
                <a:solidFill>
                  <a:srgbClr val="FF7A85"/>
                </a:solidFill>
                <a:latin typeface="Arial"/>
                <a:ea typeface="Arial"/>
                <a:cs typeface="Arial"/>
              </a:rPr>
              <a:t>Exposure</a:t>
            </a:r>
          </a:p>
        </p:txBody>
      </p:sp>
      <p:sp>
        <p:nvSpPr>
          <p:cNvPr id="10" name="">
            <a:extLst xmlns:a="http://schemas.openxmlformats.org/drawingml/2006/main">
              <a:ext uri="{FF2B5EF4-FFF2-40B4-BE49-F238E27FC236}">
                <a16:creationId xmlns:a16="http://schemas.microsoft.com/office/drawing/2014/main" id="{E89F3413-B5D0-4740-953B-AA85601AD74B}"/>
              </a:ext>
            </a:extLst>
          </p:cNvPr>
          <p:cNvSpPr>
            <a:spLocks xmlns:a="http://schemas.openxmlformats.org/drawingml/2006/main" noGrp="1"/>
          </p:cNvSpPr>
          <p:nvPr/>
        </p:nvSpPr>
        <p:spPr>
          <a:xfrm xmlns:a="http://schemas.openxmlformats.org/drawingml/2006/main">
            <a:off x="8763000" y="2524125"/>
            <a:ext cx="2714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Dummy pair only</a:t>
            </a:r>
          </a:p>
        </p:txBody>
      </p:sp>
      <p:sp>
        <p:nvSpPr>
          <p:cNvPr id="11" name="">
            <a:extLst xmlns:a="http://schemas.openxmlformats.org/drawingml/2006/main">
              <a:ext uri="{FF2B5EF4-FFF2-40B4-BE49-F238E27FC236}">
                <a16:creationId xmlns:a16="http://schemas.microsoft.com/office/drawing/2014/main" id="{9728AE5C-55EE-4E19-83CB-7CE9CD218CAE}"/>
              </a:ext>
            </a:extLst>
          </p:cNvPr>
          <p:cNvSpPr>
            <a:spLocks xmlns:a="http://schemas.openxmlformats.org/drawingml/2006/main" noGrp="1"/>
          </p:cNvSpPr>
          <p:nvPr/>
        </p:nvSpPr>
        <p:spPr>
          <a:xfrm xmlns:a="http://schemas.openxmlformats.org/drawingml/2006/main">
            <a:off x="8134350" y="3352800"/>
            <a:ext cx="438150" cy="361950"/>
          </a:xfrm>
          <a:prstGeom xmlns:a="http://schemas.openxmlformats.org/drawingml/2006/main" prst="roundRect">
            <a:avLst>
              <a:gd name="adj" fmla="val 50000"/>
            </a:avLst>
          </a:prstGeom>
          <a:solidFill xmlns:a="http://schemas.openxmlformats.org/drawingml/2006/main">
            <a:srgbClr val="F4C866"/>
          </a:solidFill>
          <a:ln xmlns:a="http://schemas.openxmlformats.org/drawingml/2006/main" w="0">
            <a:solidFill>
              <a:srgbClr val="F4C866"/>
            </a:solidFill>
            <a:prstDash val="solid"/>
          </a:ln>
        </p:spPr>
        <p:txBody>
          <a:bodyPr xmlns:a="http://schemas.openxmlformats.org/drawingml/2006/main"/>
          <a:lstStyle xmlns:a="http://schemas.openxmlformats.org/drawingml/2006/main"/>
          <a:p xmlns:a="http://schemas.openxmlformats.org/drawingml/2006/main"/>
        </p:txBody>
      </p:sp>
      <p:sp>
        <p:nvSpPr>
          <p:cNvPr id="12" name="">
            <a:extLst xmlns:a="http://schemas.openxmlformats.org/drawingml/2006/main">
              <a:ext uri="{FF2B5EF4-FFF2-40B4-BE49-F238E27FC236}">
                <a16:creationId xmlns:a16="http://schemas.microsoft.com/office/drawing/2014/main" id="{82B68C25-F840-4F91-8189-9F4DAEC58C8B}"/>
              </a:ext>
            </a:extLst>
          </p:cNvPr>
          <p:cNvSpPr>
            <a:spLocks xmlns:a="http://schemas.openxmlformats.org/drawingml/2006/main" noGrp="1"/>
          </p:cNvSpPr>
          <p:nvPr/>
        </p:nvSpPr>
        <p:spPr>
          <a:xfrm xmlns:a="http://schemas.openxmlformats.org/drawingml/2006/main">
            <a:off x="8248650" y="3429000"/>
            <a:ext cx="209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2E670011-878C-4AC0-AB2D-1C4DFD93AE90}"/>
              </a:ext>
            </a:extLst>
          </p:cNvPr>
          <p:cNvSpPr>
            <a:spLocks xmlns:a="http://schemas.openxmlformats.org/drawingml/2006/main" noGrp="1"/>
          </p:cNvSpPr>
          <p:nvPr/>
        </p:nvSpPr>
        <p:spPr>
          <a:xfrm xmlns:a="http://schemas.openxmlformats.org/drawingml/2006/main">
            <a:off x="8763000" y="3352800"/>
            <a:ext cx="2714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a:solidFill>
                  <a:srgbClr val="F4C866"/>
                </a:solidFill>
                <a:latin typeface="Arial"/>
                <a:ea typeface="Arial"/>
                <a:cs typeface="Arial"/>
              </a:defRPr>
            </a:pPr>
            <a:r>
              <a:rPr sz="1425" b="1">
                <a:solidFill>
                  <a:srgbClr val="F4C866"/>
                </a:solidFill>
                <a:latin typeface="Arial"/>
                <a:ea typeface="Arial"/>
                <a:cs typeface="Arial"/>
              </a:rPr>
              <a:t>Automated replay</a:t>
            </a:r>
          </a:p>
        </p:txBody>
      </p:sp>
      <p:sp>
        <p:nvSpPr>
          <p:cNvPr id="14" name="">
            <a:extLst xmlns:a="http://schemas.openxmlformats.org/drawingml/2006/main">
              <a:ext uri="{FF2B5EF4-FFF2-40B4-BE49-F238E27FC236}">
                <a16:creationId xmlns:a16="http://schemas.microsoft.com/office/drawing/2014/main" id="{C3DC3790-5639-45A6-95D3-FF0D607DCC1C}"/>
              </a:ext>
            </a:extLst>
          </p:cNvPr>
          <p:cNvSpPr>
            <a:spLocks xmlns:a="http://schemas.openxmlformats.org/drawingml/2006/main" noGrp="1"/>
          </p:cNvSpPr>
          <p:nvPr/>
        </p:nvSpPr>
        <p:spPr>
          <a:xfrm xmlns:a="http://schemas.openxmlformats.org/drawingml/2006/main">
            <a:off x="8763000" y="3686175"/>
            <a:ext cx="2714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Fixed local simulation</a:t>
            </a:r>
          </a:p>
        </p:txBody>
      </p:sp>
      <p:sp>
        <p:nvSpPr>
          <p:cNvPr id="15" name="">
            <a:extLst xmlns:a="http://schemas.openxmlformats.org/drawingml/2006/main">
              <a:ext uri="{FF2B5EF4-FFF2-40B4-BE49-F238E27FC236}">
                <a16:creationId xmlns:a16="http://schemas.microsoft.com/office/drawing/2014/main" id="{998512CC-C062-4C3E-B5F0-328AD23DEDD7}"/>
              </a:ext>
            </a:extLst>
          </p:cNvPr>
          <p:cNvSpPr>
            <a:spLocks xmlns:a="http://schemas.openxmlformats.org/drawingml/2006/main" noGrp="1"/>
          </p:cNvSpPr>
          <p:nvPr/>
        </p:nvSpPr>
        <p:spPr>
          <a:xfrm xmlns:a="http://schemas.openxmlformats.org/drawingml/2006/main">
            <a:off x="8134350" y="4514850"/>
            <a:ext cx="438150" cy="361950"/>
          </a:xfrm>
          <a:prstGeom xmlns:a="http://schemas.openxmlformats.org/drawingml/2006/main" prst="roundRect">
            <a:avLst>
              <a:gd name="adj" fmla="val 50000"/>
            </a:avLst>
          </a:prstGeom>
          <a:solidFill xmlns:a="http://schemas.openxmlformats.org/drawingml/2006/main">
            <a:srgbClr val="48D2C2"/>
          </a:solidFill>
          <a:ln xmlns:a="http://schemas.openxmlformats.org/drawingml/2006/main" w="0">
            <a:solidFill>
              <a:srgbClr val="48D2C2"/>
            </a:solidFill>
            <a:prstDash val="solid"/>
          </a:ln>
        </p:spPr>
        <p:txBody>
          <a:bodyPr xmlns:a="http://schemas.openxmlformats.org/drawingml/2006/main"/>
          <a:lstStyle xmlns:a="http://schemas.openxmlformats.org/drawingml/2006/main"/>
          <a:p xmlns:a="http://schemas.openxmlformats.org/drawingml/2006/main"/>
        </p:txBody>
      </p:sp>
      <p:sp>
        <p:nvSpPr>
          <p:cNvPr id="16" name="">
            <a:extLst xmlns:a="http://schemas.openxmlformats.org/drawingml/2006/main">
              <a:ext uri="{FF2B5EF4-FFF2-40B4-BE49-F238E27FC236}">
                <a16:creationId xmlns:a16="http://schemas.microsoft.com/office/drawing/2014/main" id="{8101E9CB-A447-438D-86A2-0F4CEBD5CC6A}"/>
              </a:ext>
            </a:extLst>
          </p:cNvPr>
          <p:cNvSpPr>
            <a:spLocks xmlns:a="http://schemas.openxmlformats.org/drawingml/2006/main" noGrp="1"/>
          </p:cNvSpPr>
          <p:nvPr/>
        </p:nvSpPr>
        <p:spPr>
          <a:xfrm xmlns:a="http://schemas.openxmlformats.org/drawingml/2006/main">
            <a:off x="8248650" y="4591050"/>
            <a:ext cx="209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3</a:t>
            </a:r>
          </a:p>
        </p:txBody>
      </p:sp>
      <p:sp>
        <p:nvSpPr>
          <p:cNvPr id="17" name="">
            <a:extLst xmlns:a="http://schemas.openxmlformats.org/drawingml/2006/main">
              <a:ext uri="{FF2B5EF4-FFF2-40B4-BE49-F238E27FC236}">
                <a16:creationId xmlns:a16="http://schemas.microsoft.com/office/drawing/2014/main" id="{0E0F9FCD-2737-45DB-9EF9-2D842213671C}"/>
              </a:ext>
            </a:extLst>
          </p:cNvPr>
          <p:cNvSpPr>
            <a:spLocks xmlns:a="http://schemas.openxmlformats.org/drawingml/2006/main" noGrp="1"/>
          </p:cNvSpPr>
          <p:nvPr/>
        </p:nvSpPr>
        <p:spPr>
          <a:xfrm xmlns:a="http://schemas.openxmlformats.org/drawingml/2006/main">
            <a:off x="8763000" y="4514850"/>
            <a:ext cx="2714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a:solidFill>
                  <a:srgbClr val="48D2C2"/>
                </a:solidFill>
                <a:latin typeface="Arial"/>
                <a:ea typeface="Arial"/>
                <a:cs typeface="Arial"/>
              </a:defRPr>
            </a:pPr>
            <a:r>
              <a:rPr sz="1425" b="1">
                <a:solidFill>
                  <a:srgbClr val="48D2C2"/>
                </a:solidFill>
                <a:latin typeface="Arial"/>
                <a:ea typeface="Arial"/>
                <a:cs typeface="Arial"/>
              </a:rPr>
              <a:t>Cross-service acceptance</a:t>
            </a:r>
          </a:p>
        </p:txBody>
      </p:sp>
      <p:sp>
        <p:nvSpPr>
          <p:cNvPr id="18" name="">
            <a:extLst xmlns:a="http://schemas.openxmlformats.org/drawingml/2006/main">
              <a:ext uri="{FF2B5EF4-FFF2-40B4-BE49-F238E27FC236}">
                <a16:creationId xmlns:a16="http://schemas.microsoft.com/office/drawing/2014/main" id="{3D8CD53A-2B36-459C-ACCB-10EBF96138E5}"/>
              </a:ext>
            </a:extLst>
          </p:cNvPr>
          <p:cNvSpPr>
            <a:spLocks xmlns:a="http://schemas.openxmlformats.org/drawingml/2006/main" noGrp="1"/>
          </p:cNvSpPr>
          <p:nvPr/>
        </p:nvSpPr>
        <p:spPr>
          <a:xfrm xmlns:a="http://schemas.openxmlformats.org/drawingml/2006/main">
            <a:off x="8763000" y="4848225"/>
            <a:ext cx="2714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Reuse enables takeover</a:t>
            </a:r>
          </a:p>
        </p:txBody>
      </p:sp>
      <p:sp>
        <p:nvSpPr>
          <p:cNvPr id="19" name="">
            <a:extLst xmlns:a="http://schemas.openxmlformats.org/drawingml/2006/main">
              <a:ext uri="{FF2B5EF4-FFF2-40B4-BE49-F238E27FC236}">
                <a16:creationId xmlns:a16="http://schemas.microsoft.com/office/drawing/2014/main" id="{96C3971A-19E9-4E83-B521-01CFE123FC1B}"/>
              </a:ext>
            </a:extLst>
          </p:cNvPr>
          <p:cNvSpPr>
            <a:spLocks xmlns:a="http://schemas.openxmlformats.org/drawingml/2006/main" noGrp="1"/>
          </p:cNvSpPr>
          <p:nvPr/>
        </p:nvSpPr>
        <p:spPr>
          <a:xfrm xmlns:a="http://schemas.openxmlformats.org/drawingml/2006/main">
            <a:off x="8096250" y="5734050"/>
            <a:ext cx="3429000" cy="495300"/>
          </a:xfrm>
          <a:prstGeom xmlns:a="http://schemas.openxmlformats.org/drawingml/2006/main" prst="roundRect">
            <a:avLst>
              <a:gd name="adj" fmla="val 23077"/>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20" name="">
            <a:extLst xmlns:a="http://schemas.openxmlformats.org/drawingml/2006/main">
              <a:ext uri="{FF2B5EF4-FFF2-40B4-BE49-F238E27FC236}">
                <a16:creationId xmlns:a16="http://schemas.microsoft.com/office/drawing/2014/main" id="{D6987D45-A824-443A-9D98-CD0275704A45}"/>
              </a:ext>
            </a:extLst>
          </p:cNvPr>
          <p:cNvSpPr>
            <a:spLocks xmlns:a="http://schemas.openxmlformats.org/drawingml/2006/main" noGrp="1"/>
          </p:cNvSpPr>
          <p:nvPr/>
        </p:nvSpPr>
        <p:spPr>
          <a:xfrm xmlns:a="http://schemas.openxmlformats.org/drawingml/2006/main">
            <a:off x="8286750" y="58674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3"/>
          </a:bodyPr>
          <a:lstStyle xmlns:a="http://schemas.openxmlformats.org/drawingml/2006/main"/>
          <a:p xmlns:a="http://schemas.openxmlformats.org/drawingml/2006/main">
            <a:pPr algn="ctr">
              <a:buNone/>
              <a:defRPr sz="1275" b="1">
                <a:solidFill>
                  <a:srgbClr val="FFFFFF"/>
                </a:solidFill>
                <a:latin typeface="Arial"/>
                <a:ea typeface="Arial"/>
                <a:cs typeface="Arial"/>
              </a:defRPr>
            </a:pPr>
            <a:r>
              <a:rPr sz="1275" b="1">
                <a:solidFill>
                  <a:srgbClr val="FFFFFF"/>
                </a:solidFill>
                <a:latin typeface="Arial"/>
                <a:ea typeface="Arial"/>
                <a:cs typeface="Arial"/>
              </a:rPr>
              <a:t>Control reuse and replay, not only length.</a:t>
            </a:r>
          </a:p>
        </p:txBody>
      </p:sp>
      <p:sp>
        <p:nvSpPr>
          <p:cNvPr id="21" name="">
            <a:extLst xmlns:a="http://schemas.openxmlformats.org/drawingml/2006/main">
              <a:ext uri="{FF2B5EF4-FFF2-40B4-BE49-F238E27FC236}">
                <a16:creationId xmlns:a16="http://schemas.microsoft.com/office/drawing/2014/main" id="{36F76D82-E30B-486E-8468-668E82F78055}"/>
              </a:ext>
            </a:extLst>
          </p:cNvPr>
          <p:cNvSpPr>
            <a:spLocks xmlns:a="http://schemas.openxmlformats.org/drawingml/2006/main" noGrp="1"/>
          </p:cNvSpPr>
          <p:nvPr/>
        </p:nvSpPr>
        <p:spPr>
          <a:xfrm xmlns:a="http://schemas.openxmlformats.org/drawingml/2006/main">
            <a:off x="514350" y="6524625"/>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0">
                <a:solidFill>
                  <a:srgbClr val="A9B5C5"/>
                </a:solidFill>
                <a:latin typeface="Arial"/>
                <a:ea typeface="Arial"/>
                <a:cs typeface="Arial"/>
              </a:defRPr>
            </a:pPr>
            <a:r>
              <a:rPr sz="750" b="0">
                <a:solidFill>
                  <a:srgbClr val="A9B5C5"/>
                </a:solidFill>
                <a:latin typeface="Arial"/>
                <a:ea typeface="Arial"/>
                <a:cs typeface="Arial"/>
              </a:rPr>
              <a:t>Source: OWASP Credential Stuffing; NIST SP 800-63B-4 (2025).</a:t>
            </a:r>
          </a:p>
        </p:txBody>
      </p:sp>
    </p:spTree>
    <p:extLst>
      <p:ext uri="{BB962C8B-B14F-4D97-AF65-F5344CB8AC3E}">
        <p14:creationId xmlns:p14="http://schemas.microsoft.com/office/powerpoint/2010/main" val="1237447697"/>
      </p:ext>
    </p:extLst>
  </p:cSld>
</p:sld>
</file>

<file path=ppt/slides/slide5.xml><?xml version="1.0" encoding="utf-8"?>
<p:sld xmlns:p="http://schemas.openxmlformats.org/presentationml/2006/main">
  <p:cSld>
    <p:bg>
      <p:bgPr>
        <a:solidFill xmlns:a="http://schemas.openxmlformats.org/drawingml/2006/main">
          <a:srgbClr val="07111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34DFE8F-1A70-4B52-924C-BA7F1FD9CD1B}"/>
              </a:ext>
            </a:extLst>
          </p:cNvPr>
          <p:cNvSpPr>
            <a:spLocks xmlns:a="http://schemas.openxmlformats.org/drawingml/2006/main" noGrp="1"/>
          </p:cNvSpPr>
          <p:nvPr/>
        </p:nvSpPr>
        <p:spPr>
          <a:xfrm xmlns:a="http://schemas.openxmlformats.org/drawingml/2006/main">
            <a:off x="514350" y="2857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48D2C2"/>
                </a:solidFill>
                <a:latin typeface="Arial"/>
                <a:ea typeface="Arial"/>
                <a:cs typeface="Arial"/>
              </a:defRPr>
            </a:pPr>
            <a:r>
              <a:rPr sz="975" b="1">
                <a:solidFill>
                  <a:srgbClr val="48D2C2"/>
                </a:solidFill>
                <a:latin typeface="Arial"/>
                <a:ea typeface="Arial"/>
                <a:cs typeface="Arial"/>
              </a:rPr>
              <a:t>AUTHLAB  /  ANALYSIS</a:t>
            </a:r>
          </a:p>
        </p:txBody>
      </p:sp>
      <p:sp>
        <p:nvSpPr>
          <p:cNvPr id="2" name="">
            <a:extLst xmlns:a="http://schemas.openxmlformats.org/drawingml/2006/main">
              <a:ext uri="{FF2B5EF4-FFF2-40B4-BE49-F238E27FC236}">
                <a16:creationId xmlns:a16="http://schemas.microsoft.com/office/drawing/2014/main" id="{6829035B-E231-4D3F-9657-244CB307742A}"/>
              </a:ext>
            </a:extLst>
          </p:cNvPr>
          <p:cNvSpPr>
            <a:spLocks xmlns:a="http://schemas.openxmlformats.org/drawingml/2006/main" noGrp="1"/>
          </p:cNvSpPr>
          <p:nvPr/>
        </p:nvSpPr>
        <p:spPr>
          <a:xfrm xmlns:a="http://schemas.openxmlformats.org/drawingml/2006/main">
            <a:off x="11334750" y="295275"/>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A9B5C5"/>
                </a:solidFill>
                <a:latin typeface="Arial"/>
                <a:ea typeface="Arial"/>
                <a:cs typeface="Arial"/>
              </a:defRPr>
            </a:pPr>
            <a:r>
              <a:rPr sz="975" b="1">
                <a:solidFill>
                  <a:srgbClr val="A9B5C5"/>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0F7247AC-D9BE-4631-B698-D8FAAF4BAF16}"/>
              </a:ext>
            </a:extLst>
          </p:cNvPr>
          <p:cNvSpPr>
            <a:spLocks xmlns:a="http://schemas.openxmlformats.org/drawingml/2006/main" noGrp="1"/>
          </p:cNvSpPr>
          <p:nvPr/>
        </p:nvSpPr>
        <p:spPr>
          <a:xfrm xmlns:a="http://schemas.openxmlformats.org/drawingml/2006/main">
            <a:off x="514350" y="590550"/>
            <a:ext cx="11182350" cy="19050"/>
          </a:xfrm>
          <a:prstGeom xmlns:a="http://schemas.openxmlformats.org/drawingml/2006/main" prst="rect">
            <a:avLst/>
          </a:prstGeom>
          <a:solidFill xmlns:a="http://schemas.openxmlformats.org/drawingml/2006/main">
            <a:srgbClr val="263B58"/>
          </a:solidFill>
          <a:ln xmlns:a="http://schemas.openxmlformats.org/drawingml/2006/main" w="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2949C2C8-F216-4D4D-9CAA-83B80C1ECC2D}"/>
              </a:ext>
            </a:extLst>
          </p:cNvPr>
          <p:cNvSpPr>
            <a:spLocks xmlns:a="http://schemas.openxmlformats.org/drawingml/2006/main" noGrp="1"/>
          </p:cNvSpPr>
          <p:nvPr/>
        </p:nvSpPr>
        <p:spPr>
          <a:xfrm xmlns:a="http://schemas.openxmlformats.org/drawingml/2006/main">
            <a:off x="514350" y="800100"/>
            <a:ext cx="11049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FFFFFF"/>
                </a:solidFill>
                <a:latin typeface="Arial"/>
                <a:ea typeface="Arial"/>
                <a:cs typeface="Arial"/>
              </a:defRPr>
            </a:pPr>
            <a:r>
              <a:rPr sz="3150" b="1">
                <a:solidFill>
                  <a:srgbClr val="FFFFFF"/>
                </a:solidFill>
                <a:latin typeface="Arial"/>
                <a:ea typeface="Arial"/>
                <a:cs typeface="Arial"/>
              </a:rPr>
              <a:t>A live phishing proxy can relay passwords and TOTP</a:t>
            </a:r>
          </a:p>
        </p:txBody>
      </p:sp>
      <p:sp>
        <p:nvSpPr>
          <p:cNvPr id="5" name="">
            <a:extLst xmlns:a="http://schemas.openxmlformats.org/drawingml/2006/main">
              <a:ext uri="{FF2B5EF4-FFF2-40B4-BE49-F238E27FC236}">
                <a16:creationId xmlns:a16="http://schemas.microsoft.com/office/drawing/2014/main" id="{A716948D-9301-447D-803E-A3B9D1EF7CCD}"/>
              </a:ext>
            </a:extLst>
          </p:cNvPr>
          <p:cNvSpPr>
            <a:spLocks xmlns:a="http://schemas.openxmlformats.org/drawingml/2006/main" noGrp="1"/>
          </p:cNvSpPr>
          <p:nvPr/>
        </p:nvSpPr>
        <p:spPr>
          <a:xfrm xmlns:a="http://schemas.openxmlformats.org/drawingml/2006/main">
            <a:off x="533400" y="1485900"/>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A9B5C5"/>
                </a:solidFill>
                <a:latin typeface="Arial"/>
                <a:ea typeface="Arial"/>
                <a:cs typeface="Arial"/>
              </a:defRPr>
            </a:pPr>
            <a:r>
              <a:rPr sz="1425" b="0">
                <a:solidFill>
                  <a:srgbClr val="A9B5C5"/>
                </a:solidFill>
                <a:latin typeface="Arial"/>
                <a:ea typeface="Arial"/>
                <a:cs typeface="Arial"/>
              </a:rPr>
              <a:t>Learners inspect the registered domain, request context and a trusted route.</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ad76cb318af9484a"/>
          <a:srcRect xmlns:a="http://schemas.openxmlformats.org/drawingml/2006/main" l="1199" t="0" r="1199" b="0"/>
          <a:stretch xmlns:a="http://schemas.openxmlformats.org/drawingml/2006/main">
            <a:fillRect l="0" t="0" r="0" b="0"/>
          </a:stretch>
        </p:blipFill>
        <p:spPr>
          <a:xfrm xmlns:a="http://schemas.openxmlformats.org/drawingml/2006/main" flipH="0" flipV="0">
            <a:off x="514350" y="2057400"/>
            <a:ext cx="7239000" cy="4171950"/>
          </a:xfrm>
          <a:prstGeom xmlns:a="http://schemas.openxmlformats.org/drawingml/2006/main" prst="roundRect">
            <a:avLst/>
          </a:prstGeom>
        </p:spPr>
      </p:pic>
      <p:sp>
        <p:nvSpPr>
          <p:cNvPr id="7" name="">
            <a:extLst xmlns:a="http://schemas.openxmlformats.org/drawingml/2006/main">
              <a:ext uri="{FF2B5EF4-FFF2-40B4-BE49-F238E27FC236}">
                <a16:creationId xmlns:a16="http://schemas.microsoft.com/office/drawing/2014/main" id="{DB49E91D-5889-4933-BC65-D45476F6E825}"/>
              </a:ext>
            </a:extLst>
          </p:cNvPr>
          <p:cNvSpPr>
            <a:spLocks xmlns:a="http://schemas.openxmlformats.org/drawingml/2006/main" noGrp="1"/>
          </p:cNvSpPr>
          <p:nvPr/>
        </p:nvSpPr>
        <p:spPr>
          <a:xfrm xmlns:a="http://schemas.openxmlformats.org/drawingml/2006/main">
            <a:off x="8115300" y="2076450"/>
            <a:ext cx="3409950" cy="1981200"/>
          </a:xfrm>
          <a:prstGeom xmlns:a="http://schemas.openxmlformats.org/drawingml/2006/main" prst="roundRect">
            <a:avLst>
              <a:gd name="adj" fmla="val 7692"/>
            </a:avLst>
          </a:prstGeom>
          <a:solidFill xmlns:a="http://schemas.openxmlformats.org/drawingml/2006/main">
            <a:srgbClr val="13243D"/>
          </a:solidFill>
          <a:ln xmlns:a="http://schemas.openxmlformats.org/drawingml/2006/main" w="1905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8" name="">
            <a:extLst xmlns:a="http://schemas.openxmlformats.org/drawingml/2006/main">
              <a:ext uri="{FF2B5EF4-FFF2-40B4-BE49-F238E27FC236}">
                <a16:creationId xmlns:a16="http://schemas.microsoft.com/office/drawing/2014/main" id="{F2B553D4-7098-4AEC-8FA0-2886C39062FA}"/>
              </a:ext>
            </a:extLst>
          </p:cNvPr>
          <p:cNvSpPr>
            <a:spLocks xmlns:a="http://schemas.openxmlformats.org/drawingml/2006/main" noGrp="1"/>
          </p:cNvSpPr>
          <p:nvPr/>
        </p:nvSpPr>
        <p:spPr>
          <a:xfrm xmlns:a="http://schemas.openxmlformats.org/drawingml/2006/main">
            <a:off x="8362950" y="23431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F4C866"/>
                </a:solidFill>
                <a:latin typeface="Arial"/>
                <a:ea typeface="Arial"/>
                <a:cs typeface="Arial"/>
              </a:defRPr>
            </a:pPr>
            <a:r>
              <a:rPr sz="1050" b="1">
                <a:solidFill>
                  <a:srgbClr val="F4C866"/>
                </a:solidFill>
                <a:latin typeface="Arial"/>
                <a:ea typeface="Arial"/>
                <a:cs typeface="Arial"/>
              </a:rPr>
              <a:t>DECISION RULE</a:t>
            </a:r>
          </a:p>
        </p:txBody>
      </p:sp>
      <p:sp>
        <p:nvSpPr>
          <p:cNvPr id="9" name="">
            <a:extLst xmlns:a="http://schemas.openxmlformats.org/drawingml/2006/main">
              <a:ext uri="{FF2B5EF4-FFF2-40B4-BE49-F238E27FC236}">
                <a16:creationId xmlns:a16="http://schemas.microsoft.com/office/drawing/2014/main" id="{EB0C2FD3-C35E-4D0A-8FE1-37266D4D658C}"/>
              </a:ext>
            </a:extLst>
          </p:cNvPr>
          <p:cNvSpPr>
            <a:spLocks xmlns:a="http://schemas.openxmlformats.org/drawingml/2006/main" noGrp="1"/>
          </p:cNvSpPr>
          <p:nvPr/>
        </p:nvSpPr>
        <p:spPr>
          <a:xfrm xmlns:a="http://schemas.openxmlformats.org/drawingml/2006/main">
            <a:off x="8362950" y="2800350"/>
            <a:ext cx="2762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744"/>
          </a:bodyPr>
          <a:lstStyle xmlns:a="http://schemas.openxmlformats.org/drawingml/2006/main"/>
          <a:p xmlns:a="http://schemas.openxmlformats.org/drawingml/2006/main">
            <a:pPr algn="l">
              <a:buNone/>
              <a:defRPr sz="1950" b="1">
                <a:solidFill>
                  <a:srgbClr val="FFFFFF"/>
                </a:solidFill>
                <a:latin typeface="Arial"/>
                <a:ea typeface="Arial"/>
                <a:cs typeface="Arial"/>
              </a:defRPr>
            </a:pPr>
            <a:r>
              <a:rPr sz="1950" b="1">
                <a:solidFill>
                  <a:srgbClr val="FFFFFF"/>
                </a:solidFill>
                <a:latin typeface="Arial"/>
                <a:ea typeface="Arial"/>
                <a:cs typeface="Arial"/>
              </a:rPr>
              <a:t>Inspect origin.</a:t>
            </a:r>
          </a:p>
          <a:p xmlns:a="http://schemas.openxmlformats.org/drawingml/2006/main">
            <a:pPr algn="l">
              <a:buNone/>
              <a:defRPr sz="1950" b="1">
                <a:solidFill>
                  <a:srgbClr val="FFFFFF"/>
                </a:solidFill>
                <a:latin typeface="Arial"/>
                <a:ea typeface="Arial"/>
                <a:cs typeface="Arial"/>
              </a:defRPr>
            </a:pPr>
            <a:r>
              <a:rPr sz="1950" b="1">
                <a:solidFill>
                  <a:srgbClr val="FFFFFF"/>
                </a:solidFill>
                <a:latin typeface="Arial"/>
                <a:ea typeface="Arial"/>
                <a:cs typeface="Arial"/>
              </a:rPr>
              <a:t>Verify context.</a:t>
            </a:r>
          </a:p>
          <a:p xmlns:a="http://schemas.openxmlformats.org/drawingml/2006/main">
            <a:pPr algn="l">
              <a:buNone/>
              <a:defRPr sz="1950" b="1">
                <a:solidFill>
                  <a:srgbClr val="FFFFFF"/>
                </a:solidFill>
                <a:latin typeface="Arial"/>
                <a:ea typeface="Arial"/>
                <a:cs typeface="Arial"/>
              </a:defRPr>
            </a:pPr>
            <a:r>
              <a:rPr sz="1950" b="1">
                <a:solidFill>
                  <a:srgbClr val="FFFFFF"/>
                </a:solidFill>
                <a:latin typeface="Arial"/>
                <a:ea typeface="Arial"/>
                <a:cs typeface="Arial"/>
              </a:rPr>
              <a:t>Use a trusted route.</a:t>
            </a:r>
          </a:p>
          <a:p xmlns:a="http://schemas.openxmlformats.org/drawingml/2006/main">
            <a:pPr algn="l">
              <a:buNone/>
              <a:defRPr sz="1950" b="1">
                <a:solidFill>
                  <a:srgbClr val="FFFFFF"/>
                </a:solidFill>
                <a:latin typeface="Arial"/>
                <a:ea typeface="Arial"/>
                <a:cs typeface="Arial"/>
              </a:defRPr>
            </a:pPr>
            <a:r>
              <a:rPr sz="1950" b="1">
                <a:solidFill>
                  <a:srgbClr val="FFFFFF"/>
                </a:solidFill>
                <a:latin typeface="Arial"/>
                <a:ea typeface="Arial"/>
                <a:cs typeface="Arial"/>
              </a:rPr>
              <a:t>Report safely.</a:t>
            </a:r>
          </a:p>
        </p:txBody>
      </p:sp>
      <p:sp>
        <p:nvSpPr>
          <p:cNvPr id="10" name="">
            <a:extLst xmlns:a="http://schemas.openxmlformats.org/drawingml/2006/main">
              <a:ext uri="{FF2B5EF4-FFF2-40B4-BE49-F238E27FC236}">
                <a16:creationId xmlns:a16="http://schemas.microsoft.com/office/drawing/2014/main" id="{24CD7D67-7141-468F-A050-C1D5656B0071}"/>
              </a:ext>
            </a:extLst>
          </p:cNvPr>
          <p:cNvSpPr>
            <a:spLocks xmlns:a="http://schemas.openxmlformats.org/drawingml/2006/main" noGrp="1"/>
          </p:cNvSpPr>
          <p:nvPr/>
        </p:nvSpPr>
        <p:spPr>
          <a:xfrm xmlns:a="http://schemas.openxmlformats.org/drawingml/2006/main">
            <a:off x="8115300" y="4343400"/>
            <a:ext cx="3409950" cy="1695450"/>
          </a:xfrm>
          <a:prstGeom xmlns:a="http://schemas.openxmlformats.org/drawingml/2006/main" prst="roundRect">
            <a:avLst>
              <a:gd name="adj" fmla="val 8989"/>
            </a:avLst>
          </a:prstGeom>
          <a:solidFill xmlns:a="http://schemas.openxmlformats.org/drawingml/2006/main">
            <a:srgbClr val="1B2838"/>
          </a:solidFill>
          <a:ln xmlns:a="http://schemas.openxmlformats.org/drawingml/2006/main" w="1905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1" name="">
            <a:extLst xmlns:a="http://schemas.openxmlformats.org/drawingml/2006/main">
              <a:ext uri="{FF2B5EF4-FFF2-40B4-BE49-F238E27FC236}">
                <a16:creationId xmlns:a16="http://schemas.microsoft.com/office/drawing/2014/main" id="{A7C7BA8C-72A5-4018-B935-779506B83B37}"/>
              </a:ext>
            </a:extLst>
          </p:cNvPr>
          <p:cNvSpPr>
            <a:spLocks xmlns:a="http://schemas.openxmlformats.org/drawingml/2006/main" noGrp="1"/>
          </p:cNvSpPr>
          <p:nvPr/>
        </p:nvSpPr>
        <p:spPr>
          <a:xfrm xmlns:a="http://schemas.openxmlformats.org/drawingml/2006/main">
            <a:off x="8362950" y="461010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48D2C2"/>
                </a:solidFill>
                <a:latin typeface="Arial"/>
                <a:ea typeface="Arial"/>
                <a:cs typeface="Arial"/>
              </a:defRPr>
            </a:pPr>
            <a:r>
              <a:rPr sz="1125" b="1">
                <a:solidFill>
                  <a:srgbClr val="48D2C2"/>
                </a:solidFill>
                <a:latin typeface="Arial"/>
                <a:ea typeface="Arial"/>
                <a:cs typeface="Arial"/>
              </a:rPr>
              <a:t>Why this matters</a:t>
            </a:r>
          </a:p>
        </p:txBody>
      </p:sp>
      <p:sp>
        <p:nvSpPr>
          <p:cNvPr id="12" name="">
            <a:extLst xmlns:a="http://schemas.openxmlformats.org/drawingml/2006/main">
              <a:ext uri="{FF2B5EF4-FFF2-40B4-BE49-F238E27FC236}">
                <a16:creationId xmlns:a16="http://schemas.microsoft.com/office/drawing/2014/main" id="{0D6C199A-7114-46AC-860C-1508978D2DD3}"/>
              </a:ext>
            </a:extLst>
          </p:cNvPr>
          <p:cNvSpPr>
            <a:spLocks xmlns:a="http://schemas.openxmlformats.org/drawingml/2006/main" noGrp="1"/>
          </p:cNvSpPr>
          <p:nvPr/>
        </p:nvSpPr>
        <p:spPr>
          <a:xfrm xmlns:a="http://schemas.openxmlformats.org/drawingml/2006/main">
            <a:off x="8362950" y="4953000"/>
            <a:ext cx="27813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0">
                <a:solidFill>
                  <a:srgbClr val="A9B5C5"/>
                </a:solidFill>
                <a:latin typeface="Arial"/>
                <a:ea typeface="Arial"/>
                <a:cs typeface="Arial"/>
              </a:defRPr>
            </a:pPr>
            <a:r>
              <a:rPr sz="1350" b="0">
                <a:solidFill>
                  <a:srgbClr val="A9B5C5"/>
                </a:solidFill>
                <a:latin typeface="Arial"/>
                <a:ea typeface="Arial"/>
                <a:cs typeface="Arial"/>
              </a:rPr>
              <a:t>TOTP is short-lived, not origin-bound. Passkeys change which verifier can receive valid proof.</a:t>
            </a:r>
          </a:p>
        </p:txBody>
      </p:sp>
      <p:sp>
        <p:nvSpPr>
          <p:cNvPr id="13" name="">
            <a:extLst xmlns:a="http://schemas.openxmlformats.org/drawingml/2006/main">
              <a:ext uri="{FF2B5EF4-FFF2-40B4-BE49-F238E27FC236}">
                <a16:creationId xmlns:a16="http://schemas.microsoft.com/office/drawing/2014/main" id="{88D634FC-D8D7-4F8A-94E7-B552BD19AA89}"/>
              </a:ext>
            </a:extLst>
          </p:cNvPr>
          <p:cNvSpPr>
            <a:spLocks xmlns:a="http://schemas.openxmlformats.org/drawingml/2006/main" noGrp="1"/>
          </p:cNvSpPr>
          <p:nvPr/>
        </p:nvSpPr>
        <p:spPr>
          <a:xfrm xmlns:a="http://schemas.openxmlformats.org/drawingml/2006/main">
            <a:off x="514350" y="6524625"/>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0">
                <a:solidFill>
                  <a:srgbClr val="A9B5C5"/>
                </a:solidFill>
                <a:latin typeface="Arial"/>
                <a:ea typeface="Arial"/>
                <a:cs typeface="Arial"/>
              </a:defRPr>
            </a:pPr>
            <a:r>
              <a:rPr sz="750" b="0">
                <a:solidFill>
                  <a:srgbClr val="A9B5C5"/>
                </a:solidFill>
                <a:latin typeface="Arial"/>
                <a:ea typeface="Arial"/>
                <a:cs typeface="Arial"/>
              </a:rPr>
              <a:t>Sources: CISA phishing guidance (2025); NIST phishing resistance.</a:t>
            </a:r>
          </a:p>
        </p:txBody>
      </p:sp>
    </p:spTree>
    <p:extLst>
      <p:ext uri="{BB962C8B-B14F-4D97-AF65-F5344CB8AC3E}">
        <p14:creationId xmlns:p14="http://schemas.microsoft.com/office/powerpoint/2010/main" val="1677917313"/>
      </p:ext>
    </p:extLst>
  </p:cSld>
</p:sld>
</file>

<file path=ppt/slides/slide6.xml><?xml version="1.0" encoding="utf-8"?>
<p:sld xmlns:p="http://schemas.openxmlformats.org/presentationml/2006/main">
  <p:cSld>
    <p:bg>
      <p:bgPr>
        <a:solidFill xmlns:a="http://schemas.openxmlformats.org/drawingml/2006/main">
          <a:srgbClr val="07111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BC2FC30-20DA-41B9-B082-FF50FA79B052}"/>
              </a:ext>
            </a:extLst>
          </p:cNvPr>
          <p:cNvSpPr>
            <a:spLocks xmlns:a="http://schemas.openxmlformats.org/drawingml/2006/main" noGrp="1"/>
          </p:cNvSpPr>
          <p:nvPr/>
        </p:nvSpPr>
        <p:spPr>
          <a:xfrm xmlns:a="http://schemas.openxmlformats.org/drawingml/2006/main">
            <a:off x="514350" y="2857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48D2C2"/>
                </a:solidFill>
                <a:latin typeface="Arial"/>
                <a:ea typeface="Arial"/>
                <a:cs typeface="Arial"/>
              </a:defRPr>
            </a:pPr>
            <a:r>
              <a:rPr sz="975" b="1">
                <a:solidFill>
                  <a:srgbClr val="48D2C2"/>
                </a:solidFill>
                <a:latin typeface="Arial"/>
                <a:ea typeface="Arial"/>
                <a:cs typeface="Arial"/>
              </a:rPr>
              <a:t>AUTHLAB  /  TECHNICALITY</a:t>
            </a:r>
          </a:p>
        </p:txBody>
      </p:sp>
      <p:sp>
        <p:nvSpPr>
          <p:cNvPr id="2" name="">
            <a:extLst xmlns:a="http://schemas.openxmlformats.org/drawingml/2006/main">
              <a:ext uri="{FF2B5EF4-FFF2-40B4-BE49-F238E27FC236}">
                <a16:creationId xmlns:a16="http://schemas.microsoft.com/office/drawing/2014/main" id="{95C723E0-CBE7-4135-80C1-6309D258C6C7}"/>
              </a:ext>
            </a:extLst>
          </p:cNvPr>
          <p:cNvSpPr>
            <a:spLocks xmlns:a="http://schemas.openxmlformats.org/drawingml/2006/main" noGrp="1"/>
          </p:cNvSpPr>
          <p:nvPr/>
        </p:nvSpPr>
        <p:spPr>
          <a:xfrm xmlns:a="http://schemas.openxmlformats.org/drawingml/2006/main">
            <a:off x="11334750" y="295275"/>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A9B5C5"/>
                </a:solidFill>
                <a:latin typeface="Arial"/>
                <a:ea typeface="Arial"/>
                <a:cs typeface="Arial"/>
              </a:defRPr>
            </a:pPr>
            <a:r>
              <a:rPr sz="975" b="1">
                <a:solidFill>
                  <a:srgbClr val="A9B5C5"/>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1D4EAD31-092F-4544-AB44-DA837FE47126}"/>
              </a:ext>
            </a:extLst>
          </p:cNvPr>
          <p:cNvSpPr>
            <a:spLocks xmlns:a="http://schemas.openxmlformats.org/drawingml/2006/main" noGrp="1"/>
          </p:cNvSpPr>
          <p:nvPr/>
        </p:nvSpPr>
        <p:spPr>
          <a:xfrm xmlns:a="http://schemas.openxmlformats.org/drawingml/2006/main">
            <a:off x="514350" y="590550"/>
            <a:ext cx="11182350" cy="19050"/>
          </a:xfrm>
          <a:prstGeom xmlns:a="http://schemas.openxmlformats.org/drawingml/2006/main" prst="rect">
            <a:avLst/>
          </a:prstGeom>
          <a:solidFill xmlns:a="http://schemas.openxmlformats.org/drawingml/2006/main">
            <a:srgbClr val="263B58"/>
          </a:solidFill>
          <a:ln xmlns:a="http://schemas.openxmlformats.org/drawingml/2006/main" w="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6C044917-BE2C-48FA-A393-8BCEDE8648BA}"/>
              </a:ext>
            </a:extLst>
          </p:cNvPr>
          <p:cNvSpPr>
            <a:spLocks xmlns:a="http://schemas.openxmlformats.org/drawingml/2006/main" noGrp="1"/>
          </p:cNvSpPr>
          <p:nvPr/>
        </p:nvSpPr>
        <p:spPr>
          <a:xfrm xmlns:a="http://schemas.openxmlformats.org/drawingml/2006/main">
            <a:off x="514350" y="800100"/>
            <a:ext cx="11049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FFFFFF"/>
                </a:solidFill>
                <a:latin typeface="Arial"/>
                <a:ea typeface="Arial"/>
                <a:cs typeface="Arial"/>
              </a:defRPr>
            </a:pPr>
            <a:r>
              <a:rPr sz="3150" b="1">
                <a:solidFill>
                  <a:srgbClr val="FFFFFF"/>
                </a:solidFill>
                <a:latin typeface="Arial"/>
                <a:ea typeface="Arial"/>
                <a:cs typeface="Arial"/>
              </a:rPr>
              <a:t>A passkey signs a fresh challenge for one relying party</a:t>
            </a:r>
          </a:p>
        </p:txBody>
      </p:sp>
      <p:sp>
        <p:nvSpPr>
          <p:cNvPr id="5" name="">
            <a:extLst xmlns:a="http://schemas.openxmlformats.org/drawingml/2006/main">
              <a:ext uri="{FF2B5EF4-FFF2-40B4-BE49-F238E27FC236}">
                <a16:creationId xmlns:a16="http://schemas.microsoft.com/office/drawing/2014/main" id="{B325E185-247C-43F3-87D0-3F9BC76A4CAD}"/>
              </a:ext>
            </a:extLst>
          </p:cNvPr>
          <p:cNvSpPr>
            <a:spLocks xmlns:a="http://schemas.openxmlformats.org/drawingml/2006/main" noGrp="1"/>
          </p:cNvSpPr>
          <p:nvPr/>
        </p:nvSpPr>
        <p:spPr>
          <a:xfrm xmlns:a="http://schemas.openxmlformats.org/drawingml/2006/main">
            <a:off x="533400" y="1485900"/>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A9B5C5"/>
                </a:solidFill>
                <a:latin typeface="Arial"/>
                <a:ea typeface="Arial"/>
                <a:cs typeface="Arial"/>
              </a:defRPr>
            </a:pPr>
            <a:r>
              <a:rPr sz="1425" b="0">
                <a:solidFill>
                  <a:srgbClr val="A9B5C5"/>
                </a:solidFill>
                <a:latin typeface="Arial"/>
                <a:ea typeface="Arial"/>
                <a:cs typeface="Arial"/>
              </a:rPr>
              <a:t>Private-key material stays protected; a look-alike origin cannot get valid proof for the legitimate RP.</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eeb672a42dfa4eb6"/>
          <a:srcRect xmlns:a="http://schemas.openxmlformats.org/drawingml/2006/main" l="0" t="123" r="0" b="123"/>
          <a:stretch xmlns:a="http://schemas.openxmlformats.org/drawingml/2006/main">
            <a:fillRect l="0" t="0" r="0" b="0"/>
          </a:stretch>
        </p:blipFill>
        <p:spPr>
          <a:xfrm xmlns:a="http://schemas.openxmlformats.org/drawingml/2006/main" flipH="0" flipV="0">
            <a:off x="514350" y="2114550"/>
            <a:ext cx="6858000" cy="3848100"/>
          </a:xfrm>
          <a:prstGeom xmlns:a="http://schemas.openxmlformats.org/drawingml/2006/main" prst="roundRect">
            <a:avLst/>
          </a:prstGeom>
        </p:spPr>
      </p:pic>
      <p:sp>
        <p:nvSpPr>
          <p:cNvPr id="7" name="">
            <a:extLst xmlns:a="http://schemas.openxmlformats.org/drawingml/2006/main">
              <a:ext uri="{FF2B5EF4-FFF2-40B4-BE49-F238E27FC236}">
                <a16:creationId xmlns:a16="http://schemas.microsoft.com/office/drawing/2014/main" id="{2AE02B77-33C6-4593-8C90-633125C4A48B}"/>
              </a:ext>
            </a:extLst>
          </p:cNvPr>
          <p:cNvSpPr>
            <a:spLocks xmlns:a="http://schemas.openxmlformats.org/drawingml/2006/main" noGrp="1"/>
          </p:cNvSpPr>
          <p:nvPr/>
        </p:nvSpPr>
        <p:spPr>
          <a:xfrm xmlns:a="http://schemas.openxmlformats.org/drawingml/2006/main">
            <a:off x="7848600" y="21907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A9B5C5"/>
                </a:solidFill>
                <a:latin typeface="Arial"/>
                <a:ea typeface="Arial"/>
                <a:cs typeface="Arial"/>
              </a:defRPr>
            </a:pPr>
            <a:r>
              <a:rPr sz="900" b="1">
                <a:solidFill>
                  <a:srgbClr val="A9B5C5"/>
                </a:solidFill>
                <a:latin typeface="Arial"/>
                <a:ea typeface="Arial"/>
                <a:cs typeface="Arial"/>
              </a:rPr>
              <a:t>MECHANISM</a:t>
            </a:r>
          </a:p>
        </p:txBody>
      </p:sp>
      <p:sp>
        <p:nvSpPr>
          <p:cNvPr id="8" name="">
            <a:extLst xmlns:a="http://schemas.openxmlformats.org/drawingml/2006/main">
              <a:ext uri="{FF2B5EF4-FFF2-40B4-BE49-F238E27FC236}">
                <a16:creationId xmlns:a16="http://schemas.microsoft.com/office/drawing/2014/main" id="{6B24822D-9646-4D8C-92DC-5BBA7C839F00}"/>
              </a:ext>
            </a:extLst>
          </p:cNvPr>
          <p:cNvSpPr>
            <a:spLocks xmlns:a="http://schemas.openxmlformats.org/drawingml/2006/main" noGrp="1"/>
          </p:cNvSpPr>
          <p:nvPr/>
        </p:nvSpPr>
        <p:spPr>
          <a:xfrm xmlns:a="http://schemas.openxmlformats.org/drawingml/2006/main">
            <a:off x="9410700" y="2190750"/>
            <a:ext cx="1028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A9B5C5"/>
                </a:solidFill>
                <a:latin typeface="Arial"/>
                <a:ea typeface="Arial"/>
                <a:cs typeface="Arial"/>
              </a:defRPr>
            </a:pPr>
            <a:r>
              <a:rPr sz="900" b="1">
                <a:solidFill>
                  <a:srgbClr val="A9B5C5"/>
                </a:solidFill>
                <a:latin typeface="Arial"/>
                <a:ea typeface="Arial"/>
                <a:cs typeface="Arial"/>
              </a:rPr>
              <a:t>PROOF</a:t>
            </a:r>
          </a:p>
        </p:txBody>
      </p:sp>
      <p:sp>
        <p:nvSpPr>
          <p:cNvPr id="9" name="">
            <a:extLst xmlns:a="http://schemas.openxmlformats.org/drawingml/2006/main">
              <a:ext uri="{FF2B5EF4-FFF2-40B4-BE49-F238E27FC236}">
                <a16:creationId xmlns:a16="http://schemas.microsoft.com/office/drawing/2014/main" id="{573E17FE-E830-4FE2-82CD-529C2251B220}"/>
              </a:ext>
            </a:extLst>
          </p:cNvPr>
          <p:cNvSpPr>
            <a:spLocks xmlns:a="http://schemas.openxmlformats.org/drawingml/2006/main" noGrp="1"/>
          </p:cNvSpPr>
          <p:nvPr/>
        </p:nvSpPr>
        <p:spPr>
          <a:xfrm xmlns:a="http://schemas.openxmlformats.org/drawingml/2006/main">
            <a:off x="10534650" y="21907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A9B5C5"/>
                </a:solidFill>
                <a:latin typeface="Arial"/>
                <a:ea typeface="Arial"/>
                <a:cs typeface="Arial"/>
              </a:defRPr>
            </a:pPr>
            <a:r>
              <a:rPr sz="900" b="1">
                <a:solidFill>
                  <a:srgbClr val="A9B5C5"/>
                </a:solidFill>
                <a:latin typeface="Arial"/>
                <a:ea typeface="Arial"/>
                <a:cs typeface="Arial"/>
              </a:rPr>
              <a:t>ORIGIN-BOUND</a:t>
            </a:r>
          </a:p>
        </p:txBody>
      </p:sp>
      <p:sp>
        <p:nvSpPr>
          <p:cNvPr id="10" name="">
            <a:extLst xmlns:a="http://schemas.openxmlformats.org/drawingml/2006/main">
              <a:ext uri="{FF2B5EF4-FFF2-40B4-BE49-F238E27FC236}">
                <a16:creationId xmlns:a16="http://schemas.microsoft.com/office/drawing/2014/main" id="{40D5D763-34B0-4733-A34D-7D58E5D36F2E}"/>
              </a:ext>
            </a:extLst>
          </p:cNvPr>
          <p:cNvSpPr>
            <a:spLocks xmlns:a="http://schemas.openxmlformats.org/drawingml/2006/main" noGrp="1"/>
          </p:cNvSpPr>
          <p:nvPr/>
        </p:nvSpPr>
        <p:spPr>
          <a:xfrm xmlns:a="http://schemas.openxmlformats.org/drawingml/2006/main">
            <a:off x="7715250" y="2552700"/>
            <a:ext cx="3905250" cy="533400"/>
          </a:xfrm>
          <a:prstGeom xmlns:a="http://schemas.openxmlformats.org/drawingml/2006/main" prst="roundRect">
            <a:avLst>
              <a:gd name="adj" fmla="val 21429"/>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1" name="">
            <a:extLst xmlns:a="http://schemas.openxmlformats.org/drawingml/2006/main">
              <a:ext uri="{FF2B5EF4-FFF2-40B4-BE49-F238E27FC236}">
                <a16:creationId xmlns:a16="http://schemas.microsoft.com/office/drawing/2014/main" id="{5678F8AF-BC9E-405E-BB40-53B75E9AF4EB}"/>
              </a:ext>
            </a:extLst>
          </p:cNvPr>
          <p:cNvSpPr>
            <a:spLocks xmlns:a="http://schemas.openxmlformats.org/drawingml/2006/main" noGrp="1"/>
          </p:cNvSpPr>
          <p:nvPr/>
        </p:nvSpPr>
        <p:spPr>
          <a:xfrm xmlns:a="http://schemas.openxmlformats.org/drawingml/2006/main">
            <a:off x="7867650" y="2714625"/>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7A85"/>
                </a:solidFill>
                <a:latin typeface="Arial"/>
                <a:ea typeface="Arial"/>
                <a:cs typeface="Arial"/>
              </a:defRPr>
            </a:pPr>
            <a:r>
              <a:rPr sz="1125" b="1">
                <a:solidFill>
                  <a:srgbClr val="FF7A85"/>
                </a:solidFill>
                <a:latin typeface="Arial"/>
                <a:ea typeface="Arial"/>
                <a:cs typeface="Arial"/>
              </a:rPr>
              <a:t>PASSWORD</a:t>
            </a:r>
          </a:p>
        </p:txBody>
      </p:sp>
      <p:sp>
        <p:nvSpPr>
          <p:cNvPr id="12" name="">
            <a:extLst xmlns:a="http://schemas.openxmlformats.org/drawingml/2006/main">
              <a:ext uri="{FF2B5EF4-FFF2-40B4-BE49-F238E27FC236}">
                <a16:creationId xmlns:a16="http://schemas.microsoft.com/office/drawing/2014/main" id="{03E8468A-E49C-40FC-BEBF-4ED878D543EB}"/>
              </a:ext>
            </a:extLst>
          </p:cNvPr>
          <p:cNvSpPr>
            <a:spLocks xmlns:a="http://schemas.openxmlformats.org/drawingml/2006/main" noGrp="1"/>
          </p:cNvSpPr>
          <p:nvPr/>
        </p:nvSpPr>
        <p:spPr>
          <a:xfrm xmlns:a="http://schemas.openxmlformats.org/drawingml/2006/main">
            <a:off x="9353550" y="2714625"/>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Arial"/>
                <a:ea typeface="Arial"/>
                <a:cs typeface="Arial"/>
              </a:defRPr>
            </a:pPr>
            <a:r>
              <a:rPr sz="1125" b="1">
                <a:solidFill>
                  <a:srgbClr val="FFFFFF"/>
                </a:solidFill>
                <a:latin typeface="Arial"/>
                <a:ea typeface="Arial"/>
                <a:cs typeface="Arial"/>
              </a:rPr>
              <a:t>replayable</a:t>
            </a:r>
          </a:p>
        </p:txBody>
      </p:sp>
      <p:sp>
        <p:nvSpPr>
          <p:cNvPr id="13" name="">
            <a:extLst xmlns:a="http://schemas.openxmlformats.org/drawingml/2006/main">
              <a:ext uri="{FF2B5EF4-FFF2-40B4-BE49-F238E27FC236}">
                <a16:creationId xmlns:a16="http://schemas.microsoft.com/office/drawing/2014/main" id="{E2F8FCB8-1822-466E-B9BC-0B45E7796EF6}"/>
              </a:ext>
            </a:extLst>
          </p:cNvPr>
          <p:cNvSpPr>
            <a:spLocks xmlns:a="http://schemas.openxmlformats.org/drawingml/2006/main" noGrp="1"/>
          </p:cNvSpPr>
          <p:nvPr/>
        </p:nvSpPr>
        <p:spPr>
          <a:xfrm xmlns:a="http://schemas.openxmlformats.org/drawingml/2006/main">
            <a:off x="10687050" y="2647950"/>
            <a:ext cx="742950" cy="361950"/>
          </a:xfrm>
          <a:prstGeom xmlns:a="http://schemas.openxmlformats.org/drawingml/2006/main" prst="roundRect">
            <a:avLst>
              <a:gd name="adj" fmla="val 50000"/>
            </a:avLst>
          </a:prstGeom>
          <a:solidFill xmlns:a="http://schemas.openxmlformats.org/drawingml/2006/main">
            <a:srgbClr val="FF7A85"/>
          </a:solidFill>
          <a:ln xmlns:a="http://schemas.openxmlformats.org/drawingml/2006/main" w="0">
            <a:solidFill>
              <a:srgbClr val="FF7A85"/>
            </a:solidFill>
            <a:prstDash val="solid"/>
          </a:ln>
        </p:spPr>
        <p:txBody>
          <a:bodyPr xmlns:a="http://schemas.openxmlformats.org/drawingml/2006/main"/>
          <a:lstStyle xmlns:a="http://schemas.openxmlformats.org/drawingml/2006/main"/>
          <a:p xmlns:a="http://schemas.openxmlformats.org/drawingml/2006/main"/>
        </p:txBody>
      </p:sp>
      <p:sp>
        <p:nvSpPr>
          <p:cNvPr id="14" name="">
            <a:extLst xmlns:a="http://schemas.openxmlformats.org/drawingml/2006/main">
              <a:ext uri="{FF2B5EF4-FFF2-40B4-BE49-F238E27FC236}">
                <a16:creationId xmlns:a16="http://schemas.microsoft.com/office/drawing/2014/main" id="{23076163-2A78-4DBB-B11B-77D6A3EF62F7}"/>
              </a:ext>
            </a:extLst>
          </p:cNvPr>
          <p:cNvSpPr>
            <a:spLocks xmlns:a="http://schemas.openxmlformats.org/drawingml/2006/main" noGrp="1"/>
          </p:cNvSpPr>
          <p:nvPr/>
        </p:nvSpPr>
        <p:spPr>
          <a:xfrm xmlns:a="http://schemas.openxmlformats.org/drawingml/2006/main">
            <a:off x="10801350" y="27241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NO</a:t>
            </a:r>
          </a:p>
        </p:txBody>
      </p:sp>
      <p:sp>
        <p:nvSpPr>
          <p:cNvPr id="15" name="">
            <a:extLst xmlns:a="http://schemas.openxmlformats.org/drawingml/2006/main">
              <a:ext uri="{FF2B5EF4-FFF2-40B4-BE49-F238E27FC236}">
                <a16:creationId xmlns:a16="http://schemas.microsoft.com/office/drawing/2014/main" id="{F9419472-E410-40F4-88E3-C861DB525372}"/>
              </a:ext>
            </a:extLst>
          </p:cNvPr>
          <p:cNvSpPr>
            <a:spLocks xmlns:a="http://schemas.openxmlformats.org/drawingml/2006/main" noGrp="1"/>
          </p:cNvSpPr>
          <p:nvPr/>
        </p:nvSpPr>
        <p:spPr>
          <a:xfrm xmlns:a="http://schemas.openxmlformats.org/drawingml/2006/main">
            <a:off x="7715250" y="3248025"/>
            <a:ext cx="3905250" cy="533400"/>
          </a:xfrm>
          <a:prstGeom xmlns:a="http://schemas.openxmlformats.org/drawingml/2006/main" prst="roundRect">
            <a:avLst>
              <a:gd name="adj" fmla="val 21429"/>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6" name="">
            <a:extLst xmlns:a="http://schemas.openxmlformats.org/drawingml/2006/main">
              <a:ext uri="{FF2B5EF4-FFF2-40B4-BE49-F238E27FC236}">
                <a16:creationId xmlns:a16="http://schemas.microsoft.com/office/drawing/2014/main" id="{49DD93C2-610C-45BB-8465-28BABB9DE717}"/>
              </a:ext>
            </a:extLst>
          </p:cNvPr>
          <p:cNvSpPr>
            <a:spLocks xmlns:a="http://schemas.openxmlformats.org/drawingml/2006/main" noGrp="1"/>
          </p:cNvSpPr>
          <p:nvPr/>
        </p:nvSpPr>
        <p:spPr>
          <a:xfrm xmlns:a="http://schemas.openxmlformats.org/drawingml/2006/main">
            <a:off x="7867650" y="340995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4C866"/>
                </a:solidFill>
                <a:latin typeface="Arial"/>
                <a:ea typeface="Arial"/>
                <a:cs typeface="Arial"/>
              </a:defRPr>
            </a:pPr>
            <a:r>
              <a:rPr sz="1125" b="1">
                <a:solidFill>
                  <a:srgbClr val="F4C866"/>
                </a:solidFill>
                <a:latin typeface="Arial"/>
                <a:ea typeface="Arial"/>
                <a:cs typeface="Arial"/>
              </a:rPr>
              <a:t>TOTP</a:t>
            </a:r>
          </a:p>
        </p:txBody>
      </p:sp>
      <p:sp>
        <p:nvSpPr>
          <p:cNvPr id="17" name="">
            <a:extLst xmlns:a="http://schemas.openxmlformats.org/drawingml/2006/main">
              <a:ext uri="{FF2B5EF4-FFF2-40B4-BE49-F238E27FC236}">
                <a16:creationId xmlns:a16="http://schemas.microsoft.com/office/drawing/2014/main" id="{2C140FC9-64C2-4A4B-8F17-53D41A3F0789}"/>
              </a:ext>
            </a:extLst>
          </p:cNvPr>
          <p:cNvSpPr>
            <a:spLocks xmlns:a="http://schemas.openxmlformats.org/drawingml/2006/main" noGrp="1"/>
          </p:cNvSpPr>
          <p:nvPr/>
        </p:nvSpPr>
        <p:spPr>
          <a:xfrm xmlns:a="http://schemas.openxmlformats.org/drawingml/2006/main">
            <a:off x="9353550" y="3409950"/>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Arial"/>
                <a:ea typeface="Arial"/>
                <a:cs typeface="Arial"/>
              </a:defRPr>
            </a:pPr>
            <a:r>
              <a:rPr sz="1125" b="1">
                <a:solidFill>
                  <a:srgbClr val="FFFFFF"/>
                </a:solidFill>
                <a:latin typeface="Arial"/>
                <a:ea typeface="Arial"/>
                <a:cs typeface="Arial"/>
              </a:rPr>
              <a:t>short-lived</a:t>
            </a:r>
          </a:p>
        </p:txBody>
      </p:sp>
      <p:sp>
        <p:nvSpPr>
          <p:cNvPr id="18" name="">
            <a:extLst xmlns:a="http://schemas.openxmlformats.org/drawingml/2006/main">
              <a:ext uri="{FF2B5EF4-FFF2-40B4-BE49-F238E27FC236}">
                <a16:creationId xmlns:a16="http://schemas.microsoft.com/office/drawing/2014/main" id="{973B269D-931B-4DB4-845A-E118691DFEE1}"/>
              </a:ext>
            </a:extLst>
          </p:cNvPr>
          <p:cNvSpPr>
            <a:spLocks xmlns:a="http://schemas.openxmlformats.org/drawingml/2006/main" noGrp="1"/>
          </p:cNvSpPr>
          <p:nvPr/>
        </p:nvSpPr>
        <p:spPr>
          <a:xfrm xmlns:a="http://schemas.openxmlformats.org/drawingml/2006/main">
            <a:off x="10687050" y="3343275"/>
            <a:ext cx="742950" cy="361950"/>
          </a:xfrm>
          <a:prstGeom xmlns:a="http://schemas.openxmlformats.org/drawingml/2006/main" prst="roundRect">
            <a:avLst>
              <a:gd name="adj" fmla="val 50000"/>
            </a:avLst>
          </a:prstGeom>
          <a:solidFill xmlns:a="http://schemas.openxmlformats.org/drawingml/2006/main">
            <a:srgbClr val="F4C866"/>
          </a:solidFill>
          <a:ln xmlns:a="http://schemas.openxmlformats.org/drawingml/2006/main" w="0">
            <a:solidFill>
              <a:srgbClr val="F4C866"/>
            </a:solidFill>
            <a:prstDash val="solid"/>
          </a:ln>
        </p:spPr>
        <p:txBody>
          <a:bodyPr xmlns:a="http://schemas.openxmlformats.org/drawingml/2006/main"/>
          <a:lstStyle xmlns:a="http://schemas.openxmlformats.org/drawingml/2006/main"/>
          <a:p xmlns:a="http://schemas.openxmlformats.org/drawingml/2006/main"/>
        </p:txBody>
      </p:sp>
      <p:sp>
        <p:nvSpPr>
          <p:cNvPr id="19" name="">
            <a:extLst xmlns:a="http://schemas.openxmlformats.org/drawingml/2006/main">
              <a:ext uri="{FF2B5EF4-FFF2-40B4-BE49-F238E27FC236}">
                <a16:creationId xmlns:a16="http://schemas.microsoft.com/office/drawing/2014/main" id="{1FC1E979-8543-457A-A6FB-377826B1D435}"/>
              </a:ext>
            </a:extLst>
          </p:cNvPr>
          <p:cNvSpPr>
            <a:spLocks xmlns:a="http://schemas.openxmlformats.org/drawingml/2006/main" noGrp="1"/>
          </p:cNvSpPr>
          <p:nvPr/>
        </p:nvSpPr>
        <p:spPr>
          <a:xfrm xmlns:a="http://schemas.openxmlformats.org/drawingml/2006/main">
            <a:off x="10801350" y="3419475"/>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NO</a:t>
            </a:r>
          </a:p>
        </p:txBody>
      </p:sp>
      <p:sp>
        <p:nvSpPr>
          <p:cNvPr id="20" name="">
            <a:extLst xmlns:a="http://schemas.openxmlformats.org/drawingml/2006/main">
              <a:ext uri="{FF2B5EF4-FFF2-40B4-BE49-F238E27FC236}">
                <a16:creationId xmlns:a16="http://schemas.microsoft.com/office/drawing/2014/main" id="{8722B984-4101-4F70-8C63-8E536D7A8268}"/>
              </a:ext>
            </a:extLst>
          </p:cNvPr>
          <p:cNvSpPr>
            <a:spLocks xmlns:a="http://schemas.openxmlformats.org/drawingml/2006/main" noGrp="1"/>
          </p:cNvSpPr>
          <p:nvPr/>
        </p:nvSpPr>
        <p:spPr>
          <a:xfrm xmlns:a="http://schemas.openxmlformats.org/drawingml/2006/main">
            <a:off x="7715250" y="3943350"/>
            <a:ext cx="3905250" cy="533400"/>
          </a:xfrm>
          <a:prstGeom xmlns:a="http://schemas.openxmlformats.org/drawingml/2006/main" prst="roundRect">
            <a:avLst>
              <a:gd name="adj" fmla="val 21429"/>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21" name="">
            <a:extLst xmlns:a="http://schemas.openxmlformats.org/drawingml/2006/main">
              <a:ext uri="{FF2B5EF4-FFF2-40B4-BE49-F238E27FC236}">
                <a16:creationId xmlns:a16="http://schemas.microsoft.com/office/drawing/2014/main" id="{8D099D9A-4199-4660-B372-74B7856BFA33}"/>
              </a:ext>
            </a:extLst>
          </p:cNvPr>
          <p:cNvSpPr>
            <a:spLocks xmlns:a="http://schemas.openxmlformats.org/drawingml/2006/main" noGrp="1"/>
          </p:cNvSpPr>
          <p:nvPr/>
        </p:nvSpPr>
        <p:spPr>
          <a:xfrm xmlns:a="http://schemas.openxmlformats.org/drawingml/2006/main">
            <a:off x="7867650" y="4105275"/>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48D2C2"/>
                </a:solidFill>
                <a:latin typeface="Arial"/>
                <a:ea typeface="Arial"/>
                <a:cs typeface="Arial"/>
              </a:defRPr>
            </a:pPr>
            <a:r>
              <a:rPr sz="1125" b="1">
                <a:solidFill>
                  <a:srgbClr val="48D2C2"/>
                </a:solidFill>
                <a:latin typeface="Arial"/>
                <a:ea typeface="Arial"/>
                <a:cs typeface="Arial"/>
              </a:rPr>
              <a:t>PASSKEY</a:t>
            </a:r>
          </a:p>
        </p:txBody>
      </p:sp>
      <p:sp>
        <p:nvSpPr>
          <p:cNvPr id="22" name="">
            <a:extLst xmlns:a="http://schemas.openxmlformats.org/drawingml/2006/main">
              <a:ext uri="{FF2B5EF4-FFF2-40B4-BE49-F238E27FC236}">
                <a16:creationId xmlns:a16="http://schemas.microsoft.com/office/drawing/2014/main" id="{C99818DE-6EEE-4536-946A-F5306773E920}"/>
              </a:ext>
            </a:extLst>
          </p:cNvPr>
          <p:cNvSpPr>
            <a:spLocks xmlns:a="http://schemas.openxmlformats.org/drawingml/2006/main" noGrp="1"/>
          </p:cNvSpPr>
          <p:nvPr/>
        </p:nvSpPr>
        <p:spPr>
          <a:xfrm xmlns:a="http://schemas.openxmlformats.org/drawingml/2006/main">
            <a:off x="9353550" y="4105275"/>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Arial"/>
                <a:ea typeface="Arial"/>
                <a:cs typeface="Arial"/>
              </a:defRPr>
            </a:pPr>
            <a:r>
              <a:rPr sz="1125" b="1">
                <a:solidFill>
                  <a:srgbClr val="FFFFFF"/>
                </a:solidFill>
                <a:latin typeface="Arial"/>
                <a:ea typeface="Arial"/>
                <a:cs typeface="Arial"/>
              </a:rPr>
              <a:t>signed challenge</a:t>
            </a:r>
          </a:p>
        </p:txBody>
      </p:sp>
      <p:sp>
        <p:nvSpPr>
          <p:cNvPr id="23" name="">
            <a:extLst xmlns:a="http://schemas.openxmlformats.org/drawingml/2006/main">
              <a:ext uri="{FF2B5EF4-FFF2-40B4-BE49-F238E27FC236}">
                <a16:creationId xmlns:a16="http://schemas.microsoft.com/office/drawing/2014/main" id="{8B3E5DC7-BEB6-4D5C-AB1F-55B2155CFD67}"/>
              </a:ext>
            </a:extLst>
          </p:cNvPr>
          <p:cNvSpPr>
            <a:spLocks xmlns:a="http://schemas.openxmlformats.org/drawingml/2006/main" noGrp="1"/>
          </p:cNvSpPr>
          <p:nvPr/>
        </p:nvSpPr>
        <p:spPr>
          <a:xfrm xmlns:a="http://schemas.openxmlformats.org/drawingml/2006/main">
            <a:off x="10687050" y="4038600"/>
            <a:ext cx="742950" cy="361950"/>
          </a:xfrm>
          <a:prstGeom xmlns:a="http://schemas.openxmlformats.org/drawingml/2006/main" prst="roundRect">
            <a:avLst>
              <a:gd name="adj" fmla="val 50000"/>
            </a:avLst>
          </a:prstGeom>
          <a:solidFill xmlns:a="http://schemas.openxmlformats.org/drawingml/2006/main">
            <a:srgbClr val="48D2C2"/>
          </a:solidFill>
          <a:ln xmlns:a="http://schemas.openxmlformats.org/drawingml/2006/main" w="0">
            <a:solidFill>
              <a:srgbClr val="48D2C2"/>
            </a:solidFill>
            <a:prstDash val="solid"/>
          </a:ln>
        </p:spPr>
        <p:txBody>
          <a:bodyPr xmlns:a="http://schemas.openxmlformats.org/drawingml/2006/main"/>
          <a:lstStyle xmlns:a="http://schemas.openxmlformats.org/drawingml/2006/main"/>
          <a:p xmlns:a="http://schemas.openxmlformats.org/drawingml/2006/main"/>
        </p:txBody>
      </p:sp>
      <p:sp>
        <p:nvSpPr>
          <p:cNvPr id="24" name="">
            <a:extLst xmlns:a="http://schemas.openxmlformats.org/drawingml/2006/main">
              <a:ext uri="{FF2B5EF4-FFF2-40B4-BE49-F238E27FC236}">
                <a16:creationId xmlns:a16="http://schemas.microsoft.com/office/drawing/2014/main" id="{FC47FFBA-3411-4ABC-B4BA-9737D8F9DE5B}"/>
              </a:ext>
            </a:extLst>
          </p:cNvPr>
          <p:cNvSpPr>
            <a:spLocks xmlns:a="http://schemas.openxmlformats.org/drawingml/2006/main" noGrp="1"/>
          </p:cNvSpPr>
          <p:nvPr/>
        </p:nvSpPr>
        <p:spPr>
          <a:xfrm xmlns:a="http://schemas.openxmlformats.org/drawingml/2006/main">
            <a:off x="10801350" y="4114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YES</a:t>
            </a:r>
          </a:p>
        </p:txBody>
      </p:sp>
      <p:sp>
        <p:nvSpPr>
          <p:cNvPr id="25" name="">
            <a:extLst xmlns:a="http://schemas.openxmlformats.org/drawingml/2006/main">
              <a:ext uri="{FF2B5EF4-FFF2-40B4-BE49-F238E27FC236}">
                <a16:creationId xmlns:a16="http://schemas.microsoft.com/office/drawing/2014/main" id="{1049E327-B29D-4664-8E82-C9D0D8D07AFC}"/>
              </a:ext>
            </a:extLst>
          </p:cNvPr>
          <p:cNvSpPr>
            <a:spLocks xmlns:a="http://schemas.openxmlformats.org/drawingml/2006/main" noGrp="1"/>
          </p:cNvSpPr>
          <p:nvPr/>
        </p:nvSpPr>
        <p:spPr>
          <a:xfrm xmlns:a="http://schemas.openxmlformats.org/drawingml/2006/main">
            <a:off x="7734300" y="48958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4C866"/>
                </a:solidFill>
                <a:latin typeface="Arial"/>
                <a:ea typeface="Arial"/>
                <a:cs typeface="Arial"/>
              </a:defRPr>
            </a:pPr>
            <a:r>
              <a:rPr sz="1125" b="1">
                <a:solidFill>
                  <a:srgbClr val="F4C866"/>
                </a:solidFill>
                <a:latin typeface="Arial"/>
                <a:ea typeface="Arial"/>
                <a:cs typeface="Arial"/>
              </a:rPr>
              <a:t>Residual risk remains</a:t>
            </a:r>
          </a:p>
        </p:txBody>
      </p:sp>
      <p:sp>
        <p:nvSpPr>
          <p:cNvPr id="26" name="">
            <a:extLst xmlns:a="http://schemas.openxmlformats.org/drawingml/2006/main">
              <a:ext uri="{FF2B5EF4-FFF2-40B4-BE49-F238E27FC236}">
                <a16:creationId xmlns:a16="http://schemas.microsoft.com/office/drawing/2014/main" id="{55A2837A-55C4-4377-B40F-8AE48A3B5096}"/>
              </a:ext>
            </a:extLst>
          </p:cNvPr>
          <p:cNvSpPr>
            <a:spLocks xmlns:a="http://schemas.openxmlformats.org/drawingml/2006/main" noGrp="1"/>
          </p:cNvSpPr>
          <p:nvPr/>
        </p:nvSpPr>
        <p:spPr>
          <a:xfrm xmlns:a="http://schemas.openxmlformats.org/drawingml/2006/main">
            <a:off x="7734300" y="5238750"/>
            <a:ext cx="3790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Device compromise · recovery · server design · excessive authorisation</a:t>
            </a:r>
          </a:p>
        </p:txBody>
      </p:sp>
      <p:sp>
        <p:nvSpPr>
          <p:cNvPr id="27" name="">
            <a:extLst xmlns:a="http://schemas.openxmlformats.org/drawingml/2006/main">
              <a:ext uri="{FF2B5EF4-FFF2-40B4-BE49-F238E27FC236}">
                <a16:creationId xmlns:a16="http://schemas.microsoft.com/office/drawing/2014/main" id="{64998F60-F4D3-4EBB-91F7-7374E5054979}"/>
              </a:ext>
            </a:extLst>
          </p:cNvPr>
          <p:cNvSpPr>
            <a:spLocks xmlns:a="http://schemas.openxmlformats.org/drawingml/2006/main" noGrp="1"/>
          </p:cNvSpPr>
          <p:nvPr/>
        </p:nvSpPr>
        <p:spPr>
          <a:xfrm xmlns:a="http://schemas.openxmlformats.org/drawingml/2006/main">
            <a:off x="514350" y="6524625"/>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0">
                <a:solidFill>
                  <a:srgbClr val="A9B5C5"/>
                </a:solidFill>
                <a:latin typeface="Arial"/>
                <a:ea typeface="Arial"/>
                <a:cs typeface="Arial"/>
              </a:defRPr>
            </a:pPr>
            <a:r>
              <a:rPr sz="750" b="0">
                <a:solidFill>
                  <a:srgbClr val="A9B5C5"/>
                </a:solidFill>
                <a:latin typeface="Arial"/>
                <a:ea typeface="Arial"/>
                <a:cs typeface="Arial"/>
              </a:rPr>
              <a:t>Sources: W3C WebAuthn Level 3 CR Snapshot (26 May 2026); FIDO; NIST.</a:t>
            </a:r>
          </a:p>
        </p:txBody>
      </p:sp>
    </p:spTree>
    <p:extLst>
      <p:ext uri="{BB962C8B-B14F-4D97-AF65-F5344CB8AC3E}">
        <p14:creationId xmlns:p14="http://schemas.microsoft.com/office/powerpoint/2010/main" val="1340511939"/>
      </p:ext>
    </p:extLst>
  </p:cSld>
</p:sld>
</file>

<file path=ppt/slides/slide7.xml><?xml version="1.0" encoding="utf-8"?>
<p:sld xmlns:p="http://schemas.openxmlformats.org/presentationml/2006/main">
  <p:cSld>
    <p:bg>
      <p:bgPr>
        <a:solidFill xmlns:a="http://schemas.openxmlformats.org/drawingml/2006/main">
          <a:srgbClr val="07111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E2E27B8-F4D4-4C98-B752-8A3D44F06839}"/>
              </a:ext>
            </a:extLst>
          </p:cNvPr>
          <p:cNvSpPr>
            <a:spLocks xmlns:a="http://schemas.openxmlformats.org/drawingml/2006/main" noGrp="1"/>
          </p:cNvSpPr>
          <p:nvPr/>
        </p:nvSpPr>
        <p:spPr>
          <a:xfrm xmlns:a="http://schemas.openxmlformats.org/drawingml/2006/main">
            <a:off x="514350" y="2857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48D2C2"/>
                </a:solidFill>
                <a:latin typeface="Arial"/>
                <a:ea typeface="Arial"/>
                <a:cs typeface="Arial"/>
              </a:defRPr>
            </a:pPr>
            <a:r>
              <a:rPr sz="975" b="1">
                <a:solidFill>
                  <a:srgbClr val="48D2C2"/>
                </a:solidFill>
                <a:latin typeface="Arial"/>
                <a:ea typeface="Arial"/>
                <a:cs typeface="Arial"/>
              </a:rPr>
              <a:t>AUTHLAB  /  EVIDENCE</a:t>
            </a:r>
          </a:p>
        </p:txBody>
      </p:sp>
      <p:sp>
        <p:nvSpPr>
          <p:cNvPr id="2" name="">
            <a:extLst xmlns:a="http://schemas.openxmlformats.org/drawingml/2006/main">
              <a:ext uri="{FF2B5EF4-FFF2-40B4-BE49-F238E27FC236}">
                <a16:creationId xmlns:a16="http://schemas.microsoft.com/office/drawing/2014/main" id="{10F2AF02-B904-4720-8515-F3535ECE0670}"/>
              </a:ext>
            </a:extLst>
          </p:cNvPr>
          <p:cNvSpPr>
            <a:spLocks xmlns:a="http://schemas.openxmlformats.org/drawingml/2006/main" noGrp="1"/>
          </p:cNvSpPr>
          <p:nvPr/>
        </p:nvSpPr>
        <p:spPr>
          <a:xfrm xmlns:a="http://schemas.openxmlformats.org/drawingml/2006/main">
            <a:off x="11334750" y="295275"/>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A9B5C5"/>
                </a:solidFill>
                <a:latin typeface="Arial"/>
                <a:ea typeface="Arial"/>
                <a:cs typeface="Arial"/>
              </a:defRPr>
            </a:pPr>
            <a:r>
              <a:rPr sz="975" b="1">
                <a:solidFill>
                  <a:srgbClr val="A9B5C5"/>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14DB37B5-206F-4A88-9F5B-C332E7ACFC75}"/>
              </a:ext>
            </a:extLst>
          </p:cNvPr>
          <p:cNvSpPr>
            <a:spLocks xmlns:a="http://schemas.openxmlformats.org/drawingml/2006/main" noGrp="1"/>
          </p:cNvSpPr>
          <p:nvPr/>
        </p:nvSpPr>
        <p:spPr>
          <a:xfrm xmlns:a="http://schemas.openxmlformats.org/drawingml/2006/main">
            <a:off x="514350" y="590550"/>
            <a:ext cx="11182350" cy="19050"/>
          </a:xfrm>
          <a:prstGeom xmlns:a="http://schemas.openxmlformats.org/drawingml/2006/main" prst="rect">
            <a:avLst/>
          </a:prstGeom>
          <a:solidFill xmlns:a="http://schemas.openxmlformats.org/drawingml/2006/main">
            <a:srgbClr val="263B58"/>
          </a:solidFill>
          <a:ln xmlns:a="http://schemas.openxmlformats.org/drawingml/2006/main" w="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7755CFEE-A697-400A-A75C-B9A828199EB2}"/>
              </a:ext>
            </a:extLst>
          </p:cNvPr>
          <p:cNvSpPr>
            <a:spLocks xmlns:a="http://schemas.openxmlformats.org/drawingml/2006/main" noGrp="1"/>
          </p:cNvSpPr>
          <p:nvPr/>
        </p:nvSpPr>
        <p:spPr>
          <a:xfrm xmlns:a="http://schemas.openxmlformats.org/drawingml/2006/main">
            <a:off x="514350" y="800100"/>
            <a:ext cx="11049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FFFFFF"/>
                </a:solidFill>
                <a:latin typeface="Arial"/>
                <a:ea typeface="Arial"/>
                <a:cs typeface="Arial"/>
              </a:defRPr>
            </a:pPr>
            <a:r>
              <a:rPr sz="3150" b="1">
                <a:solidFill>
                  <a:srgbClr val="FFFFFF"/>
                </a:solidFill>
                <a:latin typeface="Arial"/>
                <a:ea typeface="Arial"/>
                <a:cs typeface="Arial"/>
              </a:rPr>
              <a:t>The engineering works; learning is still unmeasured</a:t>
            </a:r>
          </a:p>
        </p:txBody>
      </p:sp>
      <p:sp>
        <p:nvSpPr>
          <p:cNvPr id="5" name="">
            <a:extLst xmlns:a="http://schemas.openxmlformats.org/drawingml/2006/main">
              <a:ext uri="{FF2B5EF4-FFF2-40B4-BE49-F238E27FC236}">
                <a16:creationId xmlns:a16="http://schemas.microsoft.com/office/drawing/2014/main" id="{43275EE1-0921-4B3D-B84C-B08361BAA9F9}"/>
              </a:ext>
            </a:extLst>
          </p:cNvPr>
          <p:cNvSpPr>
            <a:spLocks xmlns:a="http://schemas.openxmlformats.org/drawingml/2006/main" noGrp="1"/>
          </p:cNvSpPr>
          <p:nvPr/>
        </p:nvSpPr>
        <p:spPr>
          <a:xfrm xmlns:a="http://schemas.openxmlformats.org/drawingml/2006/main">
            <a:off x="533400" y="1485900"/>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A9B5C5"/>
                </a:solidFill>
                <a:latin typeface="Arial"/>
                <a:ea typeface="Arial"/>
                <a:cs typeface="Arial"/>
              </a:defRPr>
            </a:pPr>
            <a:r>
              <a:rPr sz="1425" b="0">
                <a:solidFill>
                  <a:srgbClr val="A9B5C5"/>
                </a:solidFill>
                <a:latin typeface="Arial"/>
                <a:ea typeface="Arial"/>
                <a:cs typeface="Arial"/>
              </a:rPr>
              <a:t>Technical checks and human learning evidence are kept separate.</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9ab96a321eaa431e"/>
          <a:srcRect xmlns:a="http://schemas.openxmlformats.org/drawingml/2006/main" l="16" t="0" r="16" b="0"/>
          <a:stretch xmlns:a="http://schemas.openxmlformats.org/drawingml/2006/main">
            <a:fillRect l="0" t="0" r="0" b="0"/>
          </a:stretch>
        </p:blipFill>
        <p:spPr>
          <a:xfrm xmlns:a="http://schemas.openxmlformats.org/drawingml/2006/main" flipH="0" flipV="0">
            <a:off x="514350" y="2095500"/>
            <a:ext cx="6534150" cy="3676650"/>
          </a:xfrm>
          <a:prstGeom xmlns:a="http://schemas.openxmlformats.org/drawingml/2006/main" prst="roundRect">
            <a:avLst/>
          </a:prstGeom>
        </p:spPr>
      </p:pic>
      <p:sp>
        <p:nvSpPr>
          <p:cNvPr id="7" name="">
            <a:extLst xmlns:a="http://schemas.openxmlformats.org/drawingml/2006/main">
              <a:ext uri="{FF2B5EF4-FFF2-40B4-BE49-F238E27FC236}">
                <a16:creationId xmlns:a16="http://schemas.microsoft.com/office/drawing/2014/main" id="{E33571D4-5E14-4645-A123-DEB8DCEE6111}"/>
              </a:ext>
            </a:extLst>
          </p:cNvPr>
          <p:cNvSpPr>
            <a:spLocks xmlns:a="http://schemas.openxmlformats.org/drawingml/2006/main" noGrp="1"/>
          </p:cNvSpPr>
          <p:nvPr/>
        </p:nvSpPr>
        <p:spPr>
          <a:xfrm xmlns:a="http://schemas.openxmlformats.org/drawingml/2006/main">
            <a:off x="7429500" y="2095500"/>
            <a:ext cx="4171950" cy="838200"/>
          </a:xfrm>
          <a:prstGeom xmlns:a="http://schemas.openxmlformats.org/drawingml/2006/main" prst="roundRect">
            <a:avLst>
              <a:gd name="adj" fmla="val 13636"/>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8" name="">
            <a:extLst xmlns:a="http://schemas.openxmlformats.org/drawingml/2006/main">
              <a:ext uri="{FF2B5EF4-FFF2-40B4-BE49-F238E27FC236}">
                <a16:creationId xmlns:a16="http://schemas.microsoft.com/office/drawing/2014/main" id="{4570A921-4561-4825-9737-3B734F2BB457}"/>
              </a:ext>
            </a:extLst>
          </p:cNvPr>
          <p:cNvSpPr>
            <a:spLocks xmlns:a="http://schemas.openxmlformats.org/drawingml/2006/main" noGrp="1"/>
          </p:cNvSpPr>
          <p:nvPr/>
        </p:nvSpPr>
        <p:spPr>
          <a:xfrm xmlns:a="http://schemas.openxmlformats.org/drawingml/2006/main">
            <a:off x="7639050" y="22383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A9B5C5"/>
                </a:solidFill>
                <a:latin typeface="Arial"/>
                <a:ea typeface="Arial"/>
                <a:cs typeface="Arial"/>
              </a:defRPr>
            </a:pPr>
            <a:r>
              <a:rPr sz="900" b="1">
                <a:solidFill>
                  <a:srgbClr val="A9B5C5"/>
                </a:solidFill>
                <a:latin typeface="Arial"/>
                <a:ea typeface="Arial"/>
                <a:cs typeface="Arial"/>
              </a:rPr>
              <a:t>TESTS</a:t>
            </a:r>
          </a:p>
        </p:txBody>
      </p:sp>
      <p:sp>
        <p:nvSpPr>
          <p:cNvPr id="9" name="">
            <a:extLst xmlns:a="http://schemas.openxmlformats.org/drawingml/2006/main">
              <a:ext uri="{FF2B5EF4-FFF2-40B4-BE49-F238E27FC236}">
                <a16:creationId xmlns:a16="http://schemas.microsoft.com/office/drawing/2014/main" id="{6B7A3B9B-BBA8-4C04-AB7D-147560BE4035}"/>
              </a:ext>
            </a:extLst>
          </p:cNvPr>
          <p:cNvSpPr>
            <a:spLocks xmlns:a="http://schemas.openxmlformats.org/drawingml/2006/main" noGrp="1"/>
          </p:cNvSpPr>
          <p:nvPr/>
        </p:nvSpPr>
        <p:spPr>
          <a:xfrm xmlns:a="http://schemas.openxmlformats.org/drawingml/2006/main">
            <a:off x="7639050" y="2457450"/>
            <a:ext cx="819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75D6A3"/>
                </a:solidFill>
                <a:latin typeface="Arial"/>
                <a:ea typeface="Arial"/>
                <a:cs typeface="Arial"/>
              </a:defRPr>
            </a:pPr>
            <a:r>
              <a:rPr sz="1875" b="1">
                <a:solidFill>
                  <a:srgbClr val="75D6A3"/>
                </a:solidFill>
                <a:latin typeface="Arial"/>
                <a:ea typeface="Arial"/>
                <a:cs typeface="Arial"/>
              </a:rPr>
              <a:t>PASS</a:t>
            </a:r>
          </a:p>
        </p:txBody>
      </p:sp>
      <p:sp>
        <p:nvSpPr>
          <p:cNvPr id="10" name="">
            <a:extLst xmlns:a="http://schemas.openxmlformats.org/drawingml/2006/main">
              <a:ext uri="{FF2B5EF4-FFF2-40B4-BE49-F238E27FC236}">
                <a16:creationId xmlns:a16="http://schemas.microsoft.com/office/drawing/2014/main" id="{47A2391B-FA61-4023-98FD-D4C31454ECCB}"/>
              </a:ext>
            </a:extLst>
          </p:cNvPr>
          <p:cNvSpPr>
            <a:spLocks xmlns:a="http://schemas.openxmlformats.org/drawingml/2006/main" noGrp="1"/>
          </p:cNvSpPr>
          <p:nvPr/>
        </p:nvSpPr>
        <p:spPr>
          <a:xfrm xmlns:a="http://schemas.openxmlformats.org/drawingml/2006/main">
            <a:off x="8591550" y="2343150"/>
            <a:ext cx="2724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Final source and build checks</a:t>
            </a:r>
          </a:p>
        </p:txBody>
      </p:sp>
      <p:sp>
        <p:nvSpPr>
          <p:cNvPr id="11" name="">
            <a:extLst xmlns:a="http://schemas.openxmlformats.org/drawingml/2006/main">
              <a:ext uri="{FF2B5EF4-FFF2-40B4-BE49-F238E27FC236}">
                <a16:creationId xmlns:a16="http://schemas.microsoft.com/office/drawing/2014/main" id="{E3D8BE95-D046-43C8-8776-5DFBA34C41DC}"/>
              </a:ext>
            </a:extLst>
          </p:cNvPr>
          <p:cNvSpPr>
            <a:spLocks xmlns:a="http://schemas.openxmlformats.org/drawingml/2006/main" noGrp="1"/>
          </p:cNvSpPr>
          <p:nvPr/>
        </p:nvSpPr>
        <p:spPr>
          <a:xfrm xmlns:a="http://schemas.openxmlformats.org/drawingml/2006/main">
            <a:off x="7429500" y="3162300"/>
            <a:ext cx="4171950" cy="838200"/>
          </a:xfrm>
          <a:prstGeom xmlns:a="http://schemas.openxmlformats.org/drawingml/2006/main" prst="roundRect">
            <a:avLst>
              <a:gd name="adj" fmla="val 13636"/>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2" name="">
            <a:extLst xmlns:a="http://schemas.openxmlformats.org/drawingml/2006/main">
              <a:ext uri="{FF2B5EF4-FFF2-40B4-BE49-F238E27FC236}">
                <a16:creationId xmlns:a16="http://schemas.microsoft.com/office/drawing/2014/main" id="{7404B0F4-07F4-48AC-A059-B7DBCD1EBBCF}"/>
              </a:ext>
            </a:extLst>
          </p:cNvPr>
          <p:cNvSpPr>
            <a:spLocks xmlns:a="http://schemas.openxmlformats.org/drawingml/2006/main" noGrp="1"/>
          </p:cNvSpPr>
          <p:nvPr/>
        </p:nvSpPr>
        <p:spPr>
          <a:xfrm xmlns:a="http://schemas.openxmlformats.org/drawingml/2006/main">
            <a:off x="7639050" y="33051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A9B5C5"/>
                </a:solidFill>
                <a:latin typeface="Arial"/>
                <a:ea typeface="Arial"/>
                <a:cs typeface="Arial"/>
              </a:defRPr>
            </a:pPr>
            <a:r>
              <a:rPr sz="900" b="1">
                <a:solidFill>
                  <a:srgbClr val="A9B5C5"/>
                </a:solidFill>
                <a:latin typeface="Arial"/>
                <a:ea typeface="Arial"/>
                <a:cs typeface="Arial"/>
              </a:rPr>
              <a:t>PATH</a:t>
            </a:r>
          </a:p>
        </p:txBody>
      </p:sp>
      <p:sp>
        <p:nvSpPr>
          <p:cNvPr id="13" name="">
            <a:extLst xmlns:a="http://schemas.openxmlformats.org/drawingml/2006/main">
              <a:ext uri="{FF2B5EF4-FFF2-40B4-BE49-F238E27FC236}">
                <a16:creationId xmlns:a16="http://schemas.microsoft.com/office/drawing/2014/main" id="{CCC1AE76-3CC3-4CCE-A9F5-BD4A206093FF}"/>
              </a:ext>
            </a:extLst>
          </p:cNvPr>
          <p:cNvSpPr>
            <a:spLocks xmlns:a="http://schemas.openxmlformats.org/drawingml/2006/main" noGrp="1"/>
          </p:cNvSpPr>
          <p:nvPr/>
        </p:nvSpPr>
        <p:spPr>
          <a:xfrm xmlns:a="http://schemas.openxmlformats.org/drawingml/2006/main">
            <a:off x="7639050" y="3524250"/>
            <a:ext cx="819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75D6A3"/>
                </a:solidFill>
                <a:latin typeface="Arial"/>
                <a:ea typeface="Arial"/>
                <a:cs typeface="Arial"/>
              </a:defRPr>
            </a:pPr>
            <a:r>
              <a:rPr sz="1875" b="1">
                <a:solidFill>
                  <a:srgbClr val="75D6A3"/>
                </a:solidFill>
                <a:latin typeface="Arial"/>
                <a:ea typeface="Arial"/>
                <a:cs typeface="Arial"/>
              </a:rPr>
              <a:t>6→5</a:t>
            </a:r>
          </a:p>
        </p:txBody>
      </p:sp>
      <p:sp>
        <p:nvSpPr>
          <p:cNvPr id="14" name="">
            <a:extLst xmlns:a="http://schemas.openxmlformats.org/drawingml/2006/main">
              <a:ext uri="{FF2B5EF4-FFF2-40B4-BE49-F238E27FC236}">
                <a16:creationId xmlns:a16="http://schemas.microsoft.com/office/drawing/2014/main" id="{9B07D2FF-07A2-491C-9062-1E829250A566}"/>
              </a:ext>
            </a:extLst>
          </p:cNvPr>
          <p:cNvSpPr>
            <a:spLocks xmlns:a="http://schemas.openxmlformats.org/drawingml/2006/main" noGrp="1"/>
          </p:cNvSpPr>
          <p:nvPr/>
        </p:nvSpPr>
        <p:spPr>
          <a:xfrm xmlns:a="http://schemas.openxmlformats.org/drawingml/2006/main">
            <a:off x="8591550" y="3409950"/>
            <a:ext cx="2724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Deliberate developer path</a:t>
            </a:r>
          </a:p>
        </p:txBody>
      </p:sp>
      <p:sp>
        <p:nvSpPr>
          <p:cNvPr id="15" name="">
            <a:extLst xmlns:a="http://schemas.openxmlformats.org/drawingml/2006/main">
              <a:ext uri="{FF2B5EF4-FFF2-40B4-BE49-F238E27FC236}">
                <a16:creationId xmlns:a16="http://schemas.microsoft.com/office/drawing/2014/main" id="{C56F0112-6712-463A-9B11-ABD9E9074E19}"/>
              </a:ext>
            </a:extLst>
          </p:cNvPr>
          <p:cNvSpPr>
            <a:spLocks xmlns:a="http://schemas.openxmlformats.org/drawingml/2006/main" noGrp="1"/>
          </p:cNvSpPr>
          <p:nvPr/>
        </p:nvSpPr>
        <p:spPr>
          <a:xfrm xmlns:a="http://schemas.openxmlformats.org/drawingml/2006/main">
            <a:off x="7429500" y="4229100"/>
            <a:ext cx="4171950" cy="838200"/>
          </a:xfrm>
          <a:prstGeom xmlns:a="http://schemas.openxmlformats.org/drawingml/2006/main" prst="roundRect">
            <a:avLst>
              <a:gd name="adj" fmla="val 13636"/>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6" name="">
            <a:extLst xmlns:a="http://schemas.openxmlformats.org/drawingml/2006/main">
              <a:ext uri="{FF2B5EF4-FFF2-40B4-BE49-F238E27FC236}">
                <a16:creationId xmlns:a16="http://schemas.microsoft.com/office/drawing/2014/main" id="{8D1B81AC-3CAF-44A5-9465-51F6AE81A9B0}"/>
              </a:ext>
            </a:extLst>
          </p:cNvPr>
          <p:cNvSpPr>
            <a:spLocks xmlns:a="http://schemas.openxmlformats.org/drawingml/2006/main" noGrp="1"/>
          </p:cNvSpPr>
          <p:nvPr/>
        </p:nvSpPr>
        <p:spPr>
          <a:xfrm xmlns:a="http://schemas.openxmlformats.org/drawingml/2006/main">
            <a:off x="7639050" y="43719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A9B5C5"/>
                </a:solidFill>
                <a:latin typeface="Arial"/>
                <a:ea typeface="Arial"/>
                <a:cs typeface="Arial"/>
              </a:defRPr>
            </a:pPr>
            <a:r>
              <a:rPr sz="900" b="1">
                <a:solidFill>
                  <a:srgbClr val="A9B5C5"/>
                </a:solidFill>
                <a:latin typeface="Arial"/>
                <a:ea typeface="Arial"/>
                <a:cs typeface="Arial"/>
              </a:rPr>
              <a:t>HUMANS</a:t>
            </a:r>
          </a:p>
        </p:txBody>
      </p:sp>
      <p:sp>
        <p:nvSpPr>
          <p:cNvPr id="17" name="">
            <a:extLst xmlns:a="http://schemas.openxmlformats.org/drawingml/2006/main">
              <a:ext uri="{FF2B5EF4-FFF2-40B4-BE49-F238E27FC236}">
                <a16:creationId xmlns:a16="http://schemas.microsoft.com/office/drawing/2014/main" id="{6E5BF7BC-88EF-491A-9873-7D7B45CD72F3}"/>
              </a:ext>
            </a:extLst>
          </p:cNvPr>
          <p:cNvSpPr>
            <a:spLocks xmlns:a="http://schemas.openxmlformats.org/drawingml/2006/main" noGrp="1"/>
          </p:cNvSpPr>
          <p:nvPr/>
        </p:nvSpPr>
        <p:spPr>
          <a:xfrm xmlns:a="http://schemas.openxmlformats.org/drawingml/2006/main">
            <a:off x="7639050" y="4591050"/>
            <a:ext cx="819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F4C866"/>
                </a:solidFill>
                <a:latin typeface="Arial"/>
                <a:ea typeface="Arial"/>
                <a:cs typeface="Arial"/>
              </a:defRPr>
            </a:pPr>
            <a:r>
              <a:rPr sz="1875" b="1">
                <a:solidFill>
                  <a:srgbClr val="F4C866"/>
                </a:solidFill>
                <a:latin typeface="Arial"/>
                <a:ea typeface="Arial"/>
                <a:cs typeface="Arial"/>
              </a:rPr>
              <a:t>0</a:t>
            </a:r>
          </a:p>
        </p:txBody>
      </p:sp>
      <p:sp>
        <p:nvSpPr>
          <p:cNvPr id="18" name="">
            <a:extLst xmlns:a="http://schemas.openxmlformats.org/drawingml/2006/main">
              <a:ext uri="{FF2B5EF4-FFF2-40B4-BE49-F238E27FC236}">
                <a16:creationId xmlns:a16="http://schemas.microsoft.com/office/drawing/2014/main" id="{3DF2F08A-6785-4300-A915-C2B00F2C8546}"/>
              </a:ext>
            </a:extLst>
          </p:cNvPr>
          <p:cNvSpPr>
            <a:spLocks xmlns:a="http://schemas.openxmlformats.org/drawingml/2006/main" noGrp="1"/>
          </p:cNvSpPr>
          <p:nvPr/>
        </p:nvSpPr>
        <p:spPr>
          <a:xfrm xmlns:a="http://schemas.openxmlformats.org/drawingml/2006/main">
            <a:off x="8591550" y="4476750"/>
            <a:ext cx="2724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No participant records supplied</a:t>
            </a:r>
          </a:p>
        </p:txBody>
      </p:sp>
      <p:sp>
        <p:nvSpPr>
          <p:cNvPr id="19" name="">
            <a:extLst xmlns:a="http://schemas.openxmlformats.org/drawingml/2006/main">
              <a:ext uri="{FF2B5EF4-FFF2-40B4-BE49-F238E27FC236}">
                <a16:creationId xmlns:a16="http://schemas.microsoft.com/office/drawing/2014/main" id="{DF569BCD-4F7B-4910-A654-B03C0B88B3DB}"/>
              </a:ext>
            </a:extLst>
          </p:cNvPr>
          <p:cNvSpPr>
            <a:spLocks xmlns:a="http://schemas.openxmlformats.org/drawingml/2006/main" noGrp="1"/>
          </p:cNvSpPr>
          <p:nvPr/>
        </p:nvSpPr>
        <p:spPr>
          <a:xfrm xmlns:a="http://schemas.openxmlformats.org/drawingml/2006/main">
            <a:off x="7429500" y="5457825"/>
            <a:ext cx="4171950" cy="590550"/>
          </a:xfrm>
          <a:prstGeom xmlns:a="http://schemas.openxmlformats.org/drawingml/2006/main" prst="roundRect">
            <a:avLst>
              <a:gd name="adj" fmla="val 19355"/>
            </a:avLst>
          </a:prstGeom>
          <a:solidFill xmlns:a="http://schemas.openxmlformats.org/drawingml/2006/main">
            <a:srgbClr val="2B2416"/>
          </a:solidFill>
          <a:ln xmlns:a="http://schemas.openxmlformats.org/drawingml/2006/main" w="9525">
            <a:solidFill>
              <a:srgbClr val="F4C866"/>
            </a:solidFill>
            <a:prstDash val="solid"/>
          </a:ln>
        </p:spPr>
        <p:txBody>
          <a:bodyPr xmlns:a="http://schemas.openxmlformats.org/drawingml/2006/main"/>
          <a:lstStyle xmlns:a="http://schemas.openxmlformats.org/drawingml/2006/main"/>
          <a:p xmlns:a="http://schemas.openxmlformats.org/drawingml/2006/main"/>
        </p:txBody>
      </p:sp>
      <p:sp>
        <p:nvSpPr>
          <p:cNvPr id="20" name="">
            <a:extLst xmlns:a="http://schemas.openxmlformats.org/drawingml/2006/main">
              <a:ext uri="{FF2B5EF4-FFF2-40B4-BE49-F238E27FC236}">
                <a16:creationId xmlns:a16="http://schemas.microsoft.com/office/drawing/2014/main" id="{023C34C6-28CA-4D1E-B7E9-4C21A0E47B6E}"/>
              </a:ext>
            </a:extLst>
          </p:cNvPr>
          <p:cNvSpPr>
            <a:spLocks xmlns:a="http://schemas.openxmlformats.org/drawingml/2006/main" noGrp="1"/>
          </p:cNvSpPr>
          <p:nvPr/>
        </p:nvSpPr>
        <p:spPr>
          <a:xfrm xmlns:a="http://schemas.openxmlformats.org/drawingml/2006/main">
            <a:off x="7600950" y="5600700"/>
            <a:ext cx="3848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Arial"/>
                <a:ea typeface="Arial"/>
                <a:cs typeface="Arial"/>
              </a:defRPr>
            </a:pPr>
            <a:r>
              <a:rPr sz="1125" b="1">
                <a:solidFill>
                  <a:srgbClr val="FFFFFF"/>
                </a:solidFill>
                <a:latin typeface="Arial"/>
                <a:ea typeface="Arial"/>
                <a:cs typeface="Arial"/>
              </a:rPr>
              <a:t>Next: run the consented Form A/B protocol and report every outcome, including zero or negative change.</a:t>
            </a:r>
          </a:p>
        </p:txBody>
      </p:sp>
    </p:spTree>
    <p:extLst>
      <p:ext uri="{BB962C8B-B14F-4D97-AF65-F5344CB8AC3E}">
        <p14:creationId xmlns:p14="http://schemas.microsoft.com/office/powerpoint/2010/main" val="697113092"/>
      </p:ext>
    </p:extLst>
  </p:cSld>
</p:sld>
</file>

<file path=ppt/slides/slide8.xml><?xml version="1.0" encoding="utf-8"?>
<p:sld xmlns:p="http://schemas.openxmlformats.org/presentationml/2006/main">
  <p:cSld>
    <p:bg>
      <p:bgPr>
        <a:solidFill xmlns:a="http://schemas.openxmlformats.org/drawingml/2006/main">
          <a:srgbClr val="F4F0E6"/>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27F97CA9-F04D-4655-91C2-1A8B99F928FB}"/>
              </a:ext>
            </a:extLst>
          </p:cNvPr>
          <p:cNvSpPr>
            <a:spLocks xmlns:a="http://schemas.openxmlformats.org/drawingml/2006/main" noGrp="1"/>
          </p:cNvSpPr>
          <p:nvPr/>
        </p:nvSpPr>
        <p:spPr>
          <a:xfrm xmlns:a="http://schemas.openxmlformats.org/drawingml/2006/main">
            <a:off x="552450" y="3810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07111F"/>
                </a:solidFill>
                <a:latin typeface="Arial"/>
                <a:ea typeface="Arial"/>
                <a:cs typeface="Arial"/>
              </a:defRPr>
            </a:pPr>
            <a:r>
              <a:rPr sz="975" b="1">
                <a:solidFill>
                  <a:srgbClr val="07111F"/>
                </a:solidFill>
                <a:latin typeface="Arial"/>
                <a:ea typeface="Arial"/>
                <a:cs typeface="Arial"/>
              </a:rPr>
              <a:t>AUTHLAB  /  TAKEAWAY</a:t>
            </a:r>
          </a:p>
        </p:txBody>
      </p:sp>
      <p:sp>
        <p:nvSpPr>
          <p:cNvPr id="2" name="">
            <a:extLst xmlns:a="http://schemas.openxmlformats.org/drawingml/2006/main">
              <a:ext uri="{FF2B5EF4-FFF2-40B4-BE49-F238E27FC236}">
                <a16:creationId xmlns:a16="http://schemas.microsoft.com/office/drawing/2014/main" id="{1E2C1635-C66D-4DEA-914A-508A6562ABBC}"/>
              </a:ext>
            </a:extLst>
          </p:cNvPr>
          <p:cNvSpPr>
            <a:spLocks xmlns:a="http://schemas.openxmlformats.org/drawingml/2006/main" noGrp="1"/>
          </p:cNvSpPr>
          <p:nvPr/>
        </p:nvSpPr>
        <p:spPr>
          <a:xfrm xmlns:a="http://schemas.openxmlformats.org/drawingml/2006/main">
            <a:off x="552450" y="723900"/>
            <a:ext cx="11087100" cy="1905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txBody>
          <a:bodyPr xmlns:a="http://schemas.openxmlformats.org/drawingml/2006/main"/>
          <a:lstStyle xmlns:a="http://schemas.openxmlformats.org/drawingml/2006/main"/>
          <a:p xmlns:a="http://schemas.openxmlformats.org/drawingml/2006/main"/>
        </p:txBody>
      </p:sp>
      <p:sp>
        <p:nvSpPr>
          <p:cNvPr id="3" name="">
            <a:extLst xmlns:a="http://schemas.openxmlformats.org/drawingml/2006/main">
              <a:ext uri="{FF2B5EF4-FFF2-40B4-BE49-F238E27FC236}">
                <a16:creationId xmlns:a16="http://schemas.microsoft.com/office/drawing/2014/main" id="{5BA5BD25-E6AB-4310-86C0-AA64E2DBEF27}"/>
              </a:ext>
            </a:extLst>
          </p:cNvPr>
          <p:cNvSpPr>
            <a:spLocks xmlns:a="http://schemas.openxmlformats.org/drawingml/2006/main" noGrp="1"/>
          </p:cNvSpPr>
          <p:nvPr/>
        </p:nvSpPr>
        <p:spPr>
          <a:xfrm xmlns:a="http://schemas.openxmlformats.org/drawingml/2006/main">
            <a:off x="552450" y="1143000"/>
            <a:ext cx="6667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4050" b="1">
                <a:solidFill>
                  <a:srgbClr val="07111F"/>
                </a:solidFill>
                <a:latin typeface="Arial"/>
                <a:ea typeface="Arial"/>
                <a:cs typeface="Arial"/>
              </a:defRPr>
            </a:pPr>
            <a:r>
              <a:rPr sz="4050" b="1">
                <a:solidFill>
                  <a:srgbClr val="07111F"/>
                </a:solidFill>
                <a:latin typeface="Arial"/>
                <a:ea typeface="Arial"/>
                <a:cs typeface="Arial"/>
              </a:rPr>
              <a:t>Change the proof, then</a:t>
            </a:r>
          </a:p>
          <a:p xmlns:a="http://schemas.openxmlformats.org/drawingml/2006/main">
            <a:pPr algn="l">
              <a:buNone/>
              <a:defRPr sz="4050" b="1">
                <a:solidFill>
                  <a:srgbClr val="07111F"/>
                </a:solidFill>
                <a:latin typeface="Arial"/>
                <a:ea typeface="Arial"/>
                <a:cs typeface="Arial"/>
              </a:defRPr>
            </a:pPr>
            <a:r>
              <a:rPr sz="4050" b="1">
                <a:solidFill>
                  <a:srgbClr val="07111F"/>
                </a:solidFill>
                <a:latin typeface="Arial"/>
                <a:ea typeface="Arial"/>
                <a:cs typeface="Arial"/>
              </a:rPr>
              <a:t>test the teaching.</a:t>
            </a:r>
          </a:p>
        </p:txBody>
      </p:sp>
      <p:sp>
        <p:nvSpPr>
          <p:cNvPr id="4" name="">
            <a:extLst xmlns:a="http://schemas.openxmlformats.org/drawingml/2006/main">
              <a:ext uri="{FF2B5EF4-FFF2-40B4-BE49-F238E27FC236}">
                <a16:creationId xmlns:a16="http://schemas.microsoft.com/office/drawing/2014/main" id="{D193DDFB-7E7E-4098-880F-EE7DF2EC053B}"/>
              </a:ext>
            </a:extLst>
          </p:cNvPr>
          <p:cNvSpPr>
            <a:spLocks xmlns:a="http://schemas.openxmlformats.org/drawingml/2006/main" noGrp="1"/>
          </p:cNvSpPr>
          <p:nvPr/>
        </p:nvSpPr>
        <p:spPr>
          <a:xfrm xmlns:a="http://schemas.openxmlformats.org/drawingml/2006/main">
            <a:off x="552450" y="3257550"/>
            <a:ext cx="3371850" cy="1619250"/>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9525">
            <a:solidFill>
              <a:srgbClr val="D9D3C6"/>
            </a:solidFill>
            <a:prstDash val="solid"/>
          </a:ln>
        </p:spPr>
        <p:txBody>
          <a:bodyPr xmlns:a="http://schemas.openxmlformats.org/drawingml/2006/main"/>
          <a:lstStyle xmlns:a="http://schemas.openxmlformats.org/drawingml/2006/main"/>
          <a:p xmlns:a="http://schemas.openxmlformats.org/drawingml/2006/main"/>
        </p:txBody>
      </p:sp>
      <p:sp>
        <p:nvSpPr>
          <p:cNvPr id="5" name="">
            <a:extLst xmlns:a="http://schemas.openxmlformats.org/drawingml/2006/main">
              <a:ext uri="{FF2B5EF4-FFF2-40B4-BE49-F238E27FC236}">
                <a16:creationId xmlns:a16="http://schemas.microsoft.com/office/drawing/2014/main" id="{000085C0-5A2A-43A5-88C5-9611ABC244B2}"/>
              </a:ext>
            </a:extLst>
          </p:cNvPr>
          <p:cNvSpPr>
            <a:spLocks xmlns:a="http://schemas.openxmlformats.org/drawingml/2006/main" noGrp="1"/>
          </p:cNvSpPr>
          <p:nvPr/>
        </p:nvSpPr>
        <p:spPr>
          <a:xfrm xmlns:a="http://schemas.openxmlformats.org/drawingml/2006/main">
            <a:off x="781050" y="3486150"/>
            <a:ext cx="476250" cy="361950"/>
          </a:xfrm>
          <a:prstGeom xmlns:a="http://schemas.openxmlformats.org/drawingml/2006/main" prst="roundRect">
            <a:avLst>
              <a:gd name="adj" fmla="val 50000"/>
            </a:avLst>
          </a:prstGeom>
          <a:solidFill xmlns:a="http://schemas.openxmlformats.org/drawingml/2006/main">
            <a:srgbClr val="5DA8FF"/>
          </a:solidFill>
          <a:ln xmlns:a="http://schemas.openxmlformats.org/drawingml/2006/main" w="0">
            <a:solidFill>
              <a:srgbClr val="5DA8FF"/>
            </a:solidFill>
            <a:prstDash val="solid"/>
          </a:ln>
        </p:spPr>
        <p:txBody>
          <a:bodyPr xmlns:a="http://schemas.openxmlformats.org/drawingml/2006/main"/>
          <a:lstStyle xmlns:a="http://schemas.openxmlformats.org/drawingml/2006/main"/>
          <a:p xmlns:a="http://schemas.openxmlformats.org/drawingml/2006/main"/>
        </p:txBody>
      </p:sp>
      <p:sp>
        <p:nvSpPr>
          <p:cNvPr id="6" name="">
            <a:extLst xmlns:a="http://schemas.openxmlformats.org/drawingml/2006/main">
              <a:ext uri="{FF2B5EF4-FFF2-40B4-BE49-F238E27FC236}">
                <a16:creationId xmlns:a16="http://schemas.microsoft.com/office/drawing/2014/main" id="{31B29F0C-E903-4B7C-9F43-C9C8C73FC678}"/>
              </a:ext>
            </a:extLst>
          </p:cNvPr>
          <p:cNvSpPr>
            <a:spLocks xmlns:a="http://schemas.openxmlformats.org/drawingml/2006/main" noGrp="1"/>
          </p:cNvSpPr>
          <p:nvPr/>
        </p:nvSpPr>
        <p:spPr>
          <a:xfrm xmlns:a="http://schemas.openxmlformats.org/drawingml/2006/main">
            <a:off x="895350" y="3562350"/>
            <a:ext cx="247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0C19DC1A-DC1F-416F-8907-3EB778955D8E}"/>
              </a:ext>
            </a:extLst>
          </p:cNvPr>
          <p:cNvSpPr>
            <a:spLocks xmlns:a="http://schemas.openxmlformats.org/drawingml/2006/main" noGrp="1"/>
          </p:cNvSpPr>
          <p:nvPr/>
        </p:nvSpPr>
        <p:spPr>
          <a:xfrm xmlns:a="http://schemas.openxmlformats.org/drawingml/2006/main">
            <a:off x="1428750" y="35242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b="1">
                <a:solidFill>
                  <a:srgbClr val="07111F"/>
                </a:solidFill>
                <a:latin typeface="Arial"/>
                <a:ea typeface="Arial"/>
                <a:cs typeface="Arial"/>
              </a:defRPr>
            </a:pPr>
            <a:r>
              <a:rPr sz="1650" b="1">
                <a:solidFill>
                  <a:srgbClr val="07111F"/>
                </a:solidFill>
                <a:latin typeface="Arial"/>
                <a:ea typeface="Arial"/>
                <a:cs typeface="Arial"/>
              </a:rPr>
              <a:t>Diagnose</a:t>
            </a:r>
          </a:p>
        </p:txBody>
      </p:sp>
      <p:sp>
        <p:nvSpPr>
          <p:cNvPr id="8" name="">
            <a:extLst xmlns:a="http://schemas.openxmlformats.org/drawingml/2006/main">
              <a:ext uri="{FF2B5EF4-FFF2-40B4-BE49-F238E27FC236}">
                <a16:creationId xmlns:a16="http://schemas.microsoft.com/office/drawing/2014/main" id="{F6233BE1-F466-42AC-8C92-CB22AB01ECE9}"/>
              </a:ext>
            </a:extLst>
          </p:cNvPr>
          <p:cNvSpPr>
            <a:spLocks xmlns:a="http://schemas.openxmlformats.org/drawingml/2006/main" noGrp="1"/>
          </p:cNvSpPr>
          <p:nvPr/>
        </p:nvSpPr>
        <p:spPr>
          <a:xfrm xmlns:a="http://schemas.openxmlformats.org/drawingml/2006/main">
            <a:off x="781050" y="4038600"/>
            <a:ext cx="2895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3C4858"/>
                </a:solidFill>
                <a:latin typeface="Arial"/>
                <a:ea typeface="Arial"/>
                <a:cs typeface="Arial"/>
              </a:defRPr>
            </a:pPr>
            <a:r>
              <a:rPr sz="1350" b="1">
                <a:solidFill>
                  <a:srgbClr val="3C4858"/>
                </a:solidFill>
                <a:latin typeface="Arial"/>
                <a:ea typeface="Arial"/>
                <a:cs typeface="Arial"/>
              </a:rPr>
              <a:t>Separate identity, authentication and authorisation.</a:t>
            </a:r>
          </a:p>
        </p:txBody>
      </p:sp>
      <p:sp>
        <p:nvSpPr>
          <p:cNvPr id="9" name="">
            <a:extLst xmlns:a="http://schemas.openxmlformats.org/drawingml/2006/main">
              <a:ext uri="{FF2B5EF4-FFF2-40B4-BE49-F238E27FC236}">
                <a16:creationId xmlns:a16="http://schemas.microsoft.com/office/drawing/2014/main" id="{D72B30E8-0376-4590-B1ED-AB06EB19DF08}"/>
              </a:ext>
            </a:extLst>
          </p:cNvPr>
          <p:cNvSpPr>
            <a:spLocks xmlns:a="http://schemas.openxmlformats.org/drawingml/2006/main" noGrp="1"/>
          </p:cNvSpPr>
          <p:nvPr/>
        </p:nvSpPr>
        <p:spPr>
          <a:xfrm xmlns:a="http://schemas.openxmlformats.org/drawingml/2006/main">
            <a:off x="4267200" y="3257550"/>
            <a:ext cx="3371850" cy="1619250"/>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9525">
            <a:solidFill>
              <a:srgbClr val="D9D3C6"/>
            </a:solidFill>
            <a:prstDash val="solid"/>
          </a:ln>
        </p:spPr>
        <p:txBody>
          <a:bodyPr xmlns:a="http://schemas.openxmlformats.org/drawingml/2006/main"/>
          <a:lstStyle xmlns:a="http://schemas.openxmlformats.org/drawingml/2006/main"/>
          <a:p xmlns:a="http://schemas.openxmlformats.org/drawingml/2006/main"/>
        </p:txBody>
      </p:sp>
      <p:sp>
        <p:nvSpPr>
          <p:cNvPr id="10" name="">
            <a:extLst xmlns:a="http://schemas.openxmlformats.org/drawingml/2006/main">
              <a:ext uri="{FF2B5EF4-FFF2-40B4-BE49-F238E27FC236}">
                <a16:creationId xmlns:a16="http://schemas.microsoft.com/office/drawing/2014/main" id="{366F7520-EE27-440E-859B-B41C17747FE2}"/>
              </a:ext>
            </a:extLst>
          </p:cNvPr>
          <p:cNvSpPr>
            <a:spLocks xmlns:a="http://schemas.openxmlformats.org/drawingml/2006/main" noGrp="1"/>
          </p:cNvSpPr>
          <p:nvPr/>
        </p:nvSpPr>
        <p:spPr>
          <a:xfrm xmlns:a="http://schemas.openxmlformats.org/drawingml/2006/main">
            <a:off x="4495800" y="3486150"/>
            <a:ext cx="476250" cy="361950"/>
          </a:xfrm>
          <a:prstGeom xmlns:a="http://schemas.openxmlformats.org/drawingml/2006/main" prst="roundRect">
            <a:avLst>
              <a:gd name="adj" fmla="val 50000"/>
            </a:avLst>
          </a:prstGeom>
          <a:solidFill xmlns:a="http://schemas.openxmlformats.org/drawingml/2006/main">
            <a:srgbClr val="FF7A85"/>
          </a:solidFill>
          <a:ln xmlns:a="http://schemas.openxmlformats.org/drawingml/2006/main" w="0">
            <a:solidFill>
              <a:srgbClr val="FF7A85"/>
            </a:solidFill>
            <a:prstDash val="solid"/>
          </a:ln>
        </p:spPr>
        <p:txBody>
          <a:bodyPr xmlns:a="http://schemas.openxmlformats.org/drawingml/2006/main"/>
          <a:lstStyle xmlns:a="http://schemas.openxmlformats.org/drawingml/2006/main"/>
          <a:p xmlns:a="http://schemas.openxmlformats.org/drawingml/2006/main"/>
        </p:txBody>
      </p:sp>
      <p:sp>
        <p:nvSpPr>
          <p:cNvPr id="11" name="">
            <a:extLst xmlns:a="http://schemas.openxmlformats.org/drawingml/2006/main">
              <a:ext uri="{FF2B5EF4-FFF2-40B4-BE49-F238E27FC236}">
                <a16:creationId xmlns:a16="http://schemas.microsoft.com/office/drawing/2014/main" id="{10300904-FCEE-4074-B2ED-4604A51A1A7E}"/>
              </a:ext>
            </a:extLst>
          </p:cNvPr>
          <p:cNvSpPr>
            <a:spLocks xmlns:a="http://schemas.openxmlformats.org/drawingml/2006/main" noGrp="1"/>
          </p:cNvSpPr>
          <p:nvPr/>
        </p:nvSpPr>
        <p:spPr>
          <a:xfrm xmlns:a="http://schemas.openxmlformats.org/drawingml/2006/main">
            <a:off x="4610100" y="3562350"/>
            <a:ext cx="247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02</a:t>
            </a:r>
          </a:p>
        </p:txBody>
      </p:sp>
      <p:sp>
        <p:nvSpPr>
          <p:cNvPr id="12" name="">
            <a:extLst xmlns:a="http://schemas.openxmlformats.org/drawingml/2006/main">
              <a:ext uri="{FF2B5EF4-FFF2-40B4-BE49-F238E27FC236}">
                <a16:creationId xmlns:a16="http://schemas.microsoft.com/office/drawing/2014/main" id="{C930AE4D-A289-4E5A-8384-B3ED8F7BC98E}"/>
              </a:ext>
            </a:extLst>
          </p:cNvPr>
          <p:cNvSpPr>
            <a:spLocks xmlns:a="http://schemas.openxmlformats.org/drawingml/2006/main" noGrp="1"/>
          </p:cNvSpPr>
          <p:nvPr/>
        </p:nvSpPr>
        <p:spPr>
          <a:xfrm xmlns:a="http://schemas.openxmlformats.org/drawingml/2006/main">
            <a:off x="5143500" y="35242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b="1">
                <a:solidFill>
                  <a:srgbClr val="07111F"/>
                </a:solidFill>
                <a:latin typeface="Arial"/>
                <a:ea typeface="Arial"/>
                <a:cs typeface="Arial"/>
              </a:defRPr>
            </a:pPr>
            <a:r>
              <a:rPr sz="1650" b="1">
                <a:solidFill>
                  <a:srgbClr val="07111F"/>
                </a:solidFill>
                <a:latin typeface="Arial"/>
                <a:ea typeface="Arial"/>
                <a:cs typeface="Arial"/>
              </a:rPr>
              <a:t>Design</a:t>
            </a:r>
          </a:p>
        </p:txBody>
      </p:sp>
      <p:sp>
        <p:nvSpPr>
          <p:cNvPr id="13" name="">
            <a:extLst xmlns:a="http://schemas.openxmlformats.org/drawingml/2006/main">
              <a:ext uri="{FF2B5EF4-FFF2-40B4-BE49-F238E27FC236}">
                <a16:creationId xmlns:a16="http://schemas.microsoft.com/office/drawing/2014/main" id="{0A6E50BD-013C-443B-84B7-31EE9C3B07BB}"/>
              </a:ext>
            </a:extLst>
          </p:cNvPr>
          <p:cNvSpPr>
            <a:spLocks xmlns:a="http://schemas.openxmlformats.org/drawingml/2006/main" noGrp="1"/>
          </p:cNvSpPr>
          <p:nvPr/>
        </p:nvSpPr>
        <p:spPr>
          <a:xfrm xmlns:a="http://schemas.openxmlformats.org/drawingml/2006/main">
            <a:off x="4495800" y="4038600"/>
            <a:ext cx="2895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3C4858"/>
                </a:solidFill>
                <a:latin typeface="Arial"/>
                <a:ea typeface="Arial"/>
                <a:cs typeface="Arial"/>
              </a:defRPr>
            </a:pPr>
            <a:r>
              <a:rPr sz="1350" b="1">
                <a:solidFill>
                  <a:srgbClr val="3C4858"/>
                </a:solidFill>
                <a:latin typeface="Arial"/>
                <a:ea typeface="Arial"/>
                <a:cs typeface="Arial"/>
              </a:rPr>
              <a:t>Control replay and relay; bind proof to the verifier.</a:t>
            </a:r>
          </a:p>
        </p:txBody>
      </p:sp>
      <p:sp>
        <p:nvSpPr>
          <p:cNvPr id="14" name="">
            <a:extLst xmlns:a="http://schemas.openxmlformats.org/drawingml/2006/main">
              <a:ext uri="{FF2B5EF4-FFF2-40B4-BE49-F238E27FC236}">
                <a16:creationId xmlns:a16="http://schemas.microsoft.com/office/drawing/2014/main" id="{5F967336-7C2D-4EC1-BC01-D8443006D5EE}"/>
              </a:ext>
            </a:extLst>
          </p:cNvPr>
          <p:cNvSpPr>
            <a:spLocks xmlns:a="http://schemas.openxmlformats.org/drawingml/2006/main" noGrp="1"/>
          </p:cNvSpPr>
          <p:nvPr/>
        </p:nvSpPr>
        <p:spPr>
          <a:xfrm xmlns:a="http://schemas.openxmlformats.org/drawingml/2006/main">
            <a:off x="7981950" y="3257550"/>
            <a:ext cx="3371850" cy="1619250"/>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9525">
            <a:solidFill>
              <a:srgbClr val="D9D3C6"/>
            </a:solidFill>
            <a:prstDash val="solid"/>
          </a:ln>
        </p:spPr>
        <p:txBody>
          <a:bodyPr xmlns:a="http://schemas.openxmlformats.org/drawingml/2006/main"/>
          <a:lstStyle xmlns:a="http://schemas.openxmlformats.org/drawingml/2006/main"/>
          <a:p xmlns:a="http://schemas.openxmlformats.org/drawingml/2006/main"/>
        </p:txBody>
      </p:sp>
      <p:sp>
        <p:nvSpPr>
          <p:cNvPr id="15" name="">
            <a:extLst xmlns:a="http://schemas.openxmlformats.org/drawingml/2006/main">
              <a:ext uri="{FF2B5EF4-FFF2-40B4-BE49-F238E27FC236}">
                <a16:creationId xmlns:a16="http://schemas.microsoft.com/office/drawing/2014/main" id="{4748CFA2-E659-407D-8076-FD8C9E37B63E}"/>
              </a:ext>
            </a:extLst>
          </p:cNvPr>
          <p:cNvSpPr>
            <a:spLocks xmlns:a="http://schemas.openxmlformats.org/drawingml/2006/main" noGrp="1"/>
          </p:cNvSpPr>
          <p:nvPr/>
        </p:nvSpPr>
        <p:spPr>
          <a:xfrm xmlns:a="http://schemas.openxmlformats.org/drawingml/2006/main">
            <a:off x="8210550" y="3486150"/>
            <a:ext cx="476250" cy="361950"/>
          </a:xfrm>
          <a:prstGeom xmlns:a="http://schemas.openxmlformats.org/drawingml/2006/main" prst="roundRect">
            <a:avLst>
              <a:gd name="adj" fmla="val 50000"/>
            </a:avLst>
          </a:prstGeom>
          <a:solidFill xmlns:a="http://schemas.openxmlformats.org/drawingml/2006/main">
            <a:srgbClr val="48D2C2"/>
          </a:solidFill>
          <a:ln xmlns:a="http://schemas.openxmlformats.org/drawingml/2006/main" w="0">
            <a:solidFill>
              <a:srgbClr val="48D2C2"/>
            </a:solidFill>
            <a:prstDash val="solid"/>
          </a:ln>
        </p:spPr>
        <p:txBody>
          <a:bodyPr xmlns:a="http://schemas.openxmlformats.org/drawingml/2006/main"/>
          <a:lstStyle xmlns:a="http://schemas.openxmlformats.org/drawingml/2006/main"/>
          <a:p xmlns:a="http://schemas.openxmlformats.org/drawingml/2006/main"/>
        </p:txBody>
      </p:sp>
      <p:sp>
        <p:nvSpPr>
          <p:cNvPr id="16" name="">
            <a:extLst xmlns:a="http://schemas.openxmlformats.org/drawingml/2006/main">
              <a:ext uri="{FF2B5EF4-FFF2-40B4-BE49-F238E27FC236}">
                <a16:creationId xmlns:a16="http://schemas.microsoft.com/office/drawing/2014/main" id="{D6ABC35F-6ACD-4FB6-A71C-C30B8DA920AD}"/>
              </a:ext>
            </a:extLst>
          </p:cNvPr>
          <p:cNvSpPr>
            <a:spLocks xmlns:a="http://schemas.openxmlformats.org/drawingml/2006/main" noGrp="1"/>
          </p:cNvSpPr>
          <p:nvPr/>
        </p:nvSpPr>
        <p:spPr>
          <a:xfrm xmlns:a="http://schemas.openxmlformats.org/drawingml/2006/main">
            <a:off x="8324850" y="3562350"/>
            <a:ext cx="247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03</a:t>
            </a:r>
          </a:p>
        </p:txBody>
      </p:sp>
      <p:sp>
        <p:nvSpPr>
          <p:cNvPr id="17" name="">
            <a:extLst xmlns:a="http://schemas.openxmlformats.org/drawingml/2006/main">
              <a:ext uri="{FF2B5EF4-FFF2-40B4-BE49-F238E27FC236}">
                <a16:creationId xmlns:a16="http://schemas.microsoft.com/office/drawing/2014/main" id="{B81ABA82-D672-418F-897B-3AAB7B4B85AD}"/>
              </a:ext>
            </a:extLst>
          </p:cNvPr>
          <p:cNvSpPr>
            <a:spLocks xmlns:a="http://schemas.openxmlformats.org/drawingml/2006/main" noGrp="1"/>
          </p:cNvSpPr>
          <p:nvPr/>
        </p:nvSpPr>
        <p:spPr>
          <a:xfrm xmlns:a="http://schemas.openxmlformats.org/drawingml/2006/main">
            <a:off x="8858250" y="35242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b="1">
                <a:solidFill>
                  <a:srgbClr val="07111F"/>
                </a:solidFill>
                <a:latin typeface="Arial"/>
                <a:ea typeface="Arial"/>
                <a:cs typeface="Arial"/>
              </a:defRPr>
            </a:pPr>
            <a:r>
              <a:rPr sz="1650" b="1">
                <a:solidFill>
                  <a:srgbClr val="07111F"/>
                </a:solidFill>
                <a:latin typeface="Arial"/>
                <a:ea typeface="Arial"/>
                <a:cs typeface="Arial"/>
              </a:rPr>
              <a:t>Verify</a:t>
            </a:r>
          </a:p>
        </p:txBody>
      </p:sp>
      <p:sp>
        <p:nvSpPr>
          <p:cNvPr id="18" name="">
            <a:extLst xmlns:a="http://schemas.openxmlformats.org/drawingml/2006/main">
              <a:ext uri="{FF2B5EF4-FFF2-40B4-BE49-F238E27FC236}">
                <a16:creationId xmlns:a16="http://schemas.microsoft.com/office/drawing/2014/main" id="{1627E216-FCC1-4E44-91C8-0C16E7E36024}"/>
              </a:ext>
            </a:extLst>
          </p:cNvPr>
          <p:cNvSpPr>
            <a:spLocks xmlns:a="http://schemas.openxmlformats.org/drawingml/2006/main" noGrp="1"/>
          </p:cNvSpPr>
          <p:nvPr/>
        </p:nvSpPr>
        <p:spPr>
          <a:xfrm xmlns:a="http://schemas.openxmlformats.org/drawingml/2006/main">
            <a:off x="8210550" y="4038600"/>
            <a:ext cx="2895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3C4858"/>
                </a:solidFill>
                <a:latin typeface="Arial"/>
                <a:ea typeface="Arial"/>
                <a:cs typeface="Arial"/>
              </a:defRPr>
            </a:pPr>
            <a:r>
              <a:rPr sz="1350" b="1">
                <a:solidFill>
                  <a:srgbClr val="3C4858"/>
                </a:solidFill>
                <a:latin typeface="Arial"/>
                <a:ea typeface="Arial"/>
                <a:cs typeface="Arial"/>
              </a:rPr>
              <a:t>Tests prove function; genuine participants test learning.</a:t>
            </a:r>
          </a:p>
        </p:txBody>
      </p:sp>
      <p:sp>
        <p:nvSpPr>
          <p:cNvPr id="19" name="">
            <a:extLst xmlns:a="http://schemas.openxmlformats.org/drawingml/2006/main">
              <a:ext uri="{FF2B5EF4-FFF2-40B4-BE49-F238E27FC236}">
                <a16:creationId xmlns:a16="http://schemas.microsoft.com/office/drawing/2014/main" id="{184A52C6-D5F6-44F8-9415-D2CFEDEC795C}"/>
              </a:ext>
            </a:extLst>
          </p:cNvPr>
          <p:cNvSpPr>
            <a:spLocks xmlns:a="http://schemas.openxmlformats.org/drawingml/2006/main" noGrp="1"/>
          </p:cNvSpPr>
          <p:nvPr/>
        </p:nvSpPr>
        <p:spPr>
          <a:xfrm xmlns:a="http://schemas.openxmlformats.org/drawingml/2006/main">
            <a:off x="552450" y="5410200"/>
            <a:ext cx="10801350" cy="666750"/>
          </a:xfrm>
          <a:prstGeom xmlns:a="http://schemas.openxmlformats.org/drawingml/2006/main" prst="roundRect">
            <a:avLst>
              <a:gd name="adj" fmla="val 17143"/>
            </a:avLst>
          </a:prstGeom>
          <a:solidFill xmlns:a="http://schemas.openxmlformats.org/drawingml/2006/main">
            <a:srgbClr val="07111F"/>
          </a:solidFill>
          <a:ln xmlns:a="http://schemas.openxmlformats.org/drawingml/2006/main" w="0">
            <a:solidFill>
              <a:srgbClr val="07111F"/>
            </a:solidFill>
            <a:prstDash val="solid"/>
          </a:ln>
        </p:spPr>
        <p:txBody>
          <a:bodyPr xmlns:a="http://schemas.openxmlformats.org/drawingml/2006/main"/>
          <a:lstStyle xmlns:a="http://schemas.openxmlformats.org/drawingml/2006/main"/>
          <a:p xmlns:a="http://schemas.openxmlformats.org/drawingml/2006/main"/>
        </p:txBody>
      </p:sp>
      <p:sp>
        <p:nvSpPr>
          <p:cNvPr id="20" name="">
            <a:extLst xmlns:a="http://schemas.openxmlformats.org/drawingml/2006/main">
              <a:ext uri="{FF2B5EF4-FFF2-40B4-BE49-F238E27FC236}">
                <a16:creationId xmlns:a16="http://schemas.microsoft.com/office/drawing/2014/main" id="{DA7A345E-6C72-42D7-A312-B941B9304930}"/>
              </a:ext>
            </a:extLst>
          </p:cNvPr>
          <p:cNvSpPr>
            <a:spLocks xmlns:a="http://schemas.openxmlformats.org/drawingml/2006/main" noGrp="1"/>
          </p:cNvSpPr>
          <p:nvPr/>
        </p:nvSpPr>
        <p:spPr>
          <a:xfrm xmlns:a="http://schemas.openxmlformats.org/drawingml/2006/main">
            <a:off x="800100" y="5600700"/>
            <a:ext cx="733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Website · learner workbook · facilitator guide · report · 90–105 second demo</a:t>
            </a:r>
          </a:p>
        </p:txBody>
      </p:sp>
      <p:sp>
        <p:nvSpPr>
          <p:cNvPr id="21" name="">
            <a:extLst xmlns:a="http://schemas.openxmlformats.org/drawingml/2006/main">
              <a:ext uri="{FF2B5EF4-FFF2-40B4-BE49-F238E27FC236}">
                <a16:creationId xmlns:a16="http://schemas.microsoft.com/office/drawing/2014/main" id="{2188EB3F-5CB1-424C-B05E-FA5ECF0C2220}"/>
              </a:ext>
            </a:extLst>
          </p:cNvPr>
          <p:cNvSpPr>
            <a:spLocks xmlns:a="http://schemas.openxmlformats.org/drawingml/2006/main" noGrp="1"/>
          </p:cNvSpPr>
          <p:nvPr/>
        </p:nvSpPr>
        <p:spPr>
          <a:xfrm xmlns:a="http://schemas.openxmlformats.org/drawingml/2006/main">
            <a:off x="8248650" y="560070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350" b="1">
                <a:solidFill>
                  <a:srgbClr val="48D2C2"/>
                </a:solidFill>
                <a:latin typeface="Arial"/>
                <a:ea typeface="Arial"/>
                <a:cs typeface="Arial"/>
              </a:defRPr>
            </a:pPr>
            <a:r>
              <a:rPr sz="1350" b="1">
                <a:solidFill>
                  <a:srgbClr val="48D2C2"/>
                </a:solidFill>
                <a:latin typeface="Arial"/>
                <a:ea typeface="Arial"/>
                <a:cs typeface="Arial"/>
              </a:rPr>
              <a:t>Public AuthLab site</a:t>
            </a:r>
          </a:p>
        </p:txBody>
      </p:sp>
      <p:sp>
        <p:nvSpPr>
          <p:cNvPr id="22" name="">
            <a:extLst xmlns:a="http://schemas.openxmlformats.org/drawingml/2006/main">
              <a:ext uri="{FF2B5EF4-FFF2-40B4-BE49-F238E27FC236}">
                <a16:creationId xmlns:a16="http://schemas.microsoft.com/office/drawing/2014/main" id="{5A7267A6-0590-4CAA-B9C3-AB26E3CF5D75}"/>
              </a:ext>
            </a:extLst>
          </p:cNvPr>
          <p:cNvSpPr>
            <a:spLocks xmlns:a="http://schemas.openxmlformats.org/drawingml/2006/main" noGrp="1"/>
          </p:cNvSpPr>
          <p:nvPr/>
        </p:nvSpPr>
        <p:spPr>
          <a:xfrm xmlns:a="http://schemas.openxmlformats.org/drawingml/2006/main">
            <a:off x="552450" y="6381750"/>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8428"/>
          </a:bodyPr>
          <a:lstStyle xmlns:a="http://schemas.openxmlformats.org/drawingml/2006/main"/>
          <a:p xmlns:a="http://schemas.openxmlformats.org/drawingml/2006/main">
            <a:pPr algn="l">
              <a:buNone/>
              <a:defRPr sz="1200" b="1">
                <a:solidFill>
                  <a:srgbClr val="07111F"/>
                </a:solidFill>
                <a:latin typeface="Arial"/>
                <a:ea typeface="Arial"/>
                <a:cs typeface="Arial"/>
              </a:defRPr>
            </a:pPr>
            <a:r>
              <a:rPr sz="1200" b="1">
                <a:solidFill>
                  <a:srgbClr val="07111F"/>
                </a:solidFill>
                <a:latin typeface="Arial"/>
                <a:ea typeface="Arial"/>
                <a:cs typeface="Arial"/>
              </a:rPr>
              <a:t>Questions — backup evidence follows</a:t>
            </a:r>
          </a:p>
        </p:txBody>
      </p:sp>
    </p:spTree>
    <p:extLst>
      <p:ext uri="{BB962C8B-B14F-4D97-AF65-F5344CB8AC3E}">
        <p14:creationId xmlns:p14="http://schemas.microsoft.com/office/powerpoint/2010/main" val="1529392761"/>
      </p:ext>
    </p:extLst>
  </p:cSld>
</p:sld>
</file>

<file path=ppt/slides/slide9.xml><?xml version="1.0" encoding="utf-8"?>
<p:sld xmlns:p="http://schemas.openxmlformats.org/presentationml/2006/main">
  <p:cSld>
    <p:bg>
      <p:bgPr>
        <a:solidFill xmlns:a="http://schemas.openxmlformats.org/drawingml/2006/main">
          <a:srgbClr val="07111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BC2FC30-20DA-41B9-B082-FF50FA79B052}"/>
              </a:ext>
            </a:extLst>
          </p:cNvPr>
          <p:cNvSpPr>
            <a:spLocks xmlns:a="http://schemas.openxmlformats.org/drawingml/2006/main" noGrp="1"/>
          </p:cNvSpPr>
          <p:nvPr/>
        </p:nvSpPr>
        <p:spPr>
          <a:xfrm xmlns:a="http://schemas.openxmlformats.org/drawingml/2006/main">
            <a:off x="514350" y="2857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48D2C2"/>
                </a:solidFill>
                <a:latin typeface="Arial"/>
                <a:ea typeface="Arial"/>
                <a:cs typeface="Arial"/>
              </a:defRPr>
            </a:pPr>
            <a:r>
              <a:rPr sz="975" b="1">
                <a:solidFill>
                  <a:srgbClr val="48D2C2"/>
                </a:solidFill>
                <a:latin typeface="Arial"/>
                <a:ea typeface="Arial"/>
                <a:cs typeface="Arial"/>
              </a:rPr>
              <a:t>AUTHLAB  /  Q&amp;A</a:t>
            </a:r>
          </a:p>
        </p:txBody>
      </p:sp>
      <p:sp>
        <p:nvSpPr>
          <p:cNvPr id="2" name="">
            <a:extLst xmlns:a="http://schemas.openxmlformats.org/drawingml/2006/main">
              <a:ext uri="{FF2B5EF4-FFF2-40B4-BE49-F238E27FC236}">
                <a16:creationId xmlns:a16="http://schemas.microsoft.com/office/drawing/2014/main" id="{95C723E0-CBE7-4135-80C1-6309D258C6C7}"/>
              </a:ext>
            </a:extLst>
          </p:cNvPr>
          <p:cNvSpPr>
            <a:spLocks xmlns:a="http://schemas.openxmlformats.org/drawingml/2006/main" noGrp="1"/>
          </p:cNvSpPr>
          <p:nvPr/>
        </p:nvSpPr>
        <p:spPr>
          <a:xfrm xmlns:a="http://schemas.openxmlformats.org/drawingml/2006/main">
            <a:off x="11334750" y="295275"/>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A9B5C5"/>
                </a:solidFill>
                <a:latin typeface="Arial"/>
                <a:ea typeface="Arial"/>
                <a:cs typeface="Arial"/>
              </a:defRPr>
            </a:pPr>
            <a:r>
              <a:rPr sz="975" b="1">
                <a:solidFill>
                  <a:srgbClr val="A9B5C5"/>
                </a:solidFill>
                <a:latin typeface="Arial"/>
                <a:ea typeface="Arial"/>
                <a:cs typeface="Arial"/>
              </a:rPr>
              <a:t>Q1</a:t>
            </a:r>
          </a:p>
        </p:txBody>
      </p:sp>
      <p:sp>
        <p:nvSpPr>
          <p:cNvPr id="3" name="">
            <a:extLst xmlns:a="http://schemas.openxmlformats.org/drawingml/2006/main">
              <a:ext uri="{FF2B5EF4-FFF2-40B4-BE49-F238E27FC236}">
                <a16:creationId xmlns:a16="http://schemas.microsoft.com/office/drawing/2014/main" id="{1D4EAD31-092F-4544-AB44-DA837FE47126}"/>
              </a:ext>
            </a:extLst>
          </p:cNvPr>
          <p:cNvSpPr>
            <a:spLocks xmlns:a="http://schemas.openxmlformats.org/drawingml/2006/main" noGrp="1"/>
          </p:cNvSpPr>
          <p:nvPr/>
        </p:nvSpPr>
        <p:spPr>
          <a:xfrm xmlns:a="http://schemas.openxmlformats.org/drawingml/2006/main">
            <a:off x="514350" y="590550"/>
            <a:ext cx="11182350" cy="19050"/>
          </a:xfrm>
          <a:prstGeom xmlns:a="http://schemas.openxmlformats.org/drawingml/2006/main" prst="rect">
            <a:avLst/>
          </a:prstGeom>
          <a:solidFill xmlns:a="http://schemas.openxmlformats.org/drawingml/2006/main">
            <a:srgbClr val="263B58"/>
          </a:solidFill>
          <a:ln xmlns:a="http://schemas.openxmlformats.org/drawingml/2006/main" w="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6C044917-BE2C-48FA-A393-8BCEDE8648BA}"/>
              </a:ext>
            </a:extLst>
          </p:cNvPr>
          <p:cNvSpPr>
            <a:spLocks xmlns:a="http://schemas.openxmlformats.org/drawingml/2006/main" noGrp="1"/>
          </p:cNvSpPr>
          <p:nvPr/>
        </p:nvSpPr>
        <p:spPr>
          <a:xfrm xmlns:a="http://schemas.openxmlformats.org/drawingml/2006/main">
            <a:off x="514350" y="800100"/>
            <a:ext cx="11049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FFFFFF"/>
                </a:solidFill>
                <a:latin typeface="Arial"/>
                <a:ea typeface="Arial"/>
                <a:cs typeface="Arial"/>
              </a:defRPr>
            </a:pPr>
            <a:r>
              <a:rPr sz="3150" b="1">
                <a:solidFill>
                  <a:srgbClr val="FFFFFF"/>
                </a:solidFill>
                <a:latin typeface="Arial"/>
                <a:ea typeface="Arial"/>
                <a:cs typeface="Arial"/>
              </a:rPr>
              <a:t>Phishing-resistant does not mean invulnerable</a:t>
            </a:r>
          </a:p>
        </p:txBody>
      </p:sp>
      <p:sp>
        <p:nvSpPr>
          <p:cNvPr id="5" name="">
            <a:extLst xmlns:a="http://schemas.openxmlformats.org/drawingml/2006/main">
              <a:ext uri="{FF2B5EF4-FFF2-40B4-BE49-F238E27FC236}">
                <a16:creationId xmlns:a16="http://schemas.microsoft.com/office/drawing/2014/main" id="{B325E185-247C-43F3-87D0-3F9BC76A4CAD}"/>
              </a:ext>
            </a:extLst>
          </p:cNvPr>
          <p:cNvSpPr>
            <a:spLocks xmlns:a="http://schemas.openxmlformats.org/drawingml/2006/main" noGrp="1"/>
          </p:cNvSpPr>
          <p:nvPr/>
        </p:nvSpPr>
        <p:spPr>
          <a:xfrm xmlns:a="http://schemas.openxmlformats.org/drawingml/2006/main">
            <a:off x="533400" y="1485900"/>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A9B5C5"/>
                </a:solidFill>
                <a:latin typeface="Arial"/>
                <a:ea typeface="Arial"/>
                <a:cs typeface="Arial"/>
              </a:defRPr>
            </a:pPr>
            <a:r>
              <a:rPr sz="1425" b="0">
                <a:solidFill>
                  <a:srgbClr val="A9B5C5"/>
                </a:solidFill>
                <a:latin typeface="Arial"/>
                <a:ea typeface="Arial"/>
                <a:cs typeface="Arial"/>
              </a:rPr>
              <a:t>RP binding narrows one attack class; it does not secure the whole account lifecycle.</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571668aa50be4e61"/>
          <a:srcRect xmlns:a="http://schemas.openxmlformats.org/drawingml/2006/main" l="0" t="123" r="0" b="123"/>
          <a:stretch xmlns:a="http://schemas.openxmlformats.org/drawingml/2006/main">
            <a:fillRect l="0" t="0" r="0" b="0"/>
          </a:stretch>
        </p:blipFill>
        <p:spPr>
          <a:xfrm xmlns:a="http://schemas.openxmlformats.org/drawingml/2006/main" flipH="0" flipV="0">
            <a:off x="514350" y="2114550"/>
            <a:ext cx="6858000" cy="3848100"/>
          </a:xfrm>
          <a:prstGeom xmlns:a="http://schemas.openxmlformats.org/drawingml/2006/main" prst="roundRect">
            <a:avLst/>
          </a:prstGeom>
        </p:spPr>
      </p:pic>
      <p:sp>
        <p:nvSpPr>
          <p:cNvPr id="7" name="">
            <a:extLst xmlns:a="http://schemas.openxmlformats.org/drawingml/2006/main">
              <a:ext uri="{FF2B5EF4-FFF2-40B4-BE49-F238E27FC236}">
                <a16:creationId xmlns:a16="http://schemas.microsoft.com/office/drawing/2014/main" id="{2AE02B77-33C6-4593-8C90-633125C4A48B}"/>
              </a:ext>
            </a:extLst>
          </p:cNvPr>
          <p:cNvSpPr>
            <a:spLocks xmlns:a="http://schemas.openxmlformats.org/drawingml/2006/main" noGrp="1"/>
          </p:cNvSpPr>
          <p:nvPr/>
        </p:nvSpPr>
        <p:spPr>
          <a:xfrm xmlns:a="http://schemas.openxmlformats.org/drawingml/2006/main">
            <a:off x="7848600" y="21907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A9B5C5"/>
                </a:solidFill>
                <a:latin typeface="Arial"/>
                <a:ea typeface="Arial"/>
                <a:cs typeface="Arial"/>
              </a:defRPr>
            </a:pPr>
            <a:r>
              <a:rPr sz="900" b="1">
                <a:solidFill>
                  <a:srgbClr val="A9B5C5"/>
                </a:solidFill>
                <a:latin typeface="Arial"/>
                <a:ea typeface="Arial"/>
                <a:cs typeface="Arial"/>
              </a:rPr>
              <a:t>RISK</a:t>
            </a:r>
          </a:p>
        </p:txBody>
      </p:sp>
      <p:sp>
        <p:nvSpPr>
          <p:cNvPr id="8" name="">
            <a:extLst xmlns:a="http://schemas.openxmlformats.org/drawingml/2006/main">
              <a:ext uri="{FF2B5EF4-FFF2-40B4-BE49-F238E27FC236}">
                <a16:creationId xmlns:a16="http://schemas.microsoft.com/office/drawing/2014/main" id="{6B24822D-9646-4D8C-92DC-5BBA7C839F00}"/>
              </a:ext>
            </a:extLst>
          </p:cNvPr>
          <p:cNvSpPr>
            <a:spLocks xmlns:a="http://schemas.openxmlformats.org/drawingml/2006/main" noGrp="1"/>
          </p:cNvSpPr>
          <p:nvPr/>
        </p:nvSpPr>
        <p:spPr>
          <a:xfrm xmlns:a="http://schemas.openxmlformats.org/drawingml/2006/main">
            <a:off x="9410700" y="2190750"/>
            <a:ext cx="1028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A9B5C5"/>
                </a:solidFill>
                <a:latin typeface="Arial"/>
                <a:ea typeface="Arial"/>
                <a:cs typeface="Arial"/>
              </a:defRPr>
            </a:pPr>
            <a:r>
              <a:rPr sz="900" b="1">
                <a:solidFill>
                  <a:srgbClr val="A9B5C5"/>
                </a:solidFill>
                <a:latin typeface="Arial"/>
                <a:ea typeface="Arial"/>
                <a:cs typeface="Arial"/>
              </a:rPr>
              <a:t>EXAMPLE</a:t>
            </a:r>
          </a:p>
        </p:txBody>
      </p:sp>
      <p:sp>
        <p:nvSpPr>
          <p:cNvPr id="9" name="">
            <a:extLst xmlns:a="http://schemas.openxmlformats.org/drawingml/2006/main">
              <a:ext uri="{FF2B5EF4-FFF2-40B4-BE49-F238E27FC236}">
                <a16:creationId xmlns:a16="http://schemas.microsoft.com/office/drawing/2014/main" id="{573E17FE-E830-4FE2-82CD-529C2251B220}"/>
              </a:ext>
            </a:extLst>
          </p:cNvPr>
          <p:cNvSpPr>
            <a:spLocks xmlns:a="http://schemas.openxmlformats.org/drawingml/2006/main" noGrp="1"/>
          </p:cNvSpPr>
          <p:nvPr/>
        </p:nvSpPr>
        <p:spPr>
          <a:xfrm xmlns:a="http://schemas.openxmlformats.org/drawingml/2006/main">
            <a:off x="10534650" y="21907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A9B5C5"/>
                </a:solidFill>
                <a:latin typeface="Arial"/>
                <a:ea typeface="Arial"/>
                <a:cs typeface="Arial"/>
              </a:defRPr>
            </a:pPr>
            <a:r>
              <a:rPr sz="900" b="1">
                <a:solidFill>
                  <a:srgbClr val="A9B5C5"/>
                </a:solidFill>
                <a:latin typeface="Arial"/>
                <a:ea typeface="Arial"/>
                <a:cs typeface="Arial"/>
              </a:rPr>
              <a:t>CONTROL</a:t>
            </a:r>
          </a:p>
        </p:txBody>
      </p:sp>
      <p:sp>
        <p:nvSpPr>
          <p:cNvPr id="10" name="">
            <a:extLst xmlns:a="http://schemas.openxmlformats.org/drawingml/2006/main">
              <a:ext uri="{FF2B5EF4-FFF2-40B4-BE49-F238E27FC236}">
                <a16:creationId xmlns:a16="http://schemas.microsoft.com/office/drawing/2014/main" id="{40D5D763-34B0-4733-A34D-7D58E5D36F2E}"/>
              </a:ext>
            </a:extLst>
          </p:cNvPr>
          <p:cNvSpPr>
            <a:spLocks xmlns:a="http://schemas.openxmlformats.org/drawingml/2006/main" noGrp="1"/>
          </p:cNvSpPr>
          <p:nvPr/>
        </p:nvSpPr>
        <p:spPr>
          <a:xfrm xmlns:a="http://schemas.openxmlformats.org/drawingml/2006/main">
            <a:off x="7715250" y="2552700"/>
            <a:ext cx="3905250" cy="533400"/>
          </a:xfrm>
          <a:prstGeom xmlns:a="http://schemas.openxmlformats.org/drawingml/2006/main" prst="roundRect">
            <a:avLst>
              <a:gd name="adj" fmla="val 21429"/>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1" name="">
            <a:extLst xmlns:a="http://schemas.openxmlformats.org/drawingml/2006/main">
              <a:ext uri="{FF2B5EF4-FFF2-40B4-BE49-F238E27FC236}">
                <a16:creationId xmlns:a16="http://schemas.microsoft.com/office/drawing/2014/main" id="{5678F8AF-BC9E-405E-BB40-53B75E9AF4EB}"/>
              </a:ext>
            </a:extLst>
          </p:cNvPr>
          <p:cNvSpPr>
            <a:spLocks xmlns:a="http://schemas.openxmlformats.org/drawingml/2006/main" noGrp="1"/>
          </p:cNvSpPr>
          <p:nvPr/>
        </p:nvSpPr>
        <p:spPr>
          <a:xfrm xmlns:a="http://schemas.openxmlformats.org/drawingml/2006/main">
            <a:off x="7867650" y="2714625"/>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7A85"/>
                </a:solidFill>
                <a:latin typeface="Arial"/>
                <a:ea typeface="Arial"/>
                <a:cs typeface="Arial"/>
              </a:defRPr>
            </a:pPr>
            <a:r>
              <a:rPr sz="1125" b="1">
                <a:solidFill>
                  <a:srgbClr val="FF7A85"/>
                </a:solidFill>
                <a:latin typeface="Arial"/>
                <a:ea typeface="Arial"/>
                <a:cs typeface="Arial"/>
              </a:rPr>
              <a:t>DEVICE</a:t>
            </a:r>
          </a:p>
        </p:txBody>
      </p:sp>
      <p:sp>
        <p:nvSpPr>
          <p:cNvPr id="12" name="">
            <a:extLst xmlns:a="http://schemas.openxmlformats.org/drawingml/2006/main">
              <a:ext uri="{FF2B5EF4-FFF2-40B4-BE49-F238E27FC236}">
                <a16:creationId xmlns:a16="http://schemas.microsoft.com/office/drawing/2014/main" id="{03E8468A-E49C-40FC-BEBF-4ED878D543EB}"/>
              </a:ext>
            </a:extLst>
          </p:cNvPr>
          <p:cNvSpPr>
            <a:spLocks xmlns:a="http://schemas.openxmlformats.org/drawingml/2006/main" noGrp="1"/>
          </p:cNvSpPr>
          <p:nvPr/>
        </p:nvSpPr>
        <p:spPr>
          <a:xfrm xmlns:a="http://schemas.openxmlformats.org/drawingml/2006/main">
            <a:off x="9353550" y="2714625"/>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Arial"/>
                <a:ea typeface="Arial"/>
                <a:cs typeface="Arial"/>
              </a:defRPr>
            </a:pPr>
            <a:r>
              <a:rPr sz="1125" b="1">
                <a:solidFill>
                  <a:srgbClr val="FFFFFF"/>
                </a:solidFill>
                <a:latin typeface="Arial"/>
                <a:ea typeface="Arial"/>
                <a:cs typeface="Arial"/>
              </a:rPr>
              <a:t>compromise</a:t>
            </a:r>
          </a:p>
        </p:txBody>
      </p:sp>
      <p:sp>
        <p:nvSpPr>
          <p:cNvPr id="13" name="">
            <a:extLst xmlns:a="http://schemas.openxmlformats.org/drawingml/2006/main">
              <a:ext uri="{FF2B5EF4-FFF2-40B4-BE49-F238E27FC236}">
                <a16:creationId xmlns:a16="http://schemas.microsoft.com/office/drawing/2014/main" id="{E2F8FCB8-1822-466E-B9BC-0B45E7796EF6}"/>
              </a:ext>
            </a:extLst>
          </p:cNvPr>
          <p:cNvSpPr>
            <a:spLocks xmlns:a="http://schemas.openxmlformats.org/drawingml/2006/main" noGrp="1"/>
          </p:cNvSpPr>
          <p:nvPr/>
        </p:nvSpPr>
        <p:spPr>
          <a:xfrm xmlns:a="http://schemas.openxmlformats.org/drawingml/2006/main">
            <a:off x="10687050" y="2647950"/>
            <a:ext cx="742950" cy="361950"/>
          </a:xfrm>
          <a:prstGeom xmlns:a="http://schemas.openxmlformats.org/drawingml/2006/main" prst="roundRect">
            <a:avLst>
              <a:gd name="adj" fmla="val 50000"/>
            </a:avLst>
          </a:prstGeom>
          <a:solidFill xmlns:a="http://schemas.openxmlformats.org/drawingml/2006/main">
            <a:srgbClr val="FF7A85"/>
          </a:solidFill>
          <a:ln xmlns:a="http://schemas.openxmlformats.org/drawingml/2006/main" w="0">
            <a:solidFill>
              <a:srgbClr val="FF7A85"/>
            </a:solidFill>
            <a:prstDash val="solid"/>
          </a:ln>
        </p:spPr>
        <p:txBody>
          <a:bodyPr xmlns:a="http://schemas.openxmlformats.org/drawingml/2006/main"/>
          <a:lstStyle xmlns:a="http://schemas.openxmlformats.org/drawingml/2006/main"/>
          <a:p xmlns:a="http://schemas.openxmlformats.org/drawingml/2006/main"/>
        </p:txBody>
      </p:sp>
      <p:sp>
        <p:nvSpPr>
          <p:cNvPr id="14" name="">
            <a:extLst xmlns:a="http://schemas.openxmlformats.org/drawingml/2006/main">
              <a:ext uri="{FF2B5EF4-FFF2-40B4-BE49-F238E27FC236}">
                <a16:creationId xmlns:a16="http://schemas.microsoft.com/office/drawing/2014/main" id="{23076163-2A78-4DBB-B11B-77D6A3EF62F7}"/>
              </a:ext>
            </a:extLst>
          </p:cNvPr>
          <p:cNvSpPr>
            <a:spLocks xmlns:a="http://schemas.openxmlformats.org/drawingml/2006/main" noGrp="1"/>
          </p:cNvSpPr>
          <p:nvPr/>
        </p:nvSpPr>
        <p:spPr>
          <a:xfrm xmlns:a="http://schemas.openxmlformats.org/drawingml/2006/main">
            <a:off x="10801350" y="27241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882"/>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HARDEN</a:t>
            </a:r>
          </a:p>
        </p:txBody>
      </p:sp>
      <p:sp>
        <p:nvSpPr>
          <p:cNvPr id="15" name="">
            <a:extLst xmlns:a="http://schemas.openxmlformats.org/drawingml/2006/main">
              <a:ext uri="{FF2B5EF4-FFF2-40B4-BE49-F238E27FC236}">
                <a16:creationId xmlns:a16="http://schemas.microsoft.com/office/drawing/2014/main" id="{F9419472-E410-40F4-88E3-C861DB525372}"/>
              </a:ext>
            </a:extLst>
          </p:cNvPr>
          <p:cNvSpPr>
            <a:spLocks xmlns:a="http://schemas.openxmlformats.org/drawingml/2006/main" noGrp="1"/>
          </p:cNvSpPr>
          <p:nvPr/>
        </p:nvSpPr>
        <p:spPr>
          <a:xfrm xmlns:a="http://schemas.openxmlformats.org/drawingml/2006/main">
            <a:off x="7715250" y="3248025"/>
            <a:ext cx="3905250" cy="533400"/>
          </a:xfrm>
          <a:prstGeom xmlns:a="http://schemas.openxmlformats.org/drawingml/2006/main" prst="roundRect">
            <a:avLst>
              <a:gd name="adj" fmla="val 21429"/>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6" name="">
            <a:extLst xmlns:a="http://schemas.openxmlformats.org/drawingml/2006/main">
              <a:ext uri="{FF2B5EF4-FFF2-40B4-BE49-F238E27FC236}">
                <a16:creationId xmlns:a16="http://schemas.microsoft.com/office/drawing/2014/main" id="{49DD93C2-610C-45BB-8465-28BABB9DE717}"/>
              </a:ext>
            </a:extLst>
          </p:cNvPr>
          <p:cNvSpPr>
            <a:spLocks xmlns:a="http://schemas.openxmlformats.org/drawingml/2006/main" noGrp="1"/>
          </p:cNvSpPr>
          <p:nvPr/>
        </p:nvSpPr>
        <p:spPr>
          <a:xfrm xmlns:a="http://schemas.openxmlformats.org/drawingml/2006/main">
            <a:off x="7867650" y="340995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4C866"/>
                </a:solidFill>
                <a:latin typeface="Arial"/>
                <a:ea typeface="Arial"/>
                <a:cs typeface="Arial"/>
              </a:defRPr>
            </a:pPr>
            <a:r>
              <a:rPr sz="1125" b="1">
                <a:solidFill>
                  <a:srgbClr val="F4C866"/>
                </a:solidFill>
                <a:latin typeface="Arial"/>
                <a:ea typeface="Arial"/>
                <a:cs typeface="Arial"/>
              </a:rPr>
              <a:t>RECOVERY</a:t>
            </a:r>
          </a:p>
        </p:txBody>
      </p:sp>
      <p:sp>
        <p:nvSpPr>
          <p:cNvPr id="17" name="">
            <a:extLst xmlns:a="http://schemas.openxmlformats.org/drawingml/2006/main">
              <a:ext uri="{FF2B5EF4-FFF2-40B4-BE49-F238E27FC236}">
                <a16:creationId xmlns:a16="http://schemas.microsoft.com/office/drawing/2014/main" id="{2C140FC9-64C2-4A4B-8F17-53D41A3F0789}"/>
              </a:ext>
            </a:extLst>
          </p:cNvPr>
          <p:cNvSpPr>
            <a:spLocks xmlns:a="http://schemas.openxmlformats.org/drawingml/2006/main" noGrp="1"/>
          </p:cNvSpPr>
          <p:nvPr/>
        </p:nvSpPr>
        <p:spPr>
          <a:xfrm xmlns:a="http://schemas.openxmlformats.org/drawingml/2006/main">
            <a:off x="9353550" y="3409950"/>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Arial"/>
                <a:ea typeface="Arial"/>
                <a:cs typeface="Arial"/>
              </a:defRPr>
            </a:pPr>
            <a:r>
              <a:rPr sz="1125" b="1">
                <a:solidFill>
                  <a:srgbClr val="FFFFFF"/>
                </a:solidFill>
                <a:latin typeface="Arial"/>
                <a:ea typeface="Arial"/>
                <a:cs typeface="Arial"/>
              </a:rPr>
              <a:t>weak fallback</a:t>
            </a:r>
          </a:p>
        </p:txBody>
      </p:sp>
      <p:sp>
        <p:nvSpPr>
          <p:cNvPr id="18" name="">
            <a:extLst xmlns:a="http://schemas.openxmlformats.org/drawingml/2006/main">
              <a:ext uri="{FF2B5EF4-FFF2-40B4-BE49-F238E27FC236}">
                <a16:creationId xmlns:a16="http://schemas.microsoft.com/office/drawing/2014/main" id="{973B269D-931B-4DB4-845A-E118691DFEE1}"/>
              </a:ext>
            </a:extLst>
          </p:cNvPr>
          <p:cNvSpPr>
            <a:spLocks xmlns:a="http://schemas.openxmlformats.org/drawingml/2006/main" noGrp="1"/>
          </p:cNvSpPr>
          <p:nvPr/>
        </p:nvSpPr>
        <p:spPr>
          <a:xfrm xmlns:a="http://schemas.openxmlformats.org/drawingml/2006/main">
            <a:off x="10687050" y="3343275"/>
            <a:ext cx="742950" cy="361950"/>
          </a:xfrm>
          <a:prstGeom xmlns:a="http://schemas.openxmlformats.org/drawingml/2006/main" prst="roundRect">
            <a:avLst>
              <a:gd name="adj" fmla="val 50000"/>
            </a:avLst>
          </a:prstGeom>
          <a:solidFill xmlns:a="http://schemas.openxmlformats.org/drawingml/2006/main">
            <a:srgbClr val="F4C866"/>
          </a:solidFill>
          <a:ln xmlns:a="http://schemas.openxmlformats.org/drawingml/2006/main" w="0">
            <a:solidFill>
              <a:srgbClr val="F4C866"/>
            </a:solidFill>
            <a:prstDash val="solid"/>
          </a:ln>
        </p:spPr>
        <p:txBody>
          <a:bodyPr xmlns:a="http://schemas.openxmlformats.org/drawingml/2006/main"/>
          <a:lstStyle xmlns:a="http://schemas.openxmlformats.org/drawingml/2006/main"/>
          <a:p xmlns:a="http://schemas.openxmlformats.org/drawingml/2006/main"/>
        </p:txBody>
      </p:sp>
      <p:sp>
        <p:nvSpPr>
          <p:cNvPr id="19" name="">
            <a:extLst xmlns:a="http://schemas.openxmlformats.org/drawingml/2006/main">
              <a:ext uri="{FF2B5EF4-FFF2-40B4-BE49-F238E27FC236}">
                <a16:creationId xmlns:a16="http://schemas.microsoft.com/office/drawing/2014/main" id="{1FC1E979-8543-457A-A6FB-377826B1D435}"/>
              </a:ext>
            </a:extLst>
          </p:cNvPr>
          <p:cNvSpPr>
            <a:spLocks xmlns:a="http://schemas.openxmlformats.org/drawingml/2006/main" noGrp="1"/>
          </p:cNvSpPr>
          <p:nvPr/>
        </p:nvSpPr>
        <p:spPr>
          <a:xfrm xmlns:a="http://schemas.openxmlformats.org/drawingml/2006/main">
            <a:off x="10801350" y="3419475"/>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MODEL</a:t>
            </a:r>
          </a:p>
        </p:txBody>
      </p:sp>
      <p:sp>
        <p:nvSpPr>
          <p:cNvPr id="20" name="">
            <a:extLst xmlns:a="http://schemas.openxmlformats.org/drawingml/2006/main">
              <a:ext uri="{FF2B5EF4-FFF2-40B4-BE49-F238E27FC236}">
                <a16:creationId xmlns:a16="http://schemas.microsoft.com/office/drawing/2014/main" id="{8722B984-4101-4F70-8C63-8E536D7A8268}"/>
              </a:ext>
            </a:extLst>
          </p:cNvPr>
          <p:cNvSpPr>
            <a:spLocks xmlns:a="http://schemas.openxmlformats.org/drawingml/2006/main" noGrp="1"/>
          </p:cNvSpPr>
          <p:nvPr/>
        </p:nvSpPr>
        <p:spPr>
          <a:xfrm xmlns:a="http://schemas.openxmlformats.org/drawingml/2006/main">
            <a:off x="7715250" y="3943350"/>
            <a:ext cx="3905250" cy="533400"/>
          </a:xfrm>
          <a:prstGeom xmlns:a="http://schemas.openxmlformats.org/drawingml/2006/main" prst="roundRect">
            <a:avLst>
              <a:gd name="adj" fmla="val 21429"/>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21" name="">
            <a:extLst xmlns:a="http://schemas.openxmlformats.org/drawingml/2006/main">
              <a:ext uri="{FF2B5EF4-FFF2-40B4-BE49-F238E27FC236}">
                <a16:creationId xmlns:a16="http://schemas.microsoft.com/office/drawing/2014/main" id="{8D099D9A-4199-4660-B372-74B7856BFA33}"/>
              </a:ext>
            </a:extLst>
          </p:cNvPr>
          <p:cNvSpPr>
            <a:spLocks xmlns:a="http://schemas.openxmlformats.org/drawingml/2006/main" noGrp="1"/>
          </p:cNvSpPr>
          <p:nvPr/>
        </p:nvSpPr>
        <p:spPr>
          <a:xfrm xmlns:a="http://schemas.openxmlformats.org/drawingml/2006/main">
            <a:off x="7867650" y="4105275"/>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48D2C2"/>
                </a:solidFill>
                <a:latin typeface="Arial"/>
                <a:ea typeface="Arial"/>
                <a:cs typeface="Arial"/>
              </a:defRPr>
            </a:pPr>
            <a:r>
              <a:rPr sz="1125" b="1">
                <a:solidFill>
                  <a:srgbClr val="48D2C2"/>
                </a:solidFill>
                <a:latin typeface="Arial"/>
                <a:ea typeface="Arial"/>
                <a:cs typeface="Arial"/>
              </a:rPr>
              <a:t>SERVER</a:t>
            </a:r>
          </a:p>
        </p:txBody>
      </p:sp>
      <p:sp>
        <p:nvSpPr>
          <p:cNvPr id="22" name="">
            <a:extLst xmlns:a="http://schemas.openxmlformats.org/drawingml/2006/main">
              <a:ext uri="{FF2B5EF4-FFF2-40B4-BE49-F238E27FC236}">
                <a16:creationId xmlns:a16="http://schemas.microsoft.com/office/drawing/2014/main" id="{C99818DE-6EEE-4536-946A-F5306773E920}"/>
              </a:ext>
            </a:extLst>
          </p:cNvPr>
          <p:cNvSpPr>
            <a:spLocks xmlns:a="http://schemas.openxmlformats.org/drawingml/2006/main" noGrp="1"/>
          </p:cNvSpPr>
          <p:nvPr/>
        </p:nvSpPr>
        <p:spPr>
          <a:xfrm xmlns:a="http://schemas.openxmlformats.org/drawingml/2006/main">
            <a:off x="9353550" y="4105275"/>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Arial"/>
                <a:ea typeface="Arial"/>
                <a:cs typeface="Arial"/>
              </a:defRPr>
            </a:pPr>
            <a:r>
              <a:rPr sz="1125" b="1">
                <a:solidFill>
                  <a:srgbClr val="FFFFFF"/>
                </a:solidFill>
                <a:latin typeface="Arial"/>
                <a:ea typeface="Arial"/>
                <a:cs typeface="Arial"/>
              </a:rPr>
              <a:t>logic error</a:t>
            </a:r>
          </a:p>
        </p:txBody>
      </p:sp>
      <p:sp>
        <p:nvSpPr>
          <p:cNvPr id="23" name="">
            <a:extLst xmlns:a="http://schemas.openxmlformats.org/drawingml/2006/main">
              <a:ext uri="{FF2B5EF4-FFF2-40B4-BE49-F238E27FC236}">
                <a16:creationId xmlns:a16="http://schemas.microsoft.com/office/drawing/2014/main" id="{8B3E5DC7-BEB6-4D5C-AB1F-55B2155CFD67}"/>
              </a:ext>
            </a:extLst>
          </p:cNvPr>
          <p:cNvSpPr>
            <a:spLocks xmlns:a="http://schemas.openxmlformats.org/drawingml/2006/main" noGrp="1"/>
          </p:cNvSpPr>
          <p:nvPr/>
        </p:nvSpPr>
        <p:spPr>
          <a:xfrm xmlns:a="http://schemas.openxmlformats.org/drawingml/2006/main">
            <a:off x="10687050" y="4038600"/>
            <a:ext cx="742950" cy="361950"/>
          </a:xfrm>
          <a:prstGeom xmlns:a="http://schemas.openxmlformats.org/drawingml/2006/main" prst="roundRect">
            <a:avLst>
              <a:gd name="adj" fmla="val 50000"/>
            </a:avLst>
          </a:prstGeom>
          <a:solidFill xmlns:a="http://schemas.openxmlformats.org/drawingml/2006/main">
            <a:srgbClr val="48D2C2"/>
          </a:solidFill>
          <a:ln xmlns:a="http://schemas.openxmlformats.org/drawingml/2006/main" w="0">
            <a:solidFill>
              <a:srgbClr val="48D2C2"/>
            </a:solidFill>
            <a:prstDash val="solid"/>
          </a:ln>
        </p:spPr>
        <p:txBody>
          <a:bodyPr xmlns:a="http://schemas.openxmlformats.org/drawingml/2006/main"/>
          <a:lstStyle xmlns:a="http://schemas.openxmlformats.org/drawingml/2006/main"/>
          <a:p xmlns:a="http://schemas.openxmlformats.org/drawingml/2006/main"/>
        </p:txBody>
      </p:sp>
      <p:sp>
        <p:nvSpPr>
          <p:cNvPr id="24" name="">
            <a:extLst xmlns:a="http://schemas.openxmlformats.org/drawingml/2006/main">
              <a:ext uri="{FF2B5EF4-FFF2-40B4-BE49-F238E27FC236}">
                <a16:creationId xmlns:a16="http://schemas.microsoft.com/office/drawing/2014/main" id="{FC47FFBA-3411-4ABC-B4BA-9737D8F9DE5B}"/>
              </a:ext>
            </a:extLst>
          </p:cNvPr>
          <p:cNvSpPr>
            <a:spLocks xmlns:a="http://schemas.openxmlformats.org/drawingml/2006/main" noGrp="1"/>
          </p:cNvSpPr>
          <p:nvPr/>
        </p:nvSpPr>
        <p:spPr>
          <a:xfrm xmlns:a="http://schemas.openxmlformats.org/drawingml/2006/main">
            <a:off x="10801350" y="4114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VERIFY</a:t>
            </a:r>
          </a:p>
        </p:txBody>
      </p:sp>
      <p:sp>
        <p:nvSpPr>
          <p:cNvPr id="25" name="">
            <a:extLst xmlns:a="http://schemas.openxmlformats.org/drawingml/2006/main">
              <a:ext uri="{FF2B5EF4-FFF2-40B4-BE49-F238E27FC236}">
                <a16:creationId xmlns:a16="http://schemas.microsoft.com/office/drawing/2014/main" id="{1049E327-B29D-4664-8E82-C9D0D8D07AFC}"/>
              </a:ext>
            </a:extLst>
          </p:cNvPr>
          <p:cNvSpPr>
            <a:spLocks xmlns:a="http://schemas.openxmlformats.org/drawingml/2006/main" noGrp="1"/>
          </p:cNvSpPr>
          <p:nvPr/>
        </p:nvSpPr>
        <p:spPr>
          <a:xfrm xmlns:a="http://schemas.openxmlformats.org/drawingml/2006/main">
            <a:off x="7734300" y="48958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4C866"/>
                </a:solidFill>
                <a:latin typeface="Arial"/>
                <a:ea typeface="Arial"/>
                <a:cs typeface="Arial"/>
              </a:defRPr>
            </a:pPr>
            <a:r>
              <a:rPr sz="1125" b="1">
                <a:solidFill>
                  <a:srgbClr val="F4C866"/>
                </a:solidFill>
                <a:latin typeface="Arial"/>
                <a:ea typeface="Arial"/>
                <a:cs typeface="Arial"/>
              </a:rPr>
              <a:t>Precise claim</a:t>
            </a:r>
          </a:p>
        </p:txBody>
      </p:sp>
      <p:sp>
        <p:nvSpPr>
          <p:cNvPr id="26" name="">
            <a:extLst xmlns:a="http://schemas.openxmlformats.org/drawingml/2006/main">
              <a:ext uri="{FF2B5EF4-FFF2-40B4-BE49-F238E27FC236}">
                <a16:creationId xmlns:a16="http://schemas.microsoft.com/office/drawing/2014/main" id="{55A2837A-55C4-4377-B40F-8AE48A3B5096}"/>
              </a:ext>
            </a:extLst>
          </p:cNvPr>
          <p:cNvSpPr>
            <a:spLocks xmlns:a="http://schemas.openxmlformats.org/drawingml/2006/main" noGrp="1"/>
          </p:cNvSpPr>
          <p:nvPr/>
        </p:nvSpPr>
        <p:spPr>
          <a:xfrm xmlns:a="http://schemas.openxmlformats.org/drawingml/2006/main">
            <a:off x="7734300" y="5238750"/>
            <a:ext cx="3790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Passkeys improve phishing resistance under the WebAuthn trust model.</a:t>
            </a:r>
          </a:p>
        </p:txBody>
      </p:sp>
      <p:sp>
        <p:nvSpPr>
          <p:cNvPr id="27" name="">
            <a:extLst xmlns:a="http://schemas.openxmlformats.org/drawingml/2006/main">
              <a:ext uri="{FF2B5EF4-FFF2-40B4-BE49-F238E27FC236}">
                <a16:creationId xmlns:a16="http://schemas.microsoft.com/office/drawing/2014/main" id="{64998F60-F4D3-4EBB-91F7-7374E5054979}"/>
              </a:ext>
            </a:extLst>
          </p:cNvPr>
          <p:cNvSpPr>
            <a:spLocks xmlns:a="http://schemas.openxmlformats.org/drawingml/2006/main" noGrp="1"/>
          </p:cNvSpPr>
          <p:nvPr/>
        </p:nvSpPr>
        <p:spPr>
          <a:xfrm xmlns:a="http://schemas.openxmlformats.org/drawingml/2006/main">
            <a:off x="514350" y="6524625"/>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0">
                <a:solidFill>
                  <a:srgbClr val="A9B5C5"/>
                </a:solidFill>
                <a:latin typeface="Arial"/>
                <a:ea typeface="Arial"/>
                <a:cs typeface="Arial"/>
              </a:defRPr>
            </a:pPr>
            <a:r>
              <a:rPr sz="750" b="0">
                <a:solidFill>
                  <a:srgbClr val="A9B5C5"/>
                </a:solidFill>
                <a:latin typeface="Arial"/>
                <a:ea typeface="Arial"/>
                <a:cs typeface="Arial"/>
              </a:rPr>
              <a:t>Sources: W3C WebAuthn Level 3; NIST SP 800-63B-4.</a:t>
            </a:r>
          </a:p>
        </p:txBody>
      </p:sp>
    </p:spTree>
    <p:extLst>
      <p:ext uri="{BB962C8B-B14F-4D97-AF65-F5344CB8AC3E}">
        <p14:creationId xmlns:p14="http://schemas.microsoft.com/office/powerpoint/2010/main" val="1340511939"/>
      </p:ext>
    </p:extLst>
  </p:cSld>
</p:sld>
</file>

<file path=ppt/slides/slide10.xml><?xml version="1.0" encoding="utf-8"?>
<p:sld xmlns:p="http://schemas.openxmlformats.org/presentationml/2006/main">
  <p:cSld>
    <p:bg>
      <p:bgPr>
        <a:solidFill xmlns:a="http://schemas.openxmlformats.org/drawingml/2006/main">
          <a:srgbClr val="07111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34DFE8F-1A70-4B52-924C-BA7F1FD9CD1B}"/>
              </a:ext>
            </a:extLst>
          </p:cNvPr>
          <p:cNvSpPr>
            <a:spLocks xmlns:a="http://schemas.openxmlformats.org/drawingml/2006/main" noGrp="1"/>
          </p:cNvSpPr>
          <p:nvPr/>
        </p:nvSpPr>
        <p:spPr>
          <a:xfrm xmlns:a="http://schemas.openxmlformats.org/drawingml/2006/main">
            <a:off x="514350" y="2857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48D2C2"/>
                </a:solidFill>
                <a:latin typeface="Arial"/>
                <a:ea typeface="Arial"/>
                <a:cs typeface="Arial"/>
              </a:defRPr>
            </a:pPr>
            <a:r>
              <a:rPr sz="975" b="1">
                <a:solidFill>
                  <a:srgbClr val="48D2C2"/>
                </a:solidFill>
                <a:latin typeface="Arial"/>
                <a:ea typeface="Arial"/>
                <a:cs typeface="Arial"/>
              </a:rPr>
              <a:t>AUTHLAB  /  Q&amp;A</a:t>
            </a:r>
          </a:p>
        </p:txBody>
      </p:sp>
      <p:sp>
        <p:nvSpPr>
          <p:cNvPr id="2" name="">
            <a:extLst xmlns:a="http://schemas.openxmlformats.org/drawingml/2006/main">
              <a:ext uri="{FF2B5EF4-FFF2-40B4-BE49-F238E27FC236}">
                <a16:creationId xmlns:a16="http://schemas.microsoft.com/office/drawing/2014/main" id="{6829035B-E231-4D3F-9657-244CB307742A}"/>
              </a:ext>
            </a:extLst>
          </p:cNvPr>
          <p:cNvSpPr>
            <a:spLocks xmlns:a="http://schemas.openxmlformats.org/drawingml/2006/main" noGrp="1"/>
          </p:cNvSpPr>
          <p:nvPr/>
        </p:nvSpPr>
        <p:spPr>
          <a:xfrm xmlns:a="http://schemas.openxmlformats.org/drawingml/2006/main">
            <a:off x="11334750" y="295275"/>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A9B5C5"/>
                </a:solidFill>
                <a:latin typeface="Arial"/>
                <a:ea typeface="Arial"/>
                <a:cs typeface="Arial"/>
              </a:defRPr>
            </a:pPr>
            <a:r>
              <a:rPr sz="975" b="1">
                <a:solidFill>
                  <a:srgbClr val="A9B5C5"/>
                </a:solidFill>
                <a:latin typeface="Arial"/>
                <a:ea typeface="Arial"/>
                <a:cs typeface="Arial"/>
              </a:rPr>
              <a:t>Q2</a:t>
            </a:r>
          </a:p>
        </p:txBody>
      </p:sp>
      <p:sp>
        <p:nvSpPr>
          <p:cNvPr id="3" name="">
            <a:extLst xmlns:a="http://schemas.openxmlformats.org/drawingml/2006/main">
              <a:ext uri="{FF2B5EF4-FFF2-40B4-BE49-F238E27FC236}">
                <a16:creationId xmlns:a16="http://schemas.microsoft.com/office/drawing/2014/main" id="{0F7247AC-D9BE-4631-B698-D8FAAF4BAF16}"/>
              </a:ext>
            </a:extLst>
          </p:cNvPr>
          <p:cNvSpPr>
            <a:spLocks xmlns:a="http://schemas.openxmlformats.org/drawingml/2006/main" noGrp="1"/>
          </p:cNvSpPr>
          <p:nvPr/>
        </p:nvSpPr>
        <p:spPr>
          <a:xfrm xmlns:a="http://schemas.openxmlformats.org/drawingml/2006/main">
            <a:off x="514350" y="590550"/>
            <a:ext cx="11182350" cy="19050"/>
          </a:xfrm>
          <a:prstGeom xmlns:a="http://schemas.openxmlformats.org/drawingml/2006/main" prst="rect">
            <a:avLst/>
          </a:prstGeom>
          <a:solidFill xmlns:a="http://schemas.openxmlformats.org/drawingml/2006/main">
            <a:srgbClr val="263B58"/>
          </a:solidFill>
          <a:ln xmlns:a="http://schemas.openxmlformats.org/drawingml/2006/main" w="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2949C2C8-F216-4D4D-9CAA-83B80C1ECC2D}"/>
              </a:ext>
            </a:extLst>
          </p:cNvPr>
          <p:cNvSpPr>
            <a:spLocks xmlns:a="http://schemas.openxmlformats.org/drawingml/2006/main" noGrp="1"/>
          </p:cNvSpPr>
          <p:nvPr/>
        </p:nvSpPr>
        <p:spPr>
          <a:xfrm xmlns:a="http://schemas.openxmlformats.org/drawingml/2006/main">
            <a:off x="514350" y="800100"/>
            <a:ext cx="11049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FFFFFF"/>
                </a:solidFill>
                <a:latin typeface="Arial"/>
                <a:ea typeface="Arial"/>
                <a:cs typeface="Arial"/>
              </a:defRPr>
            </a:pPr>
            <a:r>
              <a:rPr sz="3150" b="1">
                <a:solidFill>
                  <a:srgbClr val="FFFFFF"/>
                </a:solidFill>
                <a:latin typeface="Arial"/>
                <a:ea typeface="Arial"/>
                <a:cs typeface="Arial"/>
              </a:rPr>
              <a:t>Why can TOTP still be relayed in real time?</a:t>
            </a:r>
          </a:p>
        </p:txBody>
      </p:sp>
      <p:sp>
        <p:nvSpPr>
          <p:cNvPr id="5" name="">
            <a:extLst xmlns:a="http://schemas.openxmlformats.org/drawingml/2006/main">
              <a:ext uri="{FF2B5EF4-FFF2-40B4-BE49-F238E27FC236}">
                <a16:creationId xmlns:a16="http://schemas.microsoft.com/office/drawing/2014/main" id="{A716948D-9301-447D-803E-A3B9D1EF7CCD}"/>
              </a:ext>
            </a:extLst>
          </p:cNvPr>
          <p:cNvSpPr>
            <a:spLocks xmlns:a="http://schemas.openxmlformats.org/drawingml/2006/main" noGrp="1"/>
          </p:cNvSpPr>
          <p:nvPr/>
        </p:nvSpPr>
        <p:spPr>
          <a:xfrm xmlns:a="http://schemas.openxmlformats.org/drawingml/2006/main">
            <a:off x="533400" y="1485900"/>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A9B5C5"/>
                </a:solidFill>
                <a:latin typeface="Arial"/>
                <a:ea typeface="Arial"/>
                <a:cs typeface="Arial"/>
              </a:defRPr>
            </a:pPr>
            <a:r>
              <a:rPr sz="1425" b="0">
                <a:solidFill>
                  <a:srgbClr val="A9B5C5"/>
                </a:solidFill>
                <a:latin typeface="Arial"/>
                <a:ea typeface="Arial"/>
                <a:cs typeface="Arial"/>
              </a:rPr>
              <a:t>Expiry limits time; it does not bind the code to the intended verifier.</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e306d5abecc349c0"/>
          <a:srcRect xmlns:a="http://schemas.openxmlformats.org/drawingml/2006/main" l="1199" t="0" r="1199" b="0"/>
          <a:stretch xmlns:a="http://schemas.openxmlformats.org/drawingml/2006/main">
            <a:fillRect l="0" t="0" r="0" b="0"/>
          </a:stretch>
        </p:blipFill>
        <p:spPr>
          <a:xfrm xmlns:a="http://schemas.openxmlformats.org/drawingml/2006/main" flipH="0" flipV="0">
            <a:off x="514350" y="2057400"/>
            <a:ext cx="7239000" cy="4171950"/>
          </a:xfrm>
          <a:prstGeom xmlns:a="http://schemas.openxmlformats.org/drawingml/2006/main" prst="roundRect">
            <a:avLst/>
          </a:prstGeom>
        </p:spPr>
      </p:pic>
      <p:sp>
        <p:nvSpPr>
          <p:cNvPr id="7" name="">
            <a:extLst xmlns:a="http://schemas.openxmlformats.org/drawingml/2006/main">
              <a:ext uri="{FF2B5EF4-FFF2-40B4-BE49-F238E27FC236}">
                <a16:creationId xmlns:a16="http://schemas.microsoft.com/office/drawing/2014/main" id="{DB49E91D-5889-4933-BC65-D45476F6E825}"/>
              </a:ext>
            </a:extLst>
          </p:cNvPr>
          <p:cNvSpPr>
            <a:spLocks xmlns:a="http://schemas.openxmlformats.org/drawingml/2006/main" noGrp="1"/>
          </p:cNvSpPr>
          <p:nvPr/>
        </p:nvSpPr>
        <p:spPr>
          <a:xfrm xmlns:a="http://schemas.openxmlformats.org/drawingml/2006/main">
            <a:off x="8115300" y="2076450"/>
            <a:ext cx="3409950" cy="1981200"/>
          </a:xfrm>
          <a:prstGeom xmlns:a="http://schemas.openxmlformats.org/drawingml/2006/main" prst="roundRect">
            <a:avLst>
              <a:gd name="adj" fmla="val 7692"/>
            </a:avLst>
          </a:prstGeom>
          <a:solidFill xmlns:a="http://schemas.openxmlformats.org/drawingml/2006/main">
            <a:srgbClr val="13243D"/>
          </a:solidFill>
          <a:ln xmlns:a="http://schemas.openxmlformats.org/drawingml/2006/main" w="1905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8" name="">
            <a:extLst xmlns:a="http://schemas.openxmlformats.org/drawingml/2006/main">
              <a:ext uri="{FF2B5EF4-FFF2-40B4-BE49-F238E27FC236}">
                <a16:creationId xmlns:a16="http://schemas.microsoft.com/office/drawing/2014/main" id="{F2B553D4-7098-4AEC-8FA0-2886C39062FA}"/>
              </a:ext>
            </a:extLst>
          </p:cNvPr>
          <p:cNvSpPr>
            <a:spLocks xmlns:a="http://schemas.openxmlformats.org/drawingml/2006/main" noGrp="1"/>
          </p:cNvSpPr>
          <p:nvPr/>
        </p:nvSpPr>
        <p:spPr>
          <a:xfrm xmlns:a="http://schemas.openxmlformats.org/drawingml/2006/main">
            <a:off x="8362950" y="23431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F4C866"/>
                </a:solidFill>
                <a:latin typeface="Arial"/>
                <a:ea typeface="Arial"/>
                <a:cs typeface="Arial"/>
              </a:defRPr>
            </a:pPr>
            <a:r>
              <a:rPr sz="1050" b="1">
                <a:solidFill>
                  <a:srgbClr val="F4C866"/>
                </a:solidFill>
                <a:latin typeface="Arial"/>
                <a:ea typeface="Arial"/>
                <a:cs typeface="Arial"/>
              </a:rPr>
              <a:t>ATTACK PATH</a:t>
            </a:r>
          </a:p>
        </p:txBody>
      </p:sp>
      <p:sp>
        <p:nvSpPr>
          <p:cNvPr id="9" name="">
            <a:extLst xmlns:a="http://schemas.openxmlformats.org/drawingml/2006/main">
              <a:ext uri="{FF2B5EF4-FFF2-40B4-BE49-F238E27FC236}">
                <a16:creationId xmlns:a16="http://schemas.microsoft.com/office/drawing/2014/main" id="{EB0C2FD3-C35E-4D0A-8FE1-37266D4D658C}"/>
              </a:ext>
            </a:extLst>
          </p:cNvPr>
          <p:cNvSpPr>
            <a:spLocks xmlns:a="http://schemas.openxmlformats.org/drawingml/2006/main" noGrp="1"/>
          </p:cNvSpPr>
          <p:nvPr/>
        </p:nvSpPr>
        <p:spPr>
          <a:xfrm xmlns:a="http://schemas.openxmlformats.org/drawingml/2006/main">
            <a:off x="8362950" y="2800350"/>
            <a:ext cx="2762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802"/>
          </a:bodyPr>
          <a:lstStyle xmlns:a="http://schemas.openxmlformats.org/drawingml/2006/main"/>
          <a:p xmlns:a="http://schemas.openxmlformats.org/drawingml/2006/main">
            <a:pPr algn="l">
              <a:buNone/>
              <a:defRPr sz="1950" b="1">
                <a:solidFill>
                  <a:srgbClr val="FFFFFF"/>
                </a:solidFill>
                <a:latin typeface="Arial"/>
                <a:ea typeface="Arial"/>
                <a:cs typeface="Arial"/>
              </a:defRPr>
            </a:pPr>
            <a:r>
              <a:rPr sz="1950" b="1">
                <a:solidFill>
                  <a:srgbClr val="FFFFFF"/>
                </a:solidFill>
                <a:latin typeface="Arial"/>
                <a:ea typeface="Arial"/>
                <a:cs typeface="Arial"/>
              </a:rPr>
              <a:t>Victim enters code.</a:t>
            </a:r>
          </a:p>
          <a:p xmlns:a="http://schemas.openxmlformats.org/drawingml/2006/main">
            <a:pPr algn="l">
              <a:buNone/>
              <a:defRPr sz="1950" b="1">
                <a:solidFill>
                  <a:srgbClr val="FFFFFF"/>
                </a:solidFill>
                <a:latin typeface="Arial"/>
                <a:ea typeface="Arial"/>
                <a:cs typeface="Arial"/>
              </a:defRPr>
            </a:pPr>
            <a:r>
              <a:rPr sz="1950" b="1">
                <a:solidFill>
                  <a:srgbClr val="FFFFFF"/>
                </a:solidFill>
                <a:latin typeface="Arial"/>
                <a:ea typeface="Arial"/>
                <a:cs typeface="Arial"/>
              </a:rPr>
              <a:t>Proxy sends it onward.</a:t>
            </a:r>
          </a:p>
          <a:p xmlns:a="http://schemas.openxmlformats.org/drawingml/2006/main">
            <a:pPr algn="l">
              <a:buNone/>
              <a:defRPr sz="1950" b="1">
                <a:solidFill>
                  <a:srgbClr val="FFFFFF"/>
                </a:solidFill>
                <a:latin typeface="Arial"/>
                <a:ea typeface="Arial"/>
                <a:cs typeface="Arial"/>
              </a:defRPr>
            </a:pPr>
            <a:r>
              <a:rPr sz="1950" b="1">
                <a:solidFill>
                  <a:srgbClr val="FFFFFF"/>
                </a:solidFill>
                <a:latin typeface="Arial"/>
                <a:ea typeface="Arial"/>
                <a:cs typeface="Arial"/>
              </a:rPr>
              <a:t>Real service accepts it.</a:t>
            </a:r>
          </a:p>
          <a:p xmlns:a="http://schemas.openxmlformats.org/drawingml/2006/main">
            <a:pPr algn="l">
              <a:buNone/>
              <a:defRPr sz="1950" b="1">
                <a:solidFill>
                  <a:srgbClr val="FFFFFF"/>
                </a:solidFill>
                <a:latin typeface="Arial"/>
                <a:ea typeface="Arial"/>
                <a:cs typeface="Arial"/>
              </a:defRPr>
            </a:pPr>
            <a:r>
              <a:rPr sz="1950" b="1">
                <a:solidFill>
                  <a:srgbClr val="FFFFFF"/>
                </a:solidFill>
                <a:latin typeface="Arial"/>
                <a:ea typeface="Arial"/>
                <a:cs typeface="Arial"/>
              </a:rPr>
              <a:t>Attacker receives session.</a:t>
            </a:r>
          </a:p>
        </p:txBody>
      </p:sp>
      <p:sp>
        <p:nvSpPr>
          <p:cNvPr id="10" name="">
            <a:extLst xmlns:a="http://schemas.openxmlformats.org/drawingml/2006/main">
              <a:ext uri="{FF2B5EF4-FFF2-40B4-BE49-F238E27FC236}">
                <a16:creationId xmlns:a16="http://schemas.microsoft.com/office/drawing/2014/main" id="{24CD7D67-7141-468F-A050-C1D5656B0071}"/>
              </a:ext>
            </a:extLst>
          </p:cNvPr>
          <p:cNvSpPr>
            <a:spLocks xmlns:a="http://schemas.openxmlformats.org/drawingml/2006/main" noGrp="1"/>
          </p:cNvSpPr>
          <p:nvPr/>
        </p:nvSpPr>
        <p:spPr>
          <a:xfrm xmlns:a="http://schemas.openxmlformats.org/drawingml/2006/main">
            <a:off x="8115300" y="4343400"/>
            <a:ext cx="3409950" cy="1695450"/>
          </a:xfrm>
          <a:prstGeom xmlns:a="http://schemas.openxmlformats.org/drawingml/2006/main" prst="roundRect">
            <a:avLst>
              <a:gd name="adj" fmla="val 8989"/>
            </a:avLst>
          </a:prstGeom>
          <a:solidFill xmlns:a="http://schemas.openxmlformats.org/drawingml/2006/main">
            <a:srgbClr val="1B2838"/>
          </a:solidFill>
          <a:ln xmlns:a="http://schemas.openxmlformats.org/drawingml/2006/main" w="1905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1" name="">
            <a:extLst xmlns:a="http://schemas.openxmlformats.org/drawingml/2006/main">
              <a:ext uri="{FF2B5EF4-FFF2-40B4-BE49-F238E27FC236}">
                <a16:creationId xmlns:a16="http://schemas.microsoft.com/office/drawing/2014/main" id="{A7C7BA8C-72A5-4018-B935-779506B83B37}"/>
              </a:ext>
            </a:extLst>
          </p:cNvPr>
          <p:cNvSpPr>
            <a:spLocks xmlns:a="http://schemas.openxmlformats.org/drawingml/2006/main" noGrp="1"/>
          </p:cNvSpPr>
          <p:nvPr/>
        </p:nvSpPr>
        <p:spPr>
          <a:xfrm xmlns:a="http://schemas.openxmlformats.org/drawingml/2006/main">
            <a:off x="8362950" y="461010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48D2C2"/>
                </a:solidFill>
                <a:latin typeface="Arial"/>
                <a:ea typeface="Arial"/>
                <a:cs typeface="Arial"/>
              </a:defRPr>
            </a:pPr>
            <a:r>
              <a:rPr sz="1125" b="1">
                <a:solidFill>
                  <a:srgbClr val="48D2C2"/>
                </a:solidFill>
                <a:latin typeface="Arial"/>
                <a:ea typeface="Arial"/>
                <a:cs typeface="Arial"/>
              </a:rPr>
              <a:t>Key distinction</a:t>
            </a:r>
          </a:p>
        </p:txBody>
      </p:sp>
      <p:sp>
        <p:nvSpPr>
          <p:cNvPr id="12" name="">
            <a:extLst xmlns:a="http://schemas.openxmlformats.org/drawingml/2006/main">
              <a:ext uri="{FF2B5EF4-FFF2-40B4-BE49-F238E27FC236}">
                <a16:creationId xmlns:a16="http://schemas.microsoft.com/office/drawing/2014/main" id="{0D6C199A-7114-46AC-860C-1508978D2DD3}"/>
              </a:ext>
            </a:extLst>
          </p:cNvPr>
          <p:cNvSpPr>
            <a:spLocks xmlns:a="http://schemas.openxmlformats.org/drawingml/2006/main" noGrp="1"/>
          </p:cNvSpPr>
          <p:nvPr/>
        </p:nvSpPr>
        <p:spPr>
          <a:xfrm xmlns:a="http://schemas.openxmlformats.org/drawingml/2006/main">
            <a:off x="8362950" y="4953000"/>
            <a:ext cx="27813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0">
                <a:solidFill>
                  <a:srgbClr val="A9B5C5"/>
                </a:solidFill>
                <a:latin typeface="Arial"/>
                <a:ea typeface="Arial"/>
                <a:cs typeface="Arial"/>
              </a:defRPr>
            </a:pPr>
            <a:r>
              <a:rPr sz="1350" b="0">
                <a:solidFill>
                  <a:srgbClr val="A9B5C5"/>
                </a:solidFill>
                <a:latin typeface="Arial"/>
                <a:ea typeface="Arial"/>
                <a:cs typeface="Arial"/>
              </a:rPr>
              <a:t>Short-lived output can resist later replay and still be phished through immediate relay.</a:t>
            </a:r>
          </a:p>
        </p:txBody>
      </p:sp>
      <p:sp>
        <p:nvSpPr>
          <p:cNvPr id="13" name="">
            <a:extLst xmlns:a="http://schemas.openxmlformats.org/drawingml/2006/main">
              <a:ext uri="{FF2B5EF4-FFF2-40B4-BE49-F238E27FC236}">
                <a16:creationId xmlns:a16="http://schemas.microsoft.com/office/drawing/2014/main" id="{88D634FC-D8D7-4F8A-94E7-B552BD19AA89}"/>
              </a:ext>
            </a:extLst>
          </p:cNvPr>
          <p:cNvSpPr>
            <a:spLocks xmlns:a="http://schemas.openxmlformats.org/drawingml/2006/main" noGrp="1"/>
          </p:cNvSpPr>
          <p:nvPr/>
        </p:nvSpPr>
        <p:spPr>
          <a:xfrm xmlns:a="http://schemas.openxmlformats.org/drawingml/2006/main">
            <a:off x="514350" y="6524625"/>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0">
                <a:solidFill>
                  <a:srgbClr val="A9B5C5"/>
                </a:solidFill>
                <a:latin typeface="Arial"/>
                <a:ea typeface="Arial"/>
                <a:cs typeface="Arial"/>
              </a:defRPr>
            </a:pPr>
            <a:r>
              <a:rPr sz="750" b="0">
                <a:solidFill>
                  <a:srgbClr val="A9B5C5"/>
                </a:solidFill>
                <a:latin typeface="Arial"/>
                <a:ea typeface="Arial"/>
                <a:cs typeface="Arial"/>
              </a:rPr>
              <a:t>Source: NIST SP 800-63B-4, phishing-resistance criteria.</a:t>
            </a:r>
          </a:p>
        </p:txBody>
      </p:sp>
    </p:spTree>
    <p:extLst>
      <p:ext uri="{BB962C8B-B14F-4D97-AF65-F5344CB8AC3E}">
        <p14:creationId xmlns:p14="http://schemas.microsoft.com/office/powerpoint/2010/main" val="1677917313"/>
      </p:ext>
    </p:extLst>
  </p:cSld>
</p:sld>
</file>

<file path=ppt/slides/slide11.xml><?xml version="1.0" encoding="utf-8"?>
<p:sld xmlns:p="http://schemas.openxmlformats.org/presentationml/2006/main">
  <p:cSld>
    <p:bg>
      <p:bgPr>
        <a:solidFill xmlns:a="http://schemas.openxmlformats.org/drawingml/2006/main">
          <a:srgbClr val="07111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BC2FC30-20DA-41B9-B082-FF50FA79B052}"/>
              </a:ext>
            </a:extLst>
          </p:cNvPr>
          <p:cNvSpPr>
            <a:spLocks xmlns:a="http://schemas.openxmlformats.org/drawingml/2006/main" noGrp="1"/>
          </p:cNvSpPr>
          <p:nvPr/>
        </p:nvSpPr>
        <p:spPr>
          <a:xfrm xmlns:a="http://schemas.openxmlformats.org/drawingml/2006/main">
            <a:off x="514350" y="2857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48D2C2"/>
                </a:solidFill>
                <a:latin typeface="Arial"/>
                <a:ea typeface="Arial"/>
                <a:cs typeface="Arial"/>
              </a:defRPr>
            </a:pPr>
            <a:r>
              <a:rPr sz="975" b="1">
                <a:solidFill>
                  <a:srgbClr val="48D2C2"/>
                </a:solidFill>
                <a:latin typeface="Arial"/>
                <a:ea typeface="Arial"/>
                <a:cs typeface="Arial"/>
              </a:rPr>
              <a:t>AUTHLAB  /  Q&amp;A</a:t>
            </a:r>
          </a:p>
        </p:txBody>
      </p:sp>
      <p:sp>
        <p:nvSpPr>
          <p:cNvPr id="2" name="">
            <a:extLst xmlns:a="http://schemas.openxmlformats.org/drawingml/2006/main">
              <a:ext uri="{FF2B5EF4-FFF2-40B4-BE49-F238E27FC236}">
                <a16:creationId xmlns:a16="http://schemas.microsoft.com/office/drawing/2014/main" id="{95C723E0-CBE7-4135-80C1-6309D258C6C7}"/>
              </a:ext>
            </a:extLst>
          </p:cNvPr>
          <p:cNvSpPr>
            <a:spLocks xmlns:a="http://schemas.openxmlformats.org/drawingml/2006/main" noGrp="1"/>
          </p:cNvSpPr>
          <p:nvPr/>
        </p:nvSpPr>
        <p:spPr>
          <a:xfrm xmlns:a="http://schemas.openxmlformats.org/drawingml/2006/main">
            <a:off x="11334750" y="295275"/>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A9B5C5"/>
                </a:solidFill>
                <a:latin typeface="Arial"/>
                <a:ea typeface="Arial"/>
                <a:cs typeface="Arial"/>
              </a:defRPr>
            </a:pPr>
            <a:r>
              <a:rPr sz="975" b="1">
                <a:solidFill>
                  <a:srgbClr val="A9B5C5"/>
                </a:solidFill>
                <a:latin typeface="Arial"/>
                <a:ea typeface="Arial"/>
                <a:cs typeface="Arial"/>
              </a:rPr>
              <a:t>Q3</a:t>
            </a:r>
          </a:p>
        </p:txBody>
      </p:sp>
      <p:sp>
        <p:nvSpPr>
          <p:cNvPr id="3" name="">
            <a:extLst xmlns:a="http://schemas.openxmlformats.org/drawingml/2006/main">
              <a:ext uri="{FF2B5EF4-FFF2-40B4-BE49-F238E27FC236}">
                <a16:creationId xmlns:a16="http://schemas.microsoft.com/office/drawing/2014/main" id="{1D4EAD31-092F-4544-AB44-DA837FE47126}"/>
              </a:ext>
            </a:extLst>
          </p:cNvPr>
          <p:cNvSpPr>
            <a:spLocks xmlns:a="http://schemas.openxmlformats.org/drawingml/2006/main" noGrp="1"/>
          </p:cNvSpPr>
          <p:nvPr/>
        </p:nvSpPr>
        <p:spPr>
          <a:xfrm xmlns:a="http://schemas.openxmlformats.org/drawingml/2006/main">
            <a:off x="514350" y="590550"/>
            <a:ext cx="11182350" cy="19050"/>
          </a:xfrm>
          <a:prstGeom xmlns:a="http://schemas.openxmlformats.org/drawingml/2006/main" prst="rect">
            <a:avLst/>
          </a:prstGeom>
          <a:solidFill xmlns:a="http://schemas.openxmlformats.org/drawingml/2006/main">
            <a:srgbClr val="263B58"/>
          </a:solidFill>
          <a:ln xmlns:a="http://schemas.openxmlformats.org/drawingml/2006/main" w="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6C044917-BE2C-48FA-A393-8BCEDE8648BA}"/>
              </a:ext>
            </a:extLst>
          </p:cNvPr>
          <p:cNvSpPr>
            <a:spLocks xmlns:a="http://schemas.openxmlformats.org/drawingml/2006/main" noGrp="1"/>
          </p:cNvSpPr>
          <p:nvPr/>
        </p:nvSpPr>
        <p:spPr>
          <a:xfrm xmlns:a="http://schemas.openxmlformats.org/drawingml/2006/main">
            <a:off x="514350" y="800100"/>
            <a:ext cx="11049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FFFFFF"/>
                </a:solidFill>
                <a:latin typeface="Arial"/>
                <a:ea typeface="Arial"/>
                <a:cs typeface="Arial"/>
              </a:defRPr>
            </a:pPr>
            <a:r>
              <a:rPr sz="3150" b="1">
                <a:solidFill>
                  <a:srgbClr val="FFFFFF"/>
                </a:solidFill>
                <a:latin typeface="Arial"/>
                <a:ea typeface="Arial"/>
                <a:cs typeface="Arial"/>
              </a:rPr>
              <a:t>The optional browser demo is not a secure login</a:t>
            </a:r>
          </a:p>
        </p:txBody>
      </p:sp>
      <p:sp>
        <p:nvSpPr>
          <p:cNvPr id="5" name="">
            <a:extLst xmlns:a="http://schemas.openxmlformats.org/drawingml/2006/main">
              <a:ext uri="{FF2B5EF4-FFF2-40B4-BE49-F238E27FC236}">
                <a16:creationId xmlns:a16="http://schemas.microsoft.com/office/drawing/2014/main" id="{B325E185-247C-43F3-87D0-3F9BC76A4CAD}"/>
              </a:ext>
            </a:extLst>
          </p:cNvPr>
          <p:cNvSpPr>
            <a:spLocks xmlns:a="http://schemas.openxmlformats.org/drawingml/2006/main" noGrp="1"/>
          </p:cNvSpPr>
          <p:nvPr/>
        </p:nvSpPr>
        <p:spPr>
          <a:xfrm xmlns:a="http://schemas.openxmlformats.org/drawingml/2006/main">
            <a:off x="533400" y="1485900"/>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A9B5C5"/>
                </a:solidFill>
                <a:latin typeface="Arial"/>
                <a:ea typeface="Arial"/>
                <a:cs typeface="Arial"/>
              </a:defRPr>
            </a:pPr>
            <a:r>
              <a:rPr sz="1425" b="0">
                <a:solidFill>
                  <a:srgbClr val="A9B5C5"/>
                </a:solidFill>
                <a:latin typeface="Arial"/>
                <a:ea typeface="Arial"/>
                <a:cs typeface="Arial"/>
              </a:rPr>
              <a:t>It observes API boundaries but deliberately omits production server responsibilities.</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adfcf20f4a224d45"/>
          <a:srcRect xmlns:a="http://schemas.openxmlformats.org/drawingml/2006/main" l="0" t="123" r="0" b="123"/>
          <a:stretch xmlns:a="http://schemas.openxmlformats.org/drawingml/2006/main">
            <a:fillRect l="0" t="0" r="0" b="0"/>
          </a:stretch>
        </p:blipFill>
        <p:spPr>
          <a:xfrm xmlns:a="http://schemas.openxmlformats.org/drawingml/2006/main" flipH="0" flipV="0">
            <a:off x="514350" y="2114550"/>
            <a:ext cx="6858000" cy="3848100"/>
          </a:xfrm>
          <a:prstGeom xmlns:a="http://schemas.openxmlformats.org/drawingml/2006/main" prst="roundRect">
            <a:avLst/>
          </a:prstGeom>
        </p:spPr>
      </p:pic>
      <p:sp>
        <p:nvSpPr>
          <p:cNvPr id="7" name="">
            <a:extLst xmlns:a="http://schemas.openxmlformats.org/drawingml/2006/main">
              <a:ext uri="{FF2B5EF4-FFF2-40B4-BE49-F238E27FC236}">
                <a16:creationId xmlns:a16="http://schemas.microsoft.com/office/drawing/2014/main" id="{2AE02B77-33C6-4593-8C90-633125C4A48B}"/>
              </a:ext>
            </a:extLst>
          </p:cNvPr>
          <p:cNvSpPr>
            <a:spLocks xmlns:a="http://schemas.openxmlformats.org/drawingml/2006/main" noGrp="1"/>
          </p:cNvSpPr>
          <p:nvPr/>
        </p:nvSpPr>
        <p:spPr>
          <a:xfrm xmlns:a="http://schemas.openxmlformats.org/drawingml/2006/main">
            <a:off x="7848600" y="21907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A9B5C5"/>
                </a:solidFill>
                <a:latin typeface="Arial"/>
                <a:ea typeface="Arial"/>
                <a:cs typeface="Arial"/>
              </a:defRPr>
            </a:pPr>
            <a:r>
              <a:rPr sz="900" b="1">
                <a:solidFill>
                  <a:srgbClr val="A9B5C5"/>
                </a:solidFill>
                <a:latin typeface="Arial"/>
                <a:ea typeface="Arial"/>
                <a:cs typeface="Arial"/>
              </a:rPr>
              <a:t>MISSING</a:t>
            </a:r>
          </a:p>
        </p:txBody>
      </p:sp>
      <p:sp>
        <p:nvSpPr>
          <p:cNvPr id="8" name="">
            <a:extLst xmlns:a="http://schemas.openxmlformats.org/drawingml/2006/main">
              <a:ext uri="{FF2B5EF4-FFF2-40B4-BE49-F238E27FC236}">
                <a16:creationId xmlns:a16="http://schemas.microsoft.com/office/drawing/2014/main" id="{6B24822D-9646-4D8C-92DC-5BBA7C839F00}"/>
              </a:ext>
            </a:extLst>
          </p:cNvPr>
          <p:cNvSpPr>
            <a:spLocks xmlns:a="http://schemas.openxmlformats.org/drawingml/2006/main" noGrp="1"/>
          </p:cNvSpPr>
          <p:nvPr/>
        </p:nvSpPr>
        <p:spPr>
          <a:xfrm xmlns:a="http://schemas.openxmlformats.org/drawingml/2006/main">
            <a:off x="9410700" y="2190750"/>
            <a:ext cx="1028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A9B5C5"/>
                </a:solidFill>
                <a:latin typeface="Arial"/>
                <a:ea typeface="Arial"/>
                <a:cs typeface="Arial"/>
              </a:defRPr>
            </a:pPr>
            <a:r>
              <a:rPr sz="900" b="1">
                <a:solidFill>
                  <a:srgbClr val="A9B5C5"/>
                </a:solidFill>
                <a:latin typeface="Arial"/>
                <a:ea typeface="Arial"/>
                <a:cs typeface="Arial"/>
              </a:rPr>
              <a:t>REQUIRED</a:t>
            </a:r>
          </a:p>
        </p:txBody>
      </p:sp>
      <p:sp>
        <p:nvSpPr>
          <p:cNvPr id="9" name="">
            <a:extLst xmlns:a="http://schemas.openxmlformats.org/drawingml/2006/main">
              <a:ext uri="{FF2B5EF4-FFF2-40B4-BE49-F238E27FC236}">
                <a16:creationId xmlns:a16="http://schemas.microsoft.com/office/drawing/2014/main" id="{573E17FE-E830-4FE2-82CD-529C2251B220}"/>
              </a:ext>
            </a:extLst>
          </p:cNvPr>
          <p:cNvSpPr>
            <a:spLocks xmlns:a="http://schemas.openxmlformats.org/drawingml/2006/main" noGrp="1"/>
          </p:cNvSpPr>
          <p:nvPr/>
        </p:nvSpPr>
        <p:spPr>
          <a:xfrm xmlns:a="http://schemas.openxmlformats.org/drawingml/2006/main">
            <a:off x="10534650" y="21907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A9B5C5"/>
                </a:solidFill>
                <a:latin typeface="Arial"/>
                <a:ea typeface="Arial"/>
                <a:cs typeface="Arial"/>
              </a:defRPr>
            </a:pPr>
            <a:r>
              <a:rPr sz="900" b="1">
                <a:solidFill>
                  <a:srgbClr val="A9B5C5"/>
                </a:solidFill>
                <a:latin typeface="Arial"/>
                <a:ea typeface="Arial"/>
                <a:cs typeface="Arial"/>
              </a:rPr>
              <a:t>STATUS</a:t>
            </a:r>
          </a:p>
        </p:txBody>
      </p:sp>
      <p:sp>
        <p:nvSpPr>
          <p:cNvPr id="10" name="">
            <a:extLst xmlns:a="http://schemas.openxmlformats.org/drawingml/2006/main">
              <a:ext uri="{FF2B5EF4-FFF2-40B4-BE49-F238E27FC236}">
                <a16:creationId xmlns:a16="http://schemas.microsoft.com/office/drawing/2014/main" id="{40D5D763-34B0-4733-A34D-7D58E5D36F2E}"/>
              </a:ext>
            </a:extLst>
          </p:cNvPr>
          <p:cNvSpPr>
            <a:spLocks xmlns:a="http://schemas.openxmlformats.org/drawingml/2006/main" noGrp="1"/>
          </p:cNvSpPr>
          <p:nvPr/>
        </p:nvSpPr>
        <p:spPr>
          <a:xfrm xmlns:a="http://schemas.openxmlformats.org/drawingml/2006/main">
            <a:off x="7715250" y="2552700"/>
            <a:ext cx="3905250" cy="533400"/>
          </a:xfrm>
          <a:prstGeom xmlns:a="http://schemas.openxmlformats.org/drawingml/2006/main" prst="roundRect">
            <a:avLst>
              <a:gd name="adj" fmla="val 21429"/>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1" name="">
            <a:extLst xmlns:a="http://schemas.openxmlformats.org/drawingml/2006/main">
              <a:ext uri="{FF2B5EF4-FFF2-40B4-BE49-F238E27FC236}">
                <a16:creationId xmlns:a16="http://schemas.microsoft.com/office/drawing/2014/main" id="{5678F8AF-BC9E-405E-BB40-53B75E9AF4EB}"/>
              </a:ext>
            </a:extLst>
          </p:cNvPr>
          <p:cNvSpPr>
            <a:spLocks xmlns:a="http://schemas.openxmlformats.org/drawingml/2006/main" noGrp="1"/>
          </p:cNvSpPr>
          <p:nvPr/>
        </p:nvSpPr>
        <p:spPr>
          <a:xfrm xmlns:a="http://schemas.openxmlformats.org/drawingml/2006/main">
            <a:off x="7867650" y="2714625"/>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7A85"/>
                </a:solidFill>
                <a:latin typeface="Arial"/>
                <a:ea typeface="Arial"/>
                <a:cs typeface="Arial"/>
              </a:defRPr>
            </a:pPr>
            <a:r>
              <a:rPr sz="1125" b="1">
                <a:solidFill>
                  <a:srgbClr val="FF7A85"/>
                </a:solidFill>
                <a:latin typeface="Arial"/>
                <a:ea typeface="Arial"/>
                <a:cs typeface="Arial"/>
              </a:rPr>
              <a:t>CHALLENGE</a:t>
            </a:r>
          </a:p>
        </p:txBody>
      </p:sp>
      <p:sp>
        <p:nvSpPr>
          <p:cNvPr id="12" name="">
            <a:extLst xmlns:a="http://schemas.openxmlformats.org/drawingml/2006/main">
              <a:ext uri="{FF2B5EF4-FFF2-40B4-BE49-F238E27FC236}">
                <a16:creationId xmlns:a16="http://schemas.microsoft.com/office/drawing/2014/main" id="{03E8468A-E49C-40FC-BEBF-4ED878D543EB}"/>
              </a:ext>
            </a:extLst>
          </p:cNvPr>
          <p:cNvSpPr>
            <a:spLocks xmlns:a="http://schemas.openxmlformats.org/drawingml/2006/main" noGrp="1"/>
          </p:cNvSpPr>
          <p:nvPr/>
        </p:nvSpPr>
        <p:spPr>
          <a:xfrm xmlns:a="http://schemas.openxmlformats.org/drawingml/2006/main">
            <a:off x="9353550" y="2714625"/>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Arial"/>
                <a:ea typeface="Arial"/>
                <a:cs typeface="Arial"/>
              </a:defRPr>
            </a:pPr>
            <a:r>
              <a:rPr sz="1125" b="1">
                <a:solidFill>
                  <a:srgbClr val="FFFFFF"/>
                </a:solidFill>
                <a:latin typeface="Arial"/>
                <a:ea typeface="Arial"/>
                <a:cs typeface="Arial"/>
              </a:rPr>
              <a:t>server state</a:t>
            </a:r>
          </a:p>
        </p:txBody>
      </p:sp>
      <p:sp>
        <p:nvSpPr>
          <p:cNvPr id="13" name="">
            <a:extLst xmlns:a="http://schemas.openxmlformats.org/drawingml/2006/main">
              <a:ext uri="{FF2B5EF4-FFF2-40B4-BE49-F238E27FC236}">
                <a16:creationId xmlns:a16="http://schemas.microsoft.com/office/drawing/2014/main" id="{E2F8FCB8-1822-466E-B9BC-0B45E7796EF6}"/>
              </a:ext>
            </a:extLst>
          </p:cNvPr>
          <p:cNvSpPr>
            <a:spLocks xmlns:a="http://schemas.openxmlformats.org/drawingml/2006/main" noGrp="1"/>
          </p:cNvSpPr>
          <p:nvPr/>
        </p:nvSpPr>
        <p:spPr>
          <a:xfrm xmlns:a="http://schemas.openxmlformats.org/drawingml/2006/main">
            <a:off x="10687050" y="2647950"/>
            <a:ext cx="742950" cy="361950"/>
          </a:xfrm>
          <a:prstGeom xmlns:a="http://schemas.openxmlformats.org/drawingml/2006/main" prst="roundRect">
            <a:avLst>
              <a:gd name="adj" fmla="val 50000"/>
            </a:avLst>
          </a:prstGeom>
          <a:solidFill xmlns:a="http://schemas.openxmlformats.org/drawingml/2006/main">
            <a:srgbClr val="FF7A85"/>
          </a:solidFill>
          <a:ln xmlns:a="http://schemas.openxmlformats.org/drawingml/2006/main" w="0">
            <a:solidFill>
              <a:srgbClr val="FF7A85"/>
            </a:solidFill>
            <a:prstDash val="solid"/>
          </a:ln>
        </p:spPr>
        <p:txBody>
          <a:bodyPr xmlns:a="http://schemas.openxmlformats.org/drawingml/2006/main"/>
          <a:lstStyle xmlns:a="http://schemas.openxmlformats.org/drawingml/2006/main"/>
          <a:p xmlns:a="http://schemas.openxmlformats.org/drawingml/2006/main"/>
        </p:txBody>
      </p:sp>
      <p:sp>
        <p:nvSpPr>
          <p:cNvPr id="14" name="">
            <a:extLst xmlns:a="http://schemas.openxmlformats.org/drawingml/2006/main">
              <a:ext uri="{FF2B5EF4-FFF2-40B4-BE49-F238E27FC236}">
                <a16:creationId xmlns:a16="http://schemas.microsoft.com/office/drawing/2014/main" id="{23076163-2A78-4DBB-B11B-77D6A3EF62F7}"/>
              </a:ext>
            </a:extLst>
          </p:cNvPr>
          <p:cNvSpPr>
            <a:spLocks xmlns:a="http://schemas.openxmlformats.org/drawingml/2006/main" noGrp="1"/>
          </p:cNvSpPr>
          <p:nvPr/>
        </p:nvSpPr>
        <p:spPr>
          <a:xfrm xmlns:a="http://schemas.openxmlformats.org/drawingml/2006/main">
            <a:off x="10801350" y="272415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NONE</a:t>
            </a:r>
          </a:p>
        </p:txBody>
      </p:sp>
      <p:sp>
        <p:nvSpPr>
          <p:cNvPr id="15" name="">
            <a:extLst xmlns:a="http://schemas.openxmlformats.org/drawingml/2006/main">
              <a:ext uri="{FF2B5EF4-FFF2-40B4-BE49-F238E27FC236}">
                <a16:creationId xmlns:a16="http://schemas.microsoft.com/office/drawing/2014/main" id="{F9419472-E410-40F4-88E3-C861DB525372}"/>
              </a:ext>
            </a:extLst>
          </p:cNvPr>
          <p:cNvSpPr>
            <a:spLocks xmlns:a="http://schemas.openxmlformats.org/drawingml/2006/main" noGrp="1"/>
          </p:cNvSpPr>
          <p:nvPr/>
        </p:nvSpPr>
        <p:spPr>
          <a:xfrm xmlns:a="http://schemas.openxmlformats.org/drawingml/2006/main">
            <a:off x="7715250" y="3248025"/>
            <a:ext cx="3905250" cy="533400"/>
          </a:xfrm>
          <a:prstGeom xmlns:a="http://schemas.openxmlformats.org/drawingml/2006/main" prst="roundRect">
            <a:avLst>
              <a:gd name="adj" fmla="val 21429"/>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6" name="">
            <a:extLst xmlns:a="http://schemas.openxmlformats.org/drawingml/2006/main">
              <a:ext uri="{FF2B5EF4-FFF2-40B4-BE49-F238E27FC236}">
                <a16:creationId xmlns:a16="http://schemas.microsoft.com/office/drawing/2014/main" id="{49DD93C2-610C-45BB-8465-28BABB9DE717}"/>
              </a:ext>
            </a:extLst>
          </p:cNvPr>
          <p:cNvSpPr>
            <a:spLocks xmlns:a="http://schemas.openxmlformats.org/drawingml/2006/main" noGrp="1"/>
          </p:cNvSpPr>
          <p:nvPr/>
        </p:nvSpPr>
        <p:spPr>
          <a:xfrm xmlns:a="http://schemas.openxmlformats.org/drawingml/2006/main">
            <a:off x="7867650" y="340995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4C866"/>
                </a:solidFill>
                <a:latin typeface="Arial"/>
                <a:ea typeface="Arial"/>
                <a:cs typeface="Arial"/>
              </a:defRPr>
            </a:pPr>
            <a:r>
              <a:rPr sz="1125" b="1">
                <a:solidFill>
                  <a:srgbClr val="F4C866"/>
                </a:solidFill>
                <a:latin typeface="Arial"/>
                <a:ea typeface="Arial"/>
                <a:cs typeface="Arial"/>
              </a:rPr>
              <a:t>CREDENTIAL</a:t>
            </a:r>
          </a:p>
        </p:txBody>
      </p:sp>
      <p:sp>
        <p:nvSpPr>
          <p:cNvPr id="17" name="">
            <a:extLst xmlns:a="http://schemas.openxmlformats.org/drawingml/2006/main">
              <a:ext uri="{FF2B5EF4-FFF2-40B4-BE49-F238E27FC236}">
                <a16:creationId xmlns:a16="http://schemas.microsoft.com/office/drawing/2014/main" id="{2C140FC9-64C2-4A4B-8F17-53D41A3F0789}"/>
              </a:ext>
            </a:extLst>
          </p:cNvPr>
          <p:cNvSpPr>
            <a:spLocks xmlns:a="http://schemas.openxmlformats.org/drawingml/2006/main" noGrp="1"/>
          </p:cNvSpPr>
          <p:nvPr/>
        </p:nvSpPr>
        <p:spPr>
          <a:xfrm xmlns:a="http://schemas.openxmlformats.org/drawingml/2006/main">
            <a:off x="9353550" y="3409950"/>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Arial"/>
                <a:ea typeface="Arial"/>
                <a:cs typeface="Arial"/>
              </a:defRPr>
            </a:pPr>
            <a:r>
              <a:rPr sz="1125" b="1">
                <a:solidFill>
                  <a:srgbClr val="FFFFFF"/>
                </a:solidFill>
                <a:latin typeface="Arial"/>
                <a:ea typeface="Arial"/>
                <a:cs typeface="Arial"/>
              </a:rPr>
              <a:t>account record</a:t>
            </a:r>
          </a:p>
        </p:txBody>
      </p:sp>
      <p:sp>
        <p:nvSpPr>
          <p:cNvPr id="18" name="">
            <a:extLst xmlns:a="http://schemas.openxmlformats.org/drawingml/2006/main">
              <a:ext uri="{FF2B5EF4-FFF2-40B4-BE49-F238E27FC236}">
                <a16:creationId xmlns:a16="http://schemas.microsoft.com/office/drawing/2014/main" id="{973B269D-931B-4DB4-845A-E118691DFEE1}"/>
              </a:ext>
            </a:extLst>
          </p:cNvPr>
          <p:cNvSpPr>
            <a:spLocks xmlns:a="http://schemas.openxmlformats.org/drawingml/2006/main" noGrp="1"/>
          </p:cNvSpPr>
          <p:nvPr/>
        </p:nvSpPr>
        <p:spPr>
          <a:xfrm xmlns:a="http://schemas.openxmlformats.org/drawingml/2006/main">
            <a:off x="10687050" y="3343275"/>
            <a:ext cx="742950" cy="361950"/>
          </a:xfrm>
          <a:prstGeom xmlns:a="http://schemas.openxmlformats.org/drawingml/2006/main" prst="roundRect">
            <a:avLst>
              <a:gd name="adj" fmla="val 50000"/>
            </a:avLst>
          </a:prstGeom>
          <a:solidFill xmlns:a="http://schemas.openxmlformats.org/drawingml/2006/main">
            <a:srgbClr val="F4C866"/>
          </a:solidFill>
          <a:ln xmlns:a="http://schemas.openxmlformats.org/drawingml/2006/main" w="0">
            <a:solidFill>
              <a:srgbClr val="F4C866"/>
            </a:solidFill>
            <a:prstDash val="solid"/>
          </a:ln>
        </p:spPr>
        <p:txBody>
          <a:bodyPr xmlns:a="http://schemas.openxmlformats.org/drawingml/2006/main"/>
          <a:lstStyle xmlns:a="http://schemas.openxmlformats.org/drawingml/2006/main"/>
          <a:p xmlns:a="http://schemas.openxmlformats.org/drawingml/2006/main"/>
        </p:txBody>
      </p:sp>
      <p:sp>
        <p:nvSpPr>
          <p:cNvPr id="19" name="">
            <a:extLst xmlns:a="http://schemas.openxmlformats.org/drawingml/2006/main">
              <a:ext uri="{FF2B5EF4-FFF2-40B4-BE49-F238E27FC236}">
                <a16:creationId xmlns:a16="http://schemas.microsoft.com/office/drawing/2014/main" id="{1FC1E979-8543-457A-A6FB-377826B1D435}"/>
              </a:ext>
            </a:extLst>
          </p:cNvPr>
          <p:cNvSpPr>
            <a:spLocks xmlns:a="http://schemas.openxmlformats.org/drawingml/2006/main" noGrp="1"/>
          </p:cNvSpPr>
          <p:nvPr/>
        </p:nvSpPr>
        <p:spPr>
          <a:xfrm xmlns:a="http://schemas.openxmlformats.org/drawingml/2006/main">
            <a:off x="10801350" y="3419475"/>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NONE</a:t>
            </a:r>
          </a:p>
        </p:txBody>
      </p:sp>
      <p:sp>
        <p:nvSpPr>
          <p:cNvPr id="20" name="">
            <a:extLst xmlns:a="http://schemas.openxmlformats.org/drawingml/2006/main">
              <a:ext uri="{FF2B5EF4-FFF2-40B4-BE49-F238E27FC236}">
                <a16:creationId xmlns:a16="http://schemas.microsoft.com/office/drawing/2014/main" id="{8722B984-4101-4F70-8C63-8E536D7A8268}"/>
              </a:ext>
            </a:extLst>
          </p:cNvPr>
          <p:cNvSpPr>
            <a:spLocks xmlns:a="http://schemas.openxmlformats.org/drawingml/2006/main" noGrp="1"/>
          </p:cNvSpPr>
          <p:nvPr/>
        </p:nvSpPr>
        <p:spPr>
          <a:xfrm xmlns:a="http://schemas.openxmlformats.org/drawingml/2006/main">
            <a:off x="7715250" y="3943350"/>
            <a:ext cx="3905250" cy="533400"/>
          </a:xfrm>
          <a:prstGeom xmlns:a="http://schemas.openxmlformats.org/drawingml/2006/main" prst="roundRect">
            <a:avLst>
              <a:gd name="adj" fmla="val 21429"/>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21" name="">
            <a:extLst xmlns:a="http://schemas.openxmlformats.org/drawingml/2006/main">
              <a:ext uri="{FF2B5EF4-FFF2-40B4-BE49-F238E27FC236}">
                <a16:creationId xmlns:a16="http://schemas.microsoft.com/office/drawing/2014/main" id="{8D099D9A-4199-4660-B372-74B7856BFA33}"/>
              </a:ext>
            </a:extLst>
          </p:cNvPr>
          <p:cNvSpPr>
            <a:spLocks xmlns:a="http://schemas.openxmlformats.org/drawingml/2006/main" noGrp="1"/>
          </p:cNvSpPr>
          <p:nvPr/>
        </p:nvSpPr>
        <p:spPr>
          <a:xfrm xmlns:a="http://schemas.openxmlformats.org/drawingml/2006/main">
            <a:off x="7867650" y="4105275"/>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48D2C2"/>
                </a:solidFill>
                <a:latin typeface="Arial"/>
                <a:ea typeface="Arial"/>
                <a:cs typeface="Arial"/>
              </a:defRPr>
            </a:pPr>
            <a:r>
              <a:rPr sz="1125" b="1">
                <a:solidFill>
                  <a:srgbClr val="48D2C2"/>
                </a:solidFill>
                <a:latin typeface="Arial"/>
                <a:ea typeface="Arial"/>
                <a:cs typeface="Arial"/>
              </a:rPr>
              <a:t>ASSERTION</a:t>
            </a:r>
          </a:p>
        </p:txBody>
      </p:sp>
      <p:sp>
        <p:nvSpPr>
          <p:cNvPr id="22" name="">
            <a:extLst xmlns:a="http://schemas.openxmlformats.org/drawingml/2006/main">
              <a:ext uri="{FF2B5EF4-FFF2-40B4-BE49-F238E27FC236}">
                <a16:creationId xmlns:a16="http://schemas.microsoft.com/office/drawing/2014/main" id="{C99818DE-6EEE-4536-946A-F5306773E920}"/>
              </a:ext>
            </a:extLst>
          </p:cNvPr>
          <p:cNvSpPr>
            <a:spLocks xmlns:a="http://schemas.openxmlformats.org/drawingml/2006/main" noGrp="1"/>
          </p:cNvSpPr>
          <p:nvPr/>
        </p:nvSpPr>
        <p:spPr>
          <a:xfrm xmlns:a="http://schemas.openxmlformats.org/drawingml/2006/main">
            <a:off x="9353550" y="4105275"/>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Arial"/>
                <a:ea typeface="Arial"/>
                <a:cs typeface="Arial"/>
              </a:defRPr>
            </a:pPr>
            <a:r>
              <a:rPr sz="1125" b="1">
                <a:solidFill>
                  <a:srgbClr val="FFFFFF"/>
                </a:solidFill>
                <a:latin typeface="Arial"/>
                <a:ea typeface="Arial"/>
                <a:cs typeface="Arial"/>
              </a:rPr>
              <a:t>signature verify</a:t>
            </a:r>
          </a:p>
        </p:txBody>
      </p:sp>
      <p:sp>
        <p:nvSpPr>
          <p:cNvPr id="23" name="">
            <a:extLst xmlns:a="http://schemas.openxmlformats.org/drawingml/2006/main">
              <a:ext uri="{FF2B5EF4-FFF2-40B4-BE49-F238E27FC236}">
                <a16:creationId xmlns:a16="http://schemas.microsoft.com/office/drawing/2014/main" id="{8B3E5DC7-BEB6-4D5C-AB1F-55B2155CFD67}"/>
              </a:ext>
            </a:extLst>
          </p:cNvPr>
          <p:cNvSpPr>
            <a:spLocks xmlns:a="http://schemas.openxmlformats.org/drawingml/2006/main" noGrp="1"/>
          </p:cNvSpPr>
          <p:nvPr/>
        </p:nvSpPr>
        <p:spPr>
          <a:xfrm xmlns:a="http://schemas.openxmlformats.org/drawingml/2006/main">
            <a:off x="10687050" y="4038600"/>
            <a:ext cx="742950" cy="361950"/>
          </a:xfrm>
          <a:prstGeom xmlns:a="http://schemas.openxmlformats.org/drawingml/2006/main" prst="roundRect">
            <a:avLst>
              <a:gd name="adj" fmla="val 50000"/>
            </a:avLst>
          </a:prstGeom>
          <a:solidFill xmlns:a="http://schemas.openxmlformats.org/drawingml/2006/main">
            <a:srgbClr val="48D2C2"/>
          </a:solidFill>
          <a:ln xmlns:a="http://schemas.openxmlformats.org/drawingml/2006/main" w="0">
            <a:solidFill>
              <a:srgbClr val="48D2C2"/>
            </a:solidFill>
            <a:prstDash val="solid"/>
          </a:ln>
        </p:spPr>
        <p:txBody>
          <a:bodyPr xmlns:a="http://schemas.openxmlformats.org/drawingml/2006/main"/>
          <a:lstStyle xmlns:a="http://schemas.openxmlformats.org/drawingml/2006/main"/>
          <a:p xmlns:a="http://schemas.openxmlformats.org/drawingml/2006/main"/>
        </p:txBody>
      </p:sp>
      <p:sp>
        <p:nvSpPr>
          <p:cNvPr id="24" name="">
            <a:extLst xmlns:a="http://schemas.openxmlformats.org/drawingml/2006/main">
              <a:ext uri="{FF2B5EF4-FFF2-40B4-BE49-F238E27FC236}">
                <a16:creationId xmlns:a16="http://schemas.microsoft.com/office/drawing/2014/main" id="{FC47FFBA-3411-4ABC-B4BA-9737D8F9DE5B}"/>
              </a:ext>
            </a:extLst>
          </p:cNvPr>
          <p:cNvSpPr>
            <a:spLocks xmlns:a="http://schemas.openxmlformats.org/drawingml/2006/main" noGrp="1"/>
          </p:cNvSpPr>
          <p:nvPr/>
        </p:nvSpPr>
        <p:spPr>
          <a:xfrm xmlns:a="http://schemas.openxmlformats.org/drawingml/2006/main">
            <a:off x="10801350" y="4114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NONE</a:t>
            </a:r>
          </a:p>
        </p:txBody>
      </p:sp>
      <p:sp>
        <p:nvSpPr>
          <p:cNvPr id="25" name="">
            <a:extLst xmlns:a="http://schemas.openxmlformats.org/drawingml/2006/main">
              <a:ext uri="{FF2B5EF4-FFF2-40B4-BE49-F238E27FC236}">
                <a16:creationId xmlns:a16="http://schemas.microsoft.com/office/drawing/2014/main" id="{1049E327-B29D-4664-8E82-C9D0D8D07AFC}"/>
              </a:ext>
            </a:extLst>
          </p:cNvPr>
          <p:cNvSpPr>
            <a:spLocks xmlns:a="http://schemas.openxmlformats.org/drawingml/2006/main" noGrp="1"/>
          </p:cNvSpPr>
          <p:nvPr/>
        </p:nvSpPr>
        <p:spPr>
          <a:xfrm xmlns:a="http://schemas.openxmlformats.org/drawingml/2006/main">
            <a:off x="7734300" y="48958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4C866"/>
                </a:solidFill>
                <a:latin typeface="Arial"/>
                <a:ea typeface="Arial"/>
                <a:cs typeface="Arial"/>
              </a:defRPr>
            </a:pPr>
            <a:r>
              <a:rPr sz="1125" b="1">
                <a:solidFill>
                  <a:srgbClr val="F4C866"/>
                </a:solidFill>
                <a:latin typeface="Arial"/>
                <a:ea typeface="Arial"/>
                <a:cs typeface="Arial"/>
              </a:rPr>
              <a:t>Demo boundary</a:t>
            </a:r>
          </a:p>
        </p:txBody>
      </p:sp>
      <p:sp>
        <p:nvSpPr>
          <p:cNvPr id="26" name="">
            <a:extLst xmlns:a="http://schemas.openxmlformats.org/drawingml/2006/main">
              <a:ext uri="{FF2B5EF4-FFF2-40B4-BE49-F238E27FC236}">
                <a16:creationId xmlns:a16="http://schemas.microsoft.com/office/drawing/2014/main" id="{55A2837A-55C4-4377-B40F-8AE48A3B5096}"/>
              </a:ext>
            </a:extLst>
          </p:cNvPr>
          <p:cNvSpPr>
            <a:spLocks xmlns:a="http://schemas.openxmlformats.org/drawingml/2006/main" noGrp="1"/>
          </p:cNvSpPr>
          <p:nvPr/>
        </p:nvSpPr>
        <p:spPr>
          <a:xfrm xmlns:a="http://schemas.openxmlformats.org/drawingml/2006/main">
            <a:off x="7734300" y="5238750"/>
            <a:ext cx="3790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Client-only create/get is never described as production authentication.</a:t>
            </a:r>
          </a:p>
        </p:txBody>
      </p:sp>
      <p:sp>
        <p:nvSpPr>
          <p:cNvPr id="27" name="">
            <a:extLst xmlns:a="http://schemas.openxmlformats.org/drawingml/2006/main">
              <a:ext uri="{FF2B5EF4-FFF2-40B4-BE49-F238E27FC236}">
                <a16:creationId xmlns:a16="http://schemas.microsoft.com/office/drawing/2014/main" id="{64998F60-F4D3-4EBB-91F7-7374E5054979}"/>
              </a:ext>
            </a:extLst>
          </p:cNvPr>
          <p:cNvSpPr>
            <a:spLocks xmlns:a="http://schemas.openxmlformats.org/drawingml/2006/main" noGrp="1"/>
          </p:cNvSpPr>
          <p:nvPr/>
        </p:nvSpPr>
        <p:spPr>
          <a:xfrm xmlns:a="http://schemas.openxmlformats.org/drawingml/2006/main">
            <a:off x="514350" y="6524625"/>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0">
                <a:solidFill>
                  <a:srgbClr val="A9B5C5"/>
                </a:solidFill>
                <a:latin typeface="Arial"/>
                <a:ea typeface="Arial"/>
                <a:cs typeface="Arial"/>
              </a:defRPr>
            </a:pPr>
            <a:r>
              <a:rPr sz="750" b="0">
                <a:solidFill>
                  <a:srgbClr val="A9B5C5"/>
                </a:solidFill>
                <a:latin typeface="Arial"/>
                <a:ea typeface="Arial"/>
                <a:cs typeface="Arial"/>
              </a:rPr>
              <a:t>Source: W3C WebAuthn Level 3 verification requirements.</a:t>
            </a:r>
          </a:p>
        </p:txBody>
      </p:sp>
    </p:spTree>
    <p:extLst>
      <p:ext uri="{BB962C8B-B14F-4D97-AF65-F5344CB8AC3E}">
        <p14:creationId xmlns:p14="http://schemas.microsoft.com/office/powerpoint/2010/main" val="1340511939"/>
      </p:ext>
    </p:extLst>
  </p:cSld>
</p:sld>
</file>

<file path=ppt/slides/slide12.xml><?xml version="1.0" encoding="utf-8"?>
<p:sld xmlns:p="http://schemas.openxmlformats.org/presentationml/2006/main">
  <p:cSld>
    <p:bg>
      <p:bgPr>
        <a:solidFill xmlns:a="http://schemas.openxmlformats.org/drawingml/2006/main">
          <a:srgbClr val="07111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E2E27B8-F4D4-4C98-B752-8A3D44F06839}"/>
              </a:ext>
            </a:extLst>
          </p:cNvPr>
          <p:cNvSpPr>
            <a:spLocks xmlns:a="http://schemas.openxmlformats.org/drawingml/2006/main" noGrp="1"/>
          </p:cNvSpPr>
          <p:nvPr/>
        </p:nvSpPr>
        <p:spPr>
          <a:xfrm xmlns:a="http://schemas.openxmlformats.org/drawingml/2006/main">
            <a:off x="514350" y="2857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48D2C2"/>
                </a:solidFill>
                <a:latin typeface="Arial"/>
                <a:ea typeface="Arial"/>
                <a:cs typeface="Arial"/>
              </a:defRPr>
            </a:pPr>
            <a:r>
              <a:rPr sz="975" b="1">
                <a:solidFill>
                  <a:srgbClr val="48D2C2"/>
                </a:solidFill>
                <a:latin typeface="Arial"/>
                <a:ea typeface="Arial"/>
                <a:cs typeface="Arial"/>
              </a:rPr>
              <a:t>AUTHLAB  /  Q&amp;A</a:t>
            </a:r>
          </a:p>
        </p:txBody>
      </p:sp>
      <p:sp>
        <p:nvSpPr>
          <p:cNvPr id="2" name="">
            <a:extLst xmlns:a="http://schemas.openxmlformats.org/drawingml/2006/main">
              <a:ext uri="{FF2B5EF4-FFF2-40B4-BE49-F238E27FC236}">
                <a16:creationId xmlns:a16="http://schemas.microsoft.com/office/drawing/2014/main" id="{10F2AF02-B904-4720-8515-F3535ECE0670}"/>
              </a:ext>
            </a:extLst>
          </p:cNvPr>
          <p:cNvSpPr>
            <a:spLocks xmlns:a="http://schemas.openxmlformats.org/drawingml/2006/main" noGrp="1"/>
          </p:cNvSpPr>
          <p:nvPr/>
        </p:nvSpPr>
        <p:spPr>
          <a:xfrm xmlns:a="http://schemas.openxmlformats.org/drawingml/2006/main">
            <a:off x="11334750" y="295275"/>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A9B5C5"/>
                </a:solidFill>
                <a:latin typeface="Arial"/>
                <a:ea typeface="Arial"/>
                <a:cs typeface="Arial"/>
              </a:defRPr>
            </a:pPr>
            <a:r>
              <a:rPr sz="975" b="1">
                <a:solidFill>
                  <a:srgbClr val="A9B5C5"/>
                </a:solidFill>
                <a:latin typeface="Arial"/>
                <a:ea typeface="Arial"/>
                <a:cs typeface="Arial"/>
              </a:rPr>
              <a:t>Q4</a:t>
            </a:r>
          </a:p>
        </p:txBody>
      </p:sp>
      <p:sp>
        <p:nvSpPr>
          <p:cNvPr id="3" name="">
            <a:extLst xmlns:a="http://schemas.openxmlformats.org/drawingml/2006/main">
              <a:ext uri="{FF2B5EF4-FFF2-40B4-BE49-F238E27FC236}">
                <a16:creationId xmlns:a16="http://schemas.microsoft.com/office/drawing/2014/main" id="{14DB37B5-206F-4A88-9F5B-C332E7ACFC75}"/>
              </a:ext>
            </a:extLst>
          </p:cNvPr>
          <p:cNvSpPr>
            <a:spLocks xmlns:a="http://schemas.openxmlformats.org/drawingml/2006/main" noGrp="1"/>
          </p:cNvSpPr>
          <p:nvPr/>
        </p:nvSpPr>
        <p:spPr>
          <a:xfrm xmlns:a="http://schemas.openxmlformats.org/drawingml/2006/main">
            <a:off x="514350" y="590550"/>
            <a:ext cx="11182350" cy="19050"/>
          </a:xfrm>
          <a:prstGeom xmlns:a="http://schemas.openxmlformats.org/drawingml/2006/main" prst="rect">
            <a:avLst/>
          </a:prstGeom>
          <a:solidFill xmlns:a="http://schemas.openxmlformats.org/drawingml/2006/main">
            <a:srgbClr val="263B58"/>
          </a:solidFill>
          <a:ln xmlns:a="http://schemas.openxmlformats.org/drawingml/2006/main" w="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7755CFEE-A697-400A-A75C-B9A828199EB2}"/>
              </a:ext>
            </a:extLst>
          </p:cNvPr>
          <p:cNvSpPr>
            <a:spLocks xmlns:a="http://schemas.openxmlformats.org/drawingml/2006/main" noGrp="1"/>
          </p:cNvSpPr>
          <p:nvPr/>
        </p:nvSpPr>
        <p:spPr>
          <a:xfrm xmlns:a="http://schemas.openxmlformats.org/drawingml/2006/main">
            <a:off x="514350" y="800100"/>
            <a:ext cx="11049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FFFFFF"/>
                </a:solidFill>
                <a:latin typeface="Arial"/>
                <a:ea typeface="Arial"/>
                <a:cs typeface="Arial"/>
              </a:defRPr>
            </a:pPr>
            <a:r>
              <a:rPr sz="3150" b="1">
                <a:solidFill>
                  <a:srgbClr val="FFFFFF"/>
                </a:solidFill>
                <a:latin typeface="Arial"/>
                <a:ea typeface="Arial"/>
                <a:cs typeface="Arial"/>
              </a:rPr>
              <a:t>The export is de-identified, not guaranteed anonymous</a:t>
            </a:r>
          </a:p>
        </p:txBody>
      </p:sp>
      <p:sp>
        <p:nvSpPr>
          <p:cNvPr id="5" name="">
            <a:extLst xmlns:a="http://schemas.openxmlformats.org/drawingml/2006/main">
              <a:ext uri="{FF2B5EF4-FFF2-40B4-BE49-F238E27FC236}">
                <a16:creationId xmlns:a16="http://schemas.microsoft.com/office/drawing/2014/main" id="{43275EE1-0921-4B3D-B84C-B08361BAA9F9}"/>
              </a:ext>
            </a:extLst>
          </p:cNvPr>
          <p:cNvSpPr>
            <a:spLocks xmlns:a="http://schemas.openxmlformats.org/drawingml/2006/main" noGrp="1"/>
          </p:cNvSpPr>
          <p:nvPr/>
        </p:nvSpPr>
        <p:spPr>
          <a:xfrm xmlns:a="http://schemas.openxmlformats.org/drawingml/2006/main">
            <a:off x="533400" y="1485900"/>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A9B5C5"/>
                </a:solidFill>
                <a:latin typeface="Arial"/>
                <a:ea typeface="Arial"/>
                <a:cs typeface="Arial"/>
              </a:defRPr>
            </a:pPr>
            <a:r>
              <a:rPr sz="1425" b="0">
                <a:solidFill>
                  <a:srgbClr val="A9B5C5"/>
                </a:solidFill>
                <a:latin typeface="Arial"/>
                <a:ea typeface="Arial"/>
                <a:cs typeface="Arial"/>
              </a:rPr>
              <a:t>Data minimisation reduces risk; outside context can still re-identify a record.</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66dc2f05296142c5"/>
          <a:srcRect xmlns:a="http://schemas.openxmlformats.org/drawingml/2006/main" l="16" t="0" r="16" b="0"/>
          <a:stretch xmlns:a="http://schemas.openxmlformats.org/drawingml/2006/main">
            <a:fillRect l="0" t="0" r="0" b="0"/>
          </a:stretch>
        </p:blipFill>
        <p:spPr>
          <a:xfrm xmlns:a="http://schemas.openxmlformats.org/drawingml/2006/main" flipH="0" flipV="0">
            <a:off x="514350" y="2095500"/>
            <a:ext cx="6534150" cy="3676650"/>
          </a:xfrm>
          <a:prstGeom xmlns:a="http://schemas.openxmlformats.org/drawingml/2006/main" prst="roundRect">
            <a:avLst/>
          </a:prstGeom>
        </p:spPr>
      </p:pic>
      <p:sp>
        <p:nvSpPr>
          <p:cNvPr id="7" name="">
            <a:extLst xmlns:a="http://schemas.openxmlformats.org/drawingml/2006/main">
              <a:ext uri="{FF2B5EF4-FFF2-40B4-BE49-F238E27FC236}">
                <a16:creationId xmlns:a16="http://schemas.microsoft.com/office/drawing/2014/main" id="{E33571D4-5E14-4645-A123-DEB8DCEE6111}"/>
              </a:ext>
            </a:extLst>
          </p:cNvPr>
          <p:cNvSpPr>
            <a:spLocks xmlns:a="http://schemas.openxmlformats.org/drawingml/2006/main" noGrp="1"/>
          </p:cNvSpPr>
          <p:nvPr/>
        </p:nvSpPr>
        <p:spPr>
          <a:xfrm xmlns:a="http://schemas.openxmlformats.org/drawingml/2006/main">
            <a:off x="7429500" y="2095500"/>
            <a:ext cx="4171950" cy="838200"/>
          </a:xfrm>
          <a:prstGeom xmlns:a="http://schemas.openxmlformats.org/drawingml/2006/main" prst="roundRect">
            <a:avLst>
              <a:gd name="adj" fmla="val 13636"/>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8" name="">
            <a:extLst xmlns:a="http://schemas.openxmlformats.org/drawingml/2006/main">
              <a:ext uri="{FF2B5EF4-FFF2-40B4-BE49-F238E27FC236}">
                <a16:creationId xmlns:a16="http://schemas.microsoft.com/office/drawing/2014/main" id="{4570A921-4561-4825-9737-3B734F2BB457}"/>
              </a:ext>
            </a:extLst>
          </p:cNvPr>
          <p:cNvSpPr>
            <a:spLocks xmlns:a="http://schemas.openxmlformats.org/drawingml/2006/main" noGrp="1"/>
          </p:cNvSpPr>
          <p:nvPr/>
        </p:nvSpPr>
        <p:spPr>
          <a:xfrm xmlns:a="http://schemas.openxmlformats.org/drawingml/2006/main">
            <a:off x="7639050" y="22383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A9B5C5"/>
                </a:solidFill>
                <a:latin typeface="Arial"/>
                <a:ea typeface="Arial"/>
                <a:cs typeface="Arial"/>
              </a:defRPr>
            </a:pPr>
            <a:r>
              <a:rPr sz="900" b="1">
                <a:solidFill>
                  <a:srgbClr val="A9B5C5"/>
                </a:solidFill>
                <a:latin typeface="Arial"/>
                <a:ea typeface="Arial"/>
                <a:cs typeface="Arial"/>
              </a:rPr>
              <a:t>IDENTITY</a:t>
            </a:r>
          </a:p>
        </p:txBody>
      </p:sp>
      <p:sp>
        <p:nvSpPr>
          <p:cNvPr id="9" name="">
            <a:extLst xmlns:a="http://schemas.openxmlformats.org/drawingml/2006/main">
              <a:ext uri="{FF2B5EF4-FFF2-40B4-BE49-F238E27FC236}">
                <a16:creationId xmlns:a16="http://schemas.microsoft.com/office/drawing/2014/main" id="{6B7A3B9B-BBA8-4C04-AB7D-147560BE4035}"/>
              </a:ext>
            </a:extLst>
          </p:cNvPr>
          <p:cNvSpPr>
            <a:spLocks xmlns:a="http://schemas.openxmlformats.org/drawingml/2006/main" noGrp="1"/>
          </p:cNvSpPr>
          <p:nvPr/>
        </p:nvSpPr>
        <p:spPr>
          <a:xfrm xmlns:a="http://schemas.openxmlformats.org/drawingml/2006/main">
            <a:off x="7639050" y="2457450"/>
            <a:ext cx="819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75D6A3"/>
                </a:solidFill>
                <a:latin typeface="Arial"/>
                <a:ea typeface="Arial"/>
                <a:cs typeface="Arial"/>
              </a:defRPr>
            </a:pPr>
            <a:r>
              <a:rPr sz="1875" b="1">
                <a:solidFill>
                  <a:srgbClr val="75D6A3"/>
                </a:solidFill>
                <a:latin typeface="Arial"/>
                <a:ea typeface="Arial"/>
                <a:cs typeface="Arial"/>
              </a:rPr>
              <a:t>0</a:t>
            </a:r>
          </a:p>
        </p:txBody>
      </p:sp>
      <p:sp>
        <p:nvSpPr>
          <p:cNvPr id="10" name="">
            <a:extLst xmlns:a="http://schemas.openxmlformats.org/drawingml/2006/main">
              <a:ext uri="{FF2B5EF4-FFF2-40B4-BE49-F238E27FC236}">
                <a16:creationId xmlns:a16="http://schemas.microsoft.com/office/drawing/2014/main" id="{47A2391B-FA61-4023-98FD-D4C31454ECCB}"/>
              </a:ext>
            </a:extLst>
          </p:cNvPr>
          <p:cNvSpPr>
            <a:spLocks xmlns:a="http://schemas.openxmlformats.org/drawingml/2006/main" noGrp="1"/>
          </p:cNvSpPr>
          <p:nvPr/>
        </p:nvSpPr>
        <p:spPr>
          <a:xfrm xmlns:a="http://schemas.openxmlformats.org/drawingml/2006/main">
            <a:off x="8591550" y="2343150"/>
            <a:ext cx="2724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No name, email or zID</a:t>
            </a:r>
          </a:p>
        </p:txBody>
      </p:sp>
      <p:sp>
        <p:nvSpPr>
          <p:cNvPr id="11" name="">
            <a:extLst xmlns:a="http://schemas.openxmlformats.org/drawingml/2006/main">
              <a:ext uri="{FF2B5EF4-FFF2-40B4-BE49-F238E27FC236}">
                <a16:creationId xmlns:a16="http://schemas.microsoft.com/office/drawing/2014/main" id="{E3D8BE95-D046-43C8-8776-5DFBA34C41DC}"/>
              </a:ext>
            </a:extLst>
          </p:cNvPr>
          <p:cNvSpPr>
            <a:spLocks xmlns:a="http://schemas.openxmlformats.org/drawingml/2006/main" noGrp="1"/>
          </p:cNvSpPr>
          <p:nvPr/>
        </p:nvSpPr>
        <p:spPr>
          <a:xfrm xmlns:a="http://schemas.openxmlformats.org/drawingml/2006/main">
            <a:off x="7429500" y="3162300"/>
            <a:ext cx="4171950" cy="838200"/>
          </a:xfrm>
          <a:prstGeom xmlns:a="http://schemas.openxmlformats.org/drawingml/2006/main" prst="roundRect">
            <a:avLst>
              <a:gd name="adj" fmla="val 13636"/>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2" name="">
            <a:extLst xmlns:a="http://schemas.openxmlformats.org/drawingml/2006/main">
              <a:ext uri="{FF2B5EF4-FFF2-40B4-BE49-F238E27FC236}">
                <a16:creationId xmlns:a16="http://schemas.microsoft.com/office/drawing/2014/main" id="{7404B0F4-07F4-48AC-A059-B7DBCD1EBBCF}"/>
              </a:ext>
            </a:extLst>
          </p:cNvPr>
          <p:cNvSpPr>
            <a:spLocks xmlns:a="http://schemas.openxmlformats.org/drawingml/2006/main" noGrp="1"/>
          </p:cNvSpPr>
          <p:nvPr/>
        </p:nvSpPr>
        <p:spPr>
          <a:xfrm xmlns:a="http://schemas.openxmlformats.org/drawingml/2006/main">
            <a:off x="7639050" y="33051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A9B5C5"/>
                </a:solidFill>
                <a:latin typeface="Arial"/>
                <a:ea typeface="Arial"/>
                <a:cs typeface="Arial"/>
              </a:defRPr>
            </a:pPr>
            <a:r>
              <a:rPr sz="900" b="1">
                <a:solidFill>
                  <a:srgbClr val="A9B5C5"/>
                </a:solidFill>
                <a:latin typeface="Arial"/>
                <a:ea typeface="Arial"/>
                <a:cs typeface="Arial"/>
              </a:rPr>
              <a:t>TIME</a:t>
            </a:r>
          </a:p>
        </p:txBody>
      </p:sp>
      <p:sp>
        <p:nvSpPr>
          <p:cNvPr id="13" name="">
            <a:extLst xmlns:a="http://schemas.openxmlformats.org/drawingml/2006/main">
              <a:ext uri="{FF2B5EF4-FFF2-40B4-BE49-F238E27FC236}">
                <a16:creationId xmlns:a16="http://schemas.microsoft.com/office/drawing/2014/main" id="{CCC1AE76-3CC3-4CCE-A9F5-BD4A206093FF}"/>
              </a:ext>
            </a:extLst>
          </p:cNvPr>
          <p:cNvSpPr>
            <a:spLocks xmlns:a="http://schemas.openxmlformats.org/drawingml/2006/main" noGrp="1"/>
          </p:cNvSpPr>
          <p:nvPr/>
        </p:nvSpPr>
        <p:spPr>
          <a:xfrm xmlns:a="http://schemas.openxmlformats.org/drawingml/2006/main">
            <a:off x="7639050" y="3524250"/>
            <a:ext cx="819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75D6A3"/>
                </a:solidFill>
                <a:latin typeface="Arial"/>
                <a:ea typeface="Arial"/>
                <a:cs typeface="Arial"/>
              </a:defRPr>
            </a:pPr>
            <a:r>
              <a:rPr sz="1875" b="1">
                <a:solidFill>
                  <a:srgbClr val="75D6A3"/>
                </a:solidFill>
                <a:latin typeface="Arial"/>
                <a:ea typeface="Arial"/>
                <a:cs typeface="Arial"/>
              </a:rPr>
              <a:t>0</a:t>
            </a:r>
          </a:p>
        </p:txBody>
      </p:sp>
      <p:sp>
        <p:nvSpPr>
          <p:cNvPr id="14" name="">
            <a:extLst xmlns:a="http://schemas.openxmlformats.org/drawingml/2006/main">
              <a:ext uri="{FF2B5EF4-FFF2-40B4-BE49-F238E27FC236}">
                <a16:creationId xmlns:a16="http://schemas.microsoft.com/office/drawing/2014/main" id="{9B07D2FF-07A2-491C-9062-1E829250A566}"/>
              </a:ext>
            </a:extLst>
          </p:cNvPr>
          <p:cNvSpPr>
            <a:spLocks xmlns:a="http://schemas.openxmlformats.org/drawingml/2006/main" noGrp="1"/>
          </p:cNvSpPr>
          <p:nvPr/>
        </p:nvSpPr>
        <p:spPr>
          <a:xfrm xmlns:a="http://schemas.openxmlformats.org/drawingml/2006/main">
            <a:off x="8591550" y="3409950"/>
            <a:ext cx="2724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No exact timestamps</a:t>
            </a:r>
          </a:p>
        </p:txBody>
      </p:sp>
      <p:sp>
        <p:nvSpPr>
          <p:cNvPr id="15" name="">
            <a:extLst xmlns:a="http://schemas.openxmlformats.org/drawingml/2006/main">
              <a:ext uri="{FF2B5EF4-FFF2-40B4-BE49-F238E27FC236}">
                <a16:creationId xmlns:a16="http://schemas.microsoft.com/office/drawing/2014/main" id="{C56F0112-6712-463A-9B11-ABD9E9074E19}"/>
              </a:ext>
            </a:extLst>
          </p:cNvPr>
          <p:cNvSpPr>
            <a:spLocks xmlns:a="http://schemas.openxmlformats.org/drawingml/2006/main" noGrp="1"/>
          </p:cNvSpPr>
          <p:nvPr/>
        </p:nvSpPr>
        <p:spPr>
          <a:xfrm xmlns:a="http://schemas.openxmlformats.org/drawingml/2006/main">
            <a:off x="7429500" y="4229100"/>
            <a:ext cx="4171950" cy="838200"/>
          </a:xfrm>
          <a:prstGeom xmlns:a="http://schemas.openxmlformats.org/drawingml/2006/main" prst="roundRect">
            <a:avLst>
              <a:gd name="adj" fmla="val 13636"/>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6" name="">
            <a:extLst xmlns:a="http://schemas.openxmlformats.org/drawingml/2006/main">
              <a:ext uri="{FF2B5EF4-FFF2-40B4-BE49-F238E27FC236}">
                <a16:creationId xmlns:a16="http://schemas.microsoft.com/office/drawing/2014/main" id="{8D1B81AC-3CAF-44A5-9465-51F6AE81A9B0}"/>
              </a:ext>
            </a:extLst>
          </p:cNvPr>
          <p:cNvSpPr>
            <a:spLocks xmlns:a="http://schemas.openxmlformats.org/drawingml/2006/main" noGrp="1"/>
          </p:cNvSpPr>
          <p:nvPr/>
        </p:nvSpPr>
        <p:spPr>
          <a:xfrm xmlns:a="http://schemas.openxmlformats.org/drawingml/2006/main">
            <a:off x="7639050" y="43719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A9B5C5"/>
                </a:solidFill>
                <a:latin typeface="Arial"/>
                <a:ea typeface="Arial"/>
                <a:cs typeface="Arial"/>
              </a:defRPr>
            </a:pPr>
            <a:r>
              <a:rPr sz="900" b="1">
                <a:solidFill>
                  <a:srgbClr val="A9B5C5"/>
                </a:solidFill>
                <a:latin typeface="Arial"/>
                <a:ea typeface="Arial"/>
                <a:cs typeface="Arial"/>
              </a:rPr>
              <a:t>CONTROL</a:t>
            </a:r>
          </a:p>
        </p:txBody>
      </p:sp>
      <p:sp>
        <p:nvSpPr>
          <p:cNvPr id="17" name="">
            <a:extLst xmlns:a="http://schemas.openxmlformats.org/drawingml/2006/main">
              <a:ext uri="{FF2B5EF4-FFF2-40B4-BE49-F238E27FC236}">
                <a16:creationId xmlns:a16="http://schemas.microsoft.com/office/drawing/2014/main" id="{6E5BF7BC-88EF-491A-9873-7D7B45CD72F3}"/>
              </a:ext>
            </a:extLst>
          </p:cNvPr>
          <p:cNvSpPr>
            <a:spLocks xmlns:a="http://schemas.openxmlformats.org/drawingml/2006/main" noGrp="1"/>
          </p:cNvSpPr>
          <p:nvPr/>
        </p:nvSpPr>
        <p:spPr>
          <a:xfrm xmlns:a="http://schemas.openxmlformats.org/drawingml/2006/main">
            <a:off x="7639050" y="4591050"/>
            <a:ext cx="819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4"/>
          </a:bodyPr>
          <a:lstStyle xmlns:a="http://schemas.openxmlformats.org/drawingml/2006/main"/>
          <a:p xmlns:a="http://schemas.openxmlformats.org/drawingml/2006/main">
            <a:pPr algn="l">
              <a:buNone/>
              <a:defRPr sz="1875" b="1">
                <a:solidFill>
                  <a:srgbClr val="F4C866"/>
                </a:solidFill>
                <a:latin typeface="Arial"/>
                <a:ea typeface="Arial"/>
                <a:cs typeface="Arial"/>
              </a:defRPr>
            </a:pPr>
            <a:r>
              <a:rPr sz="1875" b="1">
                <a:solidFill>
                  <a:srgbClr val="F4C866"/>
                </a:solidFill>
                <a:latin typeface="Arial"/>
                <a:ea typeface="Arial"/>
                <a:cs typeface="Arial"/>
              </a:rPr>
              <a:t>LOCAL</a:t>
            </a:r>
          </a:p>
        </p:txBody>
      </p:sp>
      <p:sp>
        <p:nvSpPr>
          <p:cNvPr id="18" name="">
            <a:extLst xmlns:a="http://schemas.openxmlformats.org/drawingml/2006/main">
              <a:ext uri="{FF2B5EF4-FFF2-40B4-BE49-F238E27FC236}">
                <a16:creationId xmlns:a16="http://schemas.microsoft.com/office/drawing/2014/main" id="{3DF2F08A-6785-4300-A915-C2B00F2C8546}"/>
              </a:ext>
            </a:extLst>
          </p:cNvPr>
          <p:cNvSpPr>
            <a:spLocks xmlns:a="http://schemas.openxmlformats.org/drawingml/2006/main" noGrp="1"/>
          </p:cNvSpPr>
          <p:nvPr/>
        </p:nvSpPr>
        <p:spPr>
          <a:xfrm xmlns:a="http://schemas.openxmlformats.org/drawingml/2006/main">
            <a:off x="8591550" y="4476750"/>
            <a:ext cx="2724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Learner exports and deletes</a:t>
            </a:r>
          </a:p>
        </p:txBody>
      </p:sp>
      <p:sp>
        <p:nvSpPr>
          <p:cNvPr id="19" name="">
            <a:extLst xmlns:a="http://schemas.openxmlformats.org/drawingml/2006/main">
              <a:ext uri="{FF2B5EF4-FFF2-40B4-BE49-F238E27FC236}">
                <a16:creationId xmlns:a16="http://schemas.microsoft.com/office/drawing/2014/main" id="{DF569BCD-4F7B-4910-A654-B03C0B88B3DB}"/>
              </a:ext>
            </a:extLst>
          </p:cNvPr>
          <p:cNvSpPr>
            <a:spLocks xmlns:a="http://schemas.openxmlformats.org/drawingml/2006/main" noGrp="1"/>
          </p:cNvSpPr>
          <p:nvPr/>
        </p:nvSpPr>
        <p:spPr>
          <a:xfrm xmlns:a="http://schemas.openxmlformats.org/drawingml/2006/main">
            <a:off x="7429500" y="5457825"/>
            <a:ext cx="4171950" cy="590550"/>
          </a:xfrm>
          <a:prstGeom xmlns:a="http://schemas.openxmlformats.org/drawingml/2006/main" prst="roundRect">
            <a:avLst>
              <a:gd name="adj" fmla="val 19355"/>
            </a:avLst>
          </a:prstGeom>
          <a:solidFill xmlns:a="http://schemas.openxmlformats.org/drawingml/2006/main">
            <a:srgbClr val="2B2416"/>
          </a:solidFill>
          <a:ln xmlns:a="http://schemas.openxmlformats.org/drawingml/2006/main" w="9525">
            <a:solidFill>
              <a:srgbClr val="F4C866"/>
            </a:solidFill>
            <a:prstDash val="solid"/>
          </a:ln>
        </p:spPr>
        <p:txBody>
          <a:bodyPr xmlns:a="http://schemas.openxmlformats.org/drawingml/2006/main"/>
          <a:lstStyle xmlns:a="http://schemas.openxmlformats.org/drawingml/2006/main"/>
          <a:p xmlns:a="http://schemas.openxmlformats.org/drawingml/2006/main"/>
        </p:txBody>
      </p:sp>
      <p:sp>
        <p:nvSpPr>
          <p:cNvPr id="20" name="">
            <a:extLst xmlns:a="http://schemas.openxmlformats.org/drawingml/2006/main">
              <a:ext uri="{FF2B5EF4-FFF2-40B4-BE49-F238E27FC236}">
                <a16:creationId xmlns:a16="http://schemas.microsoft.com/office/drawing/2014/main" id="{023C34C6-28CA-4D1E-B7E9-4C21A0E47B6E}"/>
              </a:ext>
            </a:extLst>
          </p:cNvPr>
          <p:cNvSpPr>
            <a:spLocks xmlns:a="http://schemas.openxmlformats.org/drawingml/2006/main" noGrp="1"/>
          </p:cNvSpPr>
          <p:nvPr/>
        </p:nvSpPr>
        <p:spPr>
          <a:xfrm xmlns:a="http://schemas.openxmlformats.org/drawingml/2006/main">
            <a:off x="7600950" y="5600700"/>
            <a:ext cx="3848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Arial"/>
                <a:ea typeface="Arial"/>
                <a:cs typeface="Arial"/>
              </a:defRPr>
            </a:pPr>
            <a:r>
              <a:rPr sz="1125" b="1">
                <a:solidFill>
                  <a:srgbClr val="FFFFFF"/>
                </a:solidFill>
                <a:latin typeface="Arial"/>
                <a:ea typeface="Arial"/>
                <a:cs typeface="Arial"/>
              </a:rPr>
              <a:t>The file still needs restricted storage and a retention plan; do not call it fully anonymous.</a:t>
            </a:r>
          </a:p>
        </p:txBody>
      </p:sp>
    </p:spTree>
    <p:extLst>
      <p:ext uri="{BB962C8B-B14F-4D97-AF65-F5344CB8AC3E}">
        <p14:creationId xmlns:p14="http://schemas.microsoft.com/office/powerpoint/2010/main" val="697113092"/>
      </p:ext>
    </p:extLst>
  </p:cSld>
</p:sld>
</file>

<file path=ppt/slides/slide13.xml><?xml version="1.0" encoding="utf-8"?>
<p:sld xmlns:p="http://schemas.openxmlformats.org/presentationml/2006/main">
  <p:cSld>
    <p:bg>
      <p:bgPr>
        <a:solidFill xmlns:a="http://schemas.openxmlformats.org/drawingml/2006/main">
          <a:srgbClr val="07111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E2E27B8-F4D4-4C98-B752-8A3D44F06839}"/>
              </a:ext>
            </a:extLst>
          </p:cNvPr>
          <p:cNvSpPr>
            <a:spLocks xmlns:a="http://schemas.openxmlformats.org/drawingml/2006/main" noGrp="1"/>
          </p:cNvSpPr>
          <p:nvPr/>
        </p:nvSpPr>
        <p:spPr>
          <a:xfrm xmlns:a="http://schemas.openxmlformats.org/drawingml/2006/main">
            <a:off x="514350" y="2857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48D2C2"/>
                </a:solidFill>
                <a:latin typeface="Arial"/>
                <a:ea typeface="Arial"/>
                <a:cs typeface="Arial"/>
              </a:defRPr>
            </a:pPr>
            <a:r>
              <a:rPr sz="975" b="1">
                <a:solidFill>
                  <a:srgbClr val="48D2C2"/>
                </a:solidFill>
                <a:latin typeface="Arial"/>
                <a:ea typeface="Arial"/>
                <a:cs typeface="Arial"/>
              </a:rPr>
              <a:t>AUTHLAB  /  Q&amp;A</a:t>
            </a:r>
          </a:p>
        </p:txBody>
      </p:sp>
      <p:sp>
        <p:nvSpPr>
          <p:cNvPr id="2" name="">
            <a:extLst xmlns:a="http://schemas.openxmlformats.org/drawingml/2006/main">
              <a:ext uri="{FF2B5EF4-FFF2-40B4-BE49-F238E27FC236}">
                <a16:creationId xmlns:a16="http://schemas.microsoft.com/office/drawing/2014/main" id="{10F2AF02-B904-4720-8515-F3535ECE0670}"/>
              </a:ext>
            </a:extLst>
          </p:cNvPr>
          <p:cNvSpPr>
            <a:spLocks xmlns:a="http://schemas.openxmlformats.org/drawingml/2006/main" noGrp="1"/>
          </p:cNvSpPr>
          <p:nvPr/>
        </p:nvSpPr>
        <p:spPr>
          <a:xfrm xmlns:a="http://schemas.openxmlformats.org/drawingml/2006/main">
            <a:off x="11334750" y="295275"/>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A9B5C5"/>
                </a:solidFill>
                <a:latin typeface="Arial"/>
                <a:ea typeface="Arial"/>
                <a:cs typeface="Arial"/>
              </a:defRPr>
            </a:pPr>
            <a:r>
              <a:rPr sz="975" b="1">
                <a:solidFill>
                  <a:srgbClr val="A9B5C5"/>
                </a:solidFill>
                <a:latin typeface="Arial"/>
                <a:ea typeface="Arial"/>
                <a:cs typeface="Arial"/>
              </a:rPr>
              <a:t>Q5</a:t>
            </a:r>
          </a:p>
        </p:txBody>
      </p:sp>
      <p:sp>
        <p:nvSpPr>
          <p:cNvPr id="3" name="">
            <a:extLst xmlns:a="http://schemas.openxmlformats.org/drawingml/2006/main">
              <a:ext uri="{FF2B5EF4-FFF2-40B4-BE49-F238E27FC236}">
                <a16:creationId xmlns:a16="http://schemas.microsoft.com/office/drawing/2014/main" id="{14DB37B5-206F-4A88-9F5B-C332E7ACFC75}"/>
              </a:ext>
            </a:extLst>
          </p:cNvPr>
          <p:cNvSpPr>
            <a:spLocks xmlns:a="http://schemas.openxmlformats.org/drawingml/2006/main" noGrp="1"/>
          </p:cNvSpPr>
          <p:nvPr/>
        </p:nvSpPr>
        <p:spPr>
          <a:xfrm xmlns:a="http://schemas.openxmlformats.org/drawingml/2006/main">
            <a:off x="514350" y="590550"/>
            <a:ext cx="11182350" cy="19050"/>
          </a:xfrm>
          <a:prstGeom xmlns:a="http://schemas.openxmlformats.org/drawingml/2006/main" prst="rect">
            <a:avLst/>
          </a:prstGeom>
          <a:solidFill xmlns:a="http://schemas.openxmlformats.org/drawingml/2006/main">
            <a:srgbClr val="263B58"/>
          </a:solidFill>
          <a:ln xmlns:a="http://schemas.openxmlformats.org/drawingml/2006/main" w="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7755CFEE-A697-400A-A75C-B9A828199EB2}"/>
              </a:ext>
            </a:extLst>
          </p:cNvPr>
          <p:cNvSpPr>
            <a:spLocks xmlns:a="http://schemas.openxmlformats.org/drawingml/2006/main" noGrp="1"/>
          </p:cNvSpPr>
          <p:nvPr/>
        </p:nvSpPr>
        <p:spPr>
          <a:xfrm xmlns:a="http://schemas.openxmlformats.org/drawingml/2006/main">
            <a:off x="514350" y="800100"/>
            <a:ext cx="11049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FFFFFF"/>
                </a:solidFill>
                <a:latin typeface="Arial"/>
                <a:ea typeface="Arial"/>
                <a:cs typeface="Arial"/>
              </a:defRPr>
            </a:pPr>
            <a:r>
              <a:rPr sz="3150" b="1">
                <a:solidFill>
                  <a:srgbClr val="FFFFFF"/>
                </a:solidFill>
                <a:latin typeface="Arial"/>
                <a:ea typeface="Arial"/>
                <a:cs typeface="Arial"/>
              </a:rPr>
              <a:t>Parallel forms reduce rehearsal, not every validity threat</a:t>
            </a:r>
          </a:p>
        </p:txBody>
      </p:sp>
      <p:sp>
        <p:nvSpPr>
          <p:cNvPr id="5" name="">
            <a:extLst xmlns:a="http://schemas.openxmlformats.org/drawingml/2006/main">
              <a:ext uri="{FF2B5EF4-FFF2-40B4-BE49-F238E27FC236}">
                <a16:creationId xmlns:a16="http://schemas.microsoft.com/office/drawing/2014/main" id="{43275EE1-0921-4B3D-B84C-B08361BAA9F9}"/>
              </a:ext>
            </a:extLst>
          </p:cNvPr>
          <p:cNvSpPr>
            <a:spLocks xmlns:a="http://schemas.openxmlformats.org/drawingml/2006/main" noGrp="1"/>
          </p:cNvSpPr>
          <p:nvPr/>
        </p:nvSpPr>
        <p:spPr>
          <a:xfrm xmlns:a="http://schemas.openxmlformats.org/drawingml/2006/main">
            <a:off x="533400" y="1485900"/>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A9B5C5"/>
                </a:solidFill>
                <a:latin typeface="Arial"/>
                <a:ea typeface="Arial"/>
                <a:cs typeface="Arial"/>
              </a:defRPr>
            </a:pPr>
            <a:r>
              <a:rPr sz="1425" b="0">
                <a:solidFill>
                  <a:srgbClr val="A9B5C5"/>
                </a:solidFill>
                <a:latin typeface="Arial"/>
                <a:ea typeface="Arial"/>
                <a:cs typeface="Arial"/>
              </a:rPr>
              <a:t>Form A hides feedback; Form B explains answers only after submission.</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83a6f03b6bcf4a64"/>
          <a:srcRect xmlns:a="http://schemas.openxmlformats.org/drawingml/2006/main" l="16" t="0" r="16" b="0"/>
          <a:stretch xmlns:a="http://schemas.openxmlformats.org/drawingml/2006/main">
            <a:fillRect l="0" t="0" r="0" b="0"/>
          </a:stretch>
        </p:blipFill>
        <p:spPr>
          <a:xfrm xmlns:a="http://schemas.openxmlformats.org/drawingml/2006/main" flipH="0" flipV="0">
            <a:off x="514350" y="2095500"/>
            <a:ext cx="6534150" cy="3676650"/>
          </a:xfrm>
          <a:prstGeom xmlns:a="http://schemas.openxmlformats.org/drawingml/2006/main" prst="roundRect">
            <a:avLst/>
          </a:prstGeom>
        </p:spPr>
      </p:pic>
      <p:sp>
        <p:nvSpPr>
          <p:cNvPr id="7" name="">
            <a:extLst xmlns:a="http://schemas.openxmlformats.org/drawingml/2006/main">
              <a:ext uri="{FF2B5EF4-FFF2-40B4-BE49-F238E27FC236}">
                <a16:creationId xmlns:a16="http://schemas.microsoft.com/office/drawing/2014/main" id="{E33571D4-5E14-4645-A123-DEB8DCEE6111}"/>
              </a:ext>
            </a:extLst>
          </p:cNvPr>
          <p:cNvSpPr>
            <a:spLocks xmlns:a="http://schemas.openxmlformats.org/drawingml/2006/main" noGrp="1"/>
          </p:cNvSpPr>
          <p:nvPr/>
        </p:nvSpPr>
        <p:spPr>
          <a:xfrm xmlns:a="http://schemas.openxmlformats.org/drawingml/2006/main">
            <a:off x="7429500" y="2095500"/>
            <a:ext cx="4171950" cy="838200"/>
          </a:xfrm>
          <a:prstGeom xmlns:a="http://schemas.openxmlformats.org/drawingml/2006/main" prst="roundRect">
            <a:avLst>
              <a:gd name="adj" fmla="val 13636"/>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8" name="">
            <a:extLst xmlns:a="http://schemas.openxmlformats.org/drawingml/2006/main">
              <a:ext uri="{FF2B5EF4-FFF2-40B4-BE49-F238E27FC236}">
                <a16:creationId xmlns:a16="http://schemas.microsoft.com/office/drawing/2014/main" id="{4570A921-4561-4825-9737-3B734F2BB457}"/>
              </a:ext>
            </a:extLst>
          </p:cNvPr>
          <p:cNvSpPr>
            <a:spLocks xmlns:a="http://schemas.openxmlformats.org/drawingml/2006/main" noGrp="1"/>
          </p:cNvSpPr>
          <p:nvPr/>
        </p:nvSpPr>
        <p:spPr>
          <a:xfrm xmlns:a="http://schemas.openxmlformats.org/drawingml/2006/main">
            <a:off x="7639050" y="22383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A9B5C5"/>
                </a:solidFill>
                <a:latin typeface="Arial"/>
                <a:ea typeface="Arial"/>
                <a:cs typeface="Arial"/>
              </a:defRPr>
            </a:pPr>
            <a:r>
              <a:rPr sz="900" b="1">
                <a:solidFill>
                  <a:srgbClr val="A9B5C5"/>
                </a:solidFill>
                <a:latin typeface="Arial"/>
                <a:ea typeface="Arial"/>
                <a:cs typeface="Arial"/>
              </a:rPr>
              <a:t>FORM A</a:t>
            </a:r>
          </a:p>
        </p:txBody>
      </p:sp>
      <p:sp>
        <p:nvSpPr>
          <p:cNvPr id="9" name="">
            <a:extLst xmlns:a="http://schemas.openxmlformats.org/drawingml/2006/main">
              <a:ext uri="{FF2B5EF4-FFF2-40B4-BE49-F238E27FC236}">
                <a16:creationId xmlns:a16="http://schemas.microsoft.com/office/drawing/2014/main" id="{6B7A3B9B-BBA8-4C04-AB7D-147560BE4035}"/>
              </a:ext>
            </a:extLst>
          </p:cNvPr>
          <p:cNvSpPr>
            <a:spLocks xmlns:a="http://schemas.openxmlformats.org/drawingml/2006/main" noGrp="1"/>
          </p:cNvSpPr>
          <p:nvPr/>
        </p:nvSpPr>
        <p:spPr>
          <a:xfrm xmlns:a="http://schemas.openxmlformats.org/drawingml/2006/main">
            <a:off x="7639050" y="2457450"/>
            <a:ext cx="819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75D6A3"/>
                </a:solidFill>
                <a:latin typeface="Arial"/>
                <a:ea typeface="Arial"/>
                <a:cs typeface="Arial"/>
              </a:defRPr>
            </a:pPr>
            <a:r>
              <a:rPr sz="1875" b="1">
                <a:solidFill>
                  <a:srgbClr val="75D6A3"/>
                </a:solidFill>
                <a:latin typeface="Arial"/>
                <a:ea typeface="Arial"/>
                <a:cs typeface="Arial"/>
              </a:rPr>
              <a:t>HIDE</a:t>
            </a:r>
          </a:p>
        </p:txBody>
      </p:sp>
      <p:sp>
        <p:nvSpPr>
          <p:cNvPr id="10" name="">
            <a:extLst xmlns:a="http://schemas.openxmlformats.org/drawingml/2006/main">
              <a:ext uri="{FF2B5EF4-FFF2-40B4-BE49-F238E27FC236}">
                <a16:creationId xmlns:a16="http://schemas.microsoft.com/office/drawing/2014/main" id="{47A2391B-FA61-4023-98FD-D4C31454ECCB}"/>
              </a:ext>
            </a:extLst>
          </p:cNvPr>
          <p:cNvSpPr>
            <a:spLocks xmlns:a="http://schemas.openxmlformats.org/drawingml/2006/main" noGrp="1"/>
          </p:cNvSpPr>
          <p:nvPr/>
        </p:nvSpPr>
        <p:spPr>
          <a:xfrm xmlns:a="http://schemas.openxmlformats.org/drawingml/2006/main">
            <a:off x="8591550" y="2343150"/>
            <a:ext cx="2724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No score or answer reveal</a:t>
            </a:r>
          </a:p>
        </p:txBody>
      </p:sp>
      <p:sp>
        <p:nvSpPr>
          <p:cNvPr id="11" name="">
            <a:extLst xmlns:a="http://schemas.openxmlformats.org/drawingml/2006/main">
              <a:ext uri="{FF2B5EF4-FFF2-40B4-BE49-F238E27FC236}">
                <a16:creationId xmlns:a16="http://schemas.microsoft.com/office/drawing/2014/main" id="{E3D8BE95-D046-43C8-8776-5DFBA34C41DC}"/>
              </a:ext>
            </a:extLst>
          </p:cNvPr>
          <p:cNvSpPr>
            <a:spLocks xmlns:a="http://schemas.openxmlformats.org/drawingml/2006/main" noGrp="1"/>
          </p:cNvSpPr>
          <p:nvPr/>
        </p:nvSpPr>
        <p:spPr>
          <a:xfrm xmlns:a="http://schemas.openxmlformats.org/drawingml/2006/main">
            <a:off x="7429500" y="3162300"/>
            <a:ext cx="4171950" cy="838200"/>
          </a:xfrm>
          <a:prstGeom xmlns:a="http://schemas.openxmlformats.org/drawingml/2006/main" prst="roundRect">
            <a:avLst>
              <a:gd name="adj" fmla="val 13636"/>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2" name="">
            <a:extLst xmlns:a="http://schemas.openxmlformats.org/drawingml/2006/main">
              <a:ext uri="{FF2B5EF4-FFF2-40B4-BE49-F238E27FC236}">
                <a16:creationId xmlns:a16="http://schemas.microsoft.com/office/drawing/2014/main" id="{7404B0F4-07F4-48AC-A059-B7DBCD1EBBCF}"/>
              </a:ext>
            </a:extLst>
          </p:cNvPr>
          <p:cNvSpPr>
            <a:spLocks xmlns:a="http://schemas.openxmlformats.org/drawingml/2006/main" noGrp="1"/>
          </p:cNvSpPr>
          <p:nvPr/>
        </p:nvSpPr>
        <p:spPr>
          <a:xfrm xmlns:a="http://schemas.openxmlformats.org/drawingml/2006/main">
            <a:off x="7639050" y="33051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A9B5C5"/>
                </a:solidFill>
                <a:latin typeface="Arial"/>
                <a:ea typeface="Arial"/>
                <a:cs typeface="Arial"/>
              </a:defRPr>
            </a:pPr>
            <a:r>
              <a:rPr sz="900" b="1">
                <a:solidFill>
                  <a:srgbClr val="A9B5C5"/>
                </a:solidFill>
                <a:latin typeface="Arial"/>
                <a:ea typeface="Arial"/>
                <a:cs typeface="Arial"/>
              </a:rPr>
              <a:t>FORM B</a:t>
            </a:r>
          </a:p>
        </p:txBody>
      </p:sp>
      <p:sp>
        <p:nvSpPr>
          <p:cNvPr id="13" name="">
            <a:extLst xmlns:a="http://schemas.openxmlformats.org/drawingml/2006/main">
              <a:ext uri="{FF2B5EF4-FFF2-40B4-BE49-F238E27FC236}">
                <a16:creationId xmlns:a16="http://schemas.microsoft.com/office/drawing/2014/main" id="{CCC1AE76-3CC3-4CCE-A9F5-BD4A206093FF}"/>
              </a:ext>
            </a:extLst>
          </p:cNvPr>
          <p:cNvSpPr>
            <a:spLocks xmlns:a="http://schemas.openxmlformats.org/drawingml/2006/main" noGrp="1"/>
          </p:cNvSpPr>
          <p:nvPr/>
        </p:nvSpPr>
        <p:spPr>
          <a:xfrm xmlns:a="http://schemas.openxmlformats.org/drawingml/2006/main">
            <a:off x="7639050" y="3524250"/>
            <a:ext cx="819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75D6A3"/>
                </a:solidFill>
                <a:latin typeface="Arial"/>
                <a:ea typeface="Arial"/>
                <a:cs typeface="Arial"/>
              </a:defRPr>
            </a:pPr>
            <a:r>
              <a:rPr sz="1875" b="1">
                <a:solidFill>
                  <a:srgbClr val="75D6A3"/>
                </a:solidFill>
                <a:latin typeface="Arial"/>
                <a:ea typeface="Arial"/>
                <a:cs typeface="Arial"/>
              </a:rPr>
              <a:t>SHOW</a:t>
            </a:r>
          </a:p>
        </p:txBody>
      </p:sp>
      <p:sp>
        <p:nvSpPr>
          <p:cNvPr id="14" name="">
            <a:extLst xmlns:a="http://schemas.openxmlformats.org/drawingml/2006/main">
              <a:ext uri="{FF2B5EF4-FFF2-40B4-BE49-F238E27FC236}">
                <a16:creationId xmlns:a16="http://schemas.microsoft.com/office/drawing/2014/main" id="{9B07D2FF-07A2-491C-9062-1E829250A566}"/>
              </a:ext>
            </a:extLst>
          </p:cNvPr>
          <p:cNvSpPr>
            <a:spLocks xmlns:a="http://schemas.openxmlformats.org/drawingml/2006/main" noGrp="1"/>
          </p:cNvSpPr>
          <p:nvPr/>
        </p:nvSpPr>
        <p:spPr>
          <a:xfrm xmlns:a="http://schemas.openxmlformats.org/drawingml/2006/main">
            <a:off x="8591550" y="3409950"/>
            <a:ext cx="2724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Rationale + distractors + LO</a:t>
            </a:r>
          </a:p>
        </p:txBody>
      </p:sp>
      <p:sp>
        <p:nvSpPr>
          <p:cNvPr id="15" name="">
            <a:extLst xmlns:a="http://schemas.openxmlformats.org/drawingml/2006/main">
              <a:ext uri="{FF2B5EF4-FFF2-40B4-BE49-F238E27FC236}">
                <a16:creationId xmlns:a16="http://schemas.microsoft.com/office/drawing/2014/main" id="{C56F0112-6712-463A-9B11-ABD9E9074E19}"/>
              </a:ext>
            </a:extLst>
          </p:cNvPr>
          <p:cNvSpPr>
            <a:spLocks xmlns:a="http://schemas.openxmlformats.org/drawingml/2006/main" noGrp="1"/>
          </p:cNvSpPr>
          <p:nvPr/>
        </p:nvSpPr>
        <p:spPr>
          <a:xfrm xmlns:a="http://schemas.openxmlformats.org/drawingml/2006/main">
            <a:off x="7429500" y="4229100"/>
            <a:ext cx="4171950" cy="838200"/>
          </a:xfrm>
          <a:prstGeom xmlns:a="http://schemas.openxmlformats.org/drawingml/2006/main" prst="roundRect">
            <a:avLst>
              <a:gd name="adj" fmla="val 13636"/>
            </a:avLst>
          </a:prstGeom>
          <a:solidFill xmlns:a="http://schemas.openxmlformats.org/drawingml/2006/main">
            <a:srgbClr val="13243D"/>
          </a:solidFill>
          <a:ln xmlns:a="http://schemas.openxmlformats.org/drawingml/2006/main" w="9525">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6" name="">
            <a:extLst xmlns:a="http://schemas.openxmlformats.org/drawingml/2006/main">
              <a:ext uri="{FF2B5EF4-FFF2-40B4-BE49-F238E27FC236}">
                <a16:creationId xmlns:a16="http://schemas.microsoft.com/office/drawing/2014/main" id="{8D1B81AC-3CAF-44A5-9465-51F6AE81A9B0}"/>
              </a:ext>
            </a:extLst>
          </p:cNvPr>
          <p:cNvSpPr>
            <a:spLocks xmlns:a="http://schemas.openxmlformats.org/drawingml/2006/main" noGrp="1"/>
          </p:cNvSpPr>
          <p:nvPr/>
        </p:nvSpPr>
        <p:spPr>
          <a:xfrm xmlns:a="http://schemas.openxmlformats.org/drawingml/2006/main">
            <a:off x="7639050" y="43719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A9B5C5"/>
                </a:solidFill>
                <a:latin typeface="Arial"/>
                <a:ea typeface="Arial"/>
                <a:cs typeface="Arial"/>
              </a:defRPr>
            </a:pPr>
            <a:r>
              <a:rPr sz="900" b="1">
                <a:solidFill>
                  <a:srgbClr val="A9B5C5"/>
                </a:solidFill>
                <a:latin typeface="Arial"/>
                <a:ea typeface="Arial"/>
                <a:cs typeface="Arial"/>
              </a:rPr>
              <a:t>HUMANS</a:t>
            </a:r>
          </a:p>
        </p:txBody>
      </p:sp>
      <p:sp>
        <p:nvSpPr>
          <p:cNvPr id="17" name="">
            <a:extLst xmlns:a="http://schemas.openxmlformats.org/drawingml/2006/main">
              <a:ext uri="{FF2B5EF4-FFF2-40B4-BE49-F238E27FC236}">
                <a16:creationId xmlns:a16="http://schemas.microsoft.com/office/drawing/2014/main" id="{6E5BF7BC-88EF-491A-9873-7D7B45CD72F3}"/>
              </a:ext>
            </a:extLst>
          </p:cNvPr>
          <p:cNvSpPr>
            <a:spLocks xmlns:a="http://schemas.openxmlformats.org/drawingml/2006/main" noGrp="1"/>
          </p:cNvSpPr>
          <p:nvPr/>
        </p:nvSpPr>
        <p:spPr>
          <a:xfrm xmlns:a="http://schemas.openxmlformats.org/drawingml/2006/main">
            <a:off x="7639050" y="4591050"/>
            <a:ext cx="819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F4C866"/>
                </a:solidFill>
                <a:latin typeface="Arial"/>
                <a:ea typeface="Arial"/>
                <a:cs typeface="Arial"/>
              </a:defRPr>
            </a:pPr>
            <a:r>
              <a:rPr sz="1875" b="1">
                <a:solidFill>
                  <a:srgbClr val="F4C866"/>
                </a:solidFill>
                <a:latin typeface="Arial"/>
                <a:ea typeface="Arial"/>
                <a:cs typeface="Arial"/>
              </a:rPr>
              <a:t>0</a:t>
            </a:r>
          </a:p>
        </p:txBody>
      </p:sp>
      <p:sp>
        <p:nvSpPr>
          <p:cNvPr id="18" name="">
            <a:extLst xmlns:a="http://schemas.openxmlformats.org/drawingml/2006/main">
              <a:ext uri="{FF2B5EF4-FFF2-40B4-BE49-F238E27FC236}">
                <a16:creationId xmlns:a16="http://schemas.microsoft.com/office/drawing/2014/main" id="{3DF2F08A-6785-4300-A915-C2B00F2C8546}"/>
              </a:ext>
            </a:extLst>
          </p:cNvPr>
          <p:cNvSpPr>
            <a:spLocks xmlns:a="http://schemas.openxmlformats.org/drawingml/2006/main" noGrp="1"/>
          </p:cNvSpPr>
          <p:nvPr/>
        </p:nvSpPr>
        <p:spPr>
          <a:xfrm xmlns:a="http://schemas.openxmlformats.org/drawingml/2006/main">
            <a:off x="8591550" y="4476750"/>
            <a:ext cx="2724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No effectiveness claim</a:t>
            </a:r>
          </a:p>
        </p:txBody>
      </p:sp>
      <p:sp>
        <p:nvSpPr>
          <p:cNvPr id="19" name="">
            <a:extLst xmlns:a="http://schemas.openxmlformats.org/drawingml/2006/main">
              <a:ext uri="{FF2B5EF4-FFF2-40B4-BE49-F238E27FC236}">
                <a16:creationId xmlns:a16="http://schemas.microsoft.com/office/drawing/2014/main" id="{DF569BCD-4F7B-4910-A654-B03C0B88B3DB}"/>
              </a:ext>
            </a:extLst>
          </p:cNvPr>
          <p:cNvSpPr>
            <a:spLocks xmlns:a="http://schemas.openxmlformats.org/drawingml/2006/main" noGrp="1"/>
          </p:cNvSpPr>
          <p:nvPr/>
        </p:nvSpPr>
        <p:spPr>
          <a:xfrm xmlns:a="http://schemas.openxmlformats.org/drawingml/2006/main">
            <a:off x="7429500" y="5457825"/>
            <a:ext cx="4171950" cy="590550"/>
          </a:xfrm>
          <a:prstGeom xmlns:a="http://schemas.openxmlformats.org/drawingml/2006/main" prst="roundRect">
            <a:avLst>
              <a:gd name="adj" fmla="val 19355"/>
            </a:avLst>
          </a:prstGeom>
          <a:solidFill xmlns:a="http://schemas.openxmlformats.org/drawingml/2006/main">
            <a:srgbClr val="2B2416"/>
          </a:solidFill>
          <a:ln xmlns:a="http://schemas.openxmlformats.org/drawingml/2006/main" w="9525">
            <a:solidFill>
              <a:srgbClr val="F4C866"/>
            </a:solidFill>
            <a:prstDash val="solid"/>
          </a:ln>
        </p:spPr>
        <p:txBody>
          <a:bodyPr xmlns:a="http://schemas.openxmlformats.org/drawingml/2006/main"/>
          <a:lstStyle xmlns:a="http://schemas.openxmlformats.org/drawingml/2006/main"/>
          <a:p xmlns:a="http://schemas.openxmlformats.org/drawingml/2006/main"/>
        </p:txBody>
      </p:sp>
      <p:sp>
        <p:nvSpPr>
          <p:cNvPr id="20" name="">
            <a:extLst xmlns:a="http://schemas.openxmlformats.org/drawingml/2006/main">
              <a:ext uri="{FF2B5EF4-FFF2-40B4-BE49-F238E27FC236}">
                <a16:creationId xmlns:a16="http://schemas.microsoft.com/office/drawing/2014/main" id="{023C34C6-28CA-4D1E-B7E9-4C21A0E47B6E}"/>
              </a:ext>
            </a:extLst>
          </p:cNvPr>
          <p:cNvSpPr>
            <a:spLocks xmlns:a="http://schemas.openxmlformats.org/drawingml/2006/main" noGrp="1"/>
          </p:cNvSpPr>
          <p:nvPr/>
        </p:nvSpPr>
        <p:spPr>
          <a:xfrm xmlns:a="http://schemas.openxmlformats.org/drawingml/2006/main">
            <a:off x="7600950" y="5600700"/>
            <a:ext cx="3848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177"/>
          </a:bodyPr>
          <a:lstStyle xmlns:a="http://schemas.openxmlformats.org/drawingml/2006/main"/>
          <a:p xmlns:a="http://schemas.openxmlformats.org/drawingml/2006/main">
            <a:pPr algn="l">
              <a:buNone/>
              <a:defRPr sz="1125" b="1">
                <a:solidFill>
                  <a:srgbClr val="FFFFFF"/>
                </a:solidFill>
                <a:latin typeface="Arial"/>
                <a:ea typeface="Arial"/>
                <a:cs typeface="Arial"/>
              </a:defRPr>
            </a:pPr>
            <a:r>
              <a:rPr sz="1125" b="1">
                <a:solidFill>
                  <a:srgbClr val="FFFFFF"/>
                </a:solidFill>
                <a:latin typeface="Arial"/>
                <a:ea typeface="Arial"/>
                <a:cs typeface="Arial"/>
              </a:rPr>
              <a:t>Remaining threats: convenience sample, self-selection, practice effect, no retention test and facilitator influence.</a:t>
            </a:r>
          </a:p>
        </p:txBody>
      </p:sp>
    </p:spTree>
    <p:extLst>
      <p:ext uri="{BB962C8B-B14F-4D97-AF65-F5344CB8AC3E}">
        <p14:creationId xmlns:p14="http://schemas.microsoft.com/office/powerpoint/2010/main" val="697113092"/>
      </p:ext>
    </p:extLst>
  </p:cSld>
</p:sld>
</file>

<file path=ppt/slides/slide14.xml><?xml version="1.0" encoding="utf-8"?>
<p:sld xmlns:p="http://schemas.openxmlformats.org/presentationml/2006/main">
  <p:cSld>
    <p:bg>
      <p:bgPr>
        <a:solidFill xmlns:a="http://schemas.openxmlformats.org/drawingml/2006/main">
          <a:srgbClr val="07111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DBDB1837-3003-45D2-BDCB-537CDA059026}"/>
              </a:ext>
            </a:extLst>
          </p:cNvPr>
          <p:cNvSpPr>
            <a:spLocks xmlns:a="http://schemas.openxmlformats.org/drawingml/2006/main" noGrp="1"/>
          </p:cNvSpPr>
          <p:nvPr/>
        </p:nvSpPr>
        <p:spPr>
          <a:xfrm xmlns:a="http://schemas.openxmlformats.org/drawingml/2006/main">
            <a:off x="514350" y="2857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48D2C2"/>
                </a:solidFill>
                <a:latin typeface="Arial"/>
                <a:ea typeface="Arial"/>
                <a:cs typeface="Arial"/>
              </a:defRPr>
            </a:pPr>
            <a:r>
              <a:rPr sz="975" b="1">
                <a:solidFill>
                  <a:srgbClr val="48D2C2"/>
                </a:solidFill>
                <a:latin typeface="Arial"/>
                <a:ea typeface="Arial"/>
                <a:cs typeface="Arial"/>
              </a:rPr>
              <a:t>AUTHLAB  /  Q&amp;A</a:t>
            </a:r>
          </a:p>
        </p:txBody>
      </p:sp>
      <p:sp>
        <p:nvSpPr>
          <p:cNvPr id="2" name="">
            <a:extLst xmlns:a="http://schemas.openxmlformats.org/drawingml/2006/main">
              <a:ext uri="{FF2B5EF4-FFF2-40B4-BE49-F238E27FC236}">
                <a16:creationId xmlns:a16="http://schemas.microsoft.com/office/drawing/2014/main" id="{3799FD52-1E0E-4554-8819-1B1B22429E42}"/>
              </a:ext>
            </a:extLst>
          </p:cNvPr>
          <p:cNvSpPr>
            <a:spLocks xmlns:a="http://schemas.openxmlformats.org/drawingml/2006/main" noGrp="1"/>
          </p:cNvSpPr>
          <p:nvPr/>
        </p:nvSpPr>
        <p:spPr>
          <a:xfrm xmlns:a="http://schemas.openxmlformats.org/drawingml/2006/main">
            <a:off x="11334750" y="295275"/>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A9B5C5"/>
                </a:solidFill>
                <a:latin typeface="Arial"/>
                <a:ea typeface="Arial"/>
                <a:cs typeface="Arial"/>
              </a:defRPr>
            </a:pPr>
            <a:r>
              <a:rPr sz="975" b="1">
                <a:solidFill>
                  <a:srgbClr val="A9B5C5"/>
                </a:solidFill>
                <a:latin typeface="Arial"/>
                <a:ea typeface="Arial"/>
                <a:cs typeface="Arial"/>
              </a:rPr>
              <a:t>Q6</a:t>
            </a:r>
          </a:p>
        </p:txBody>
      </p:sp>
      <p:sp>
        <p:nvSpPr>
          <p:cNvPr id="3" name="">
            <a:extLst xmlns:a="http://schemas.openxmlformats.org/drawingml/2006/main">
              <a:ext uri="{FF2B5EF4-FFF2-40B4-BE49-F238E27FC236}">
                <a16:creationId xmlns:a16="http://schemas.microsoft.com/office/drawing/2014/main" id="{7BCE8863-49D0-46B1-8AF9-B3554946BD27}"/>
              </a:ext>
            </a:extLst>
          </p:cNvPr>
          <p:cNvSpPr>
            <a:spLocks xmlns:a="http://schemas.openxmlformats.org/drawingml/2006/main" noGrp="1"/>
          </p:cNvSpPr>
          <p:nvPr/>
        </p:nvSpPr>
        <p:spPr>
          <a:xfrm xmlns:a="http://schemas.openxmlformats.org/drawingml/2006/main">
            <a:off x="514350" y="590550"/>
            <a:ext cx="11182350" cy="19050"/>
          </a:xfrm>
          <a:prstGeom xmlns:a="http://schemas.openxmlformats.org/drawingml/2006/main" prst="rect">
            <a:avLst/>
          </a:prstGeom>
          <a:solidFill xmlns:a="http://schemas.openxmlformats.org/drawingml/2006/main">
            <a:srgbClr val="263B58"/>
          </a:solidFill>
          <a:ln xmlns:a="http://schemas.openxmlformats.org/drawingml/2006/main" w="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CF5F430C-2EA5-4A7D-8B88-575AB98704BA}"/>
              </a:ext>
            </a:extLst>
          </p:cNvPr>
          <p:cNvSpPr>
            <a:spLocks xmlns:a="http://schemas.openxmlformats.org/drawingml/2006/main" noGrp="1"/>
          </p:cNvSpPr>
          <p:nvPr/>
        </p:nvSpPr>
        <p:spPr>
          <a:xfrm xmlns:a="http://schemas.openxmlformats.org/drawingml/2006/main">
            <a:off x="514350" y="800100"/>
            <a:ext cx="11049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FFFFFF"/>
                </a:solidFill>
                <a:latin typeface="Arial"/>
                <a:ea typeface="Arial"/>
                <a:cs typeface="Arial"/>
              </a:defRPr>
            </a:pPr>
            <a:r>
              <a:rPr sz="3150" b="1">
                <a:solidFill>
                  <a:srgbClr val="FFFFFF"/>
                </a:solidFill>
                <a:latin typeface="Arial"/>
                <a:ea typeface="Arial"/>
                <a:cs typeface="Arial"/>
              </a:rPr>
              <a:t>The limitations narrow what the project can claim</a:t>
            </a:r>
          </a:p>
        </p:txBody>
      </p:sp>
      <p:sp>
        <p:nvSpPr>
          <p:cNvPr id="5" name="">
            <a:extLst xmlns:a="http://schemas.openxmlformats.org/drawingml/2006/main">
              <a:ext uri="{FF2B5EF4-FFF2-40B4-BE49-F238E27FC236}">
                <a16:creationId xmlns:a16="http://schemas.microsoft.com/office/drawing/2014/main" id="{13A4935B-323E-4AD9-8E56-4E11472F5E79}"/>
              </a:ext>
            </a:extLst>
          </p:cNvPr>
          <p:cNvSpPr>
            <a:spLocks xmlns:a="http://schemas.openxmlformats.org/drawingml/2006/main" noGrp="1"/>
          </p:cNvSpPr>
          <p:nvPr/>
        </p:nvSpPr>
        <p:spPr>
          <a:xfrm xmlns:a="http://schemas.openxmlformats.org/drawingml/2006/main">
            <a:off x="533400" y="1485900"/>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A9B5C5"/>
                </a:solidFill>
                <a:latin typeface="Arial"/>
                <a:ea typeface="Arial"/>
                <a:cs typeface="Arial"/>
              </a:defRPr>
            </a:pPr>
            <a:r>
              <a:rPr sz="1425" b="0">
                <a:solidFill>
                  <a:srgbClr val="A9B5C5"/>
                </a:solidFill>
                <a:latin typeface="Arial"/>
                <a:ea typeface="Arial"/>
                <a:cs typeface="Arial"/>
              </a:rPr>
              <a:t>Each gap belongs to a different evidence category.</a:t>
            </a:r>
          </a:p>
        </p:txBody>
      </p:sp>
      <p:sp>
        <p:nvSpPr>
          <p:cNvPr id="6" name="">
            <a:extLst xmlns:a="http://schemas.openxmlformats.org/drawingml/2006/main">
              <a:ext uri="{FF2B5EF4-FFF2-40B4-BE49-F238E27FC236}">
                <a16:creationId xmlns:a16="http://schemas.microsoft.com/office/drawing/2014/main" id="{EA705CDF-8176-4A0C-BFB2-DEA21C112BE9}"/>
              </a:ext>
            </a:extLst>
          </p:cNvPr>
          <p:cNvSpPr>
            <a:spLocks xmlns:a="http://schemas.openxmlformats.org/drawingml/2006/main" noGrp="1"/>
          </p:cNvSpPr>
          <p:nvPr/>
        </p:nvSpPr>
        <p:spPr>
          <a:xfrm xmlns:a="http://schemas.openxmlformats.org/drawingml/2006/main">
            <a:off x="514350" y="2228850"/>
            <a:ext cx="3467100" cy="2514600"/>
          </a:xfrm>
          <a:prstGeom xmlns:a="http://schemas.openxmlformats.org/drawingml/2006/main" prst="roundRect">
            <a:avLst>
              <a:gd name="adj" fmla="val 6061"/>
            </a:avLst>
          </a:prstGeom>
          <a:solidFill xmlns:a="http://schemas.openxmlformats.org/drawingml/2006/main">
            <a:srgbClr val="13243D"/>
          </a:solidFill>
          <a:ln xmlns:a="http://schemas.openxmlformats.org/drawingml/2006/main" w="1905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7" name="">
            <a:extLst xmlns:a="http://schemas.openxmlformats.org/drawingml/2006/main">
              <a:ext uri="{FF2B5EF4-FFF2-40B4-BE49-F238E27FC236}">
                <a16:creationId xmlns:a16="http://schemas.microsoft.com/office/drawing/2014/main" id="{23FDBD5D-C6A5-49EA-9F9B-AEA6FD6CAA44}"/>
              </a:ext>
            </a:extLst>
          </p:cNvPr>
          <p:cNvSpPr>
            <a:spLocks xmlns:a="http://schemas.openxmlformats.org/drawingml/2006/main" noGrp="1"/>
          </p:cNvSpPr>
          <p:nvPr/>
        </p:nvSpPr>
        <p:spPr>
          <a:xfrm xmlns:a="http://schemas.openxmlformats.org/drawingml/2006/main">
            <a:off x="514350" y="2228850"/>
            <a:ext cx="3467100" cy="76200"/>
          </a:xfrm>
          <a:prstGeom xmlns:a="http://schemas.openxmlformats.org/drawingml/2006/main" prst="rect">
            <a:avLst/>
          </a:prstGeom>
          <a:solidFill xmlns:a="http://schemas.openxmlformats.org/drawingml/2006/main">
            <a:srgbClr val="5DA8FF"/>
          </a:solidFill>
          <a:ln xmlns:a="http://schemas.openxmlformats.org/drawingml/2006/main" w="0">
            <a:solidFill>
              <a:srgbClr val="5DA8FF"/>
            </a:solidFill>
            <a:prstDash val="solid"/>
          </a:ln>
        </p:spPr>
        <p:txBody>
          <a:bodyPr xmlns:a="http://schemas.openxmlformats.org/drawingml/2006/main"/>
          <a:lstStyle xmlns:a="http://schemas.openxmlformats.org/drawingml/2006/main"/>
          <a:p xmlns:a="http://schemas.openxmlformats.org/drawingml/2006/main"/>
        </p:txBody>
      </p:sp>
      <p:sp>
        <p:nvSpPr>
          <p:cNvPr id="8" name="">
            <a:extLst xmlns:a="http://schemas.openxmlformats.org/drawingml/2006/main">
              <a:ext uri="{FF2B5EF4-FFF2-40B4-BE49-F238E27FC236}">
                <a16:creationId xmlns:a16="http://schemas.microsoft.com/office/drawing/2014/main" id="{7DB7AC1C-A32F-4916-A7E1-2D208FA7441C}"/>
              </a:ext>
            </a:extLst>
          </p:cNvPr>
          <p:cNvSpPr>
            <a:spLocks xmlns:a="http://schemas.openxmlformats.org/drawingml/2006/main" noGrp="1"/>
          </p:cNvSpPr>
          <p:nvPr/>
        </p:nvSpPr>
        <p:spPr>
          <a:xfrm xmlns:a="http://schemas.openxmlformats.org/drawingml/2006/main">
            <a:off x="781050" y="25717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00" b="1">
                <a:solidFill>
                  <a:srgbClr val="5DA8FF"/>
                </a:solidFill>
                <a:latin typeface="Arial"/>
                <a:ea typeface="Arial"/>
                <a:cs typeface="Arial"/>
              </a:defRPr>
            </a:pPr>
            <a:r>
              <a:rPr sz="1200" b="1">
                <a:solidFill>
                  <a:srgbClr val="5DA8FF"/>
                </a:solidFill>
                <a:latin typeface="Arial"/>
                <a:ea typeface="Arial"/>
                <a:cs typeface="Arial"/>
              </a:rPr>
              <a:t>MEASUREMENT</a:t>
            </a:r>
          </a:p>
        </p:txBody>
      </p:sp>
      <p:sp>
        <p:nvSpPr>
          <p:cNvPr id="9" name="">
            <a:extLst xmlns:a="http://schemas.openxmlformats.org/drawingml/2006/main">
              <a:ext uri="{FF2B5EF4-FFF2-40B4-BE49-F238E27FC236}">
                <a16:creationId xmlns:a16="http://schemas.microsoft.com/office/drawing/2014/main" id="{DDB07388-3C5B-4102-923B-D53E44868D2C}"/>
              </a:ext>
            </a:extLst>
          </p:cNvPr>
          <p:cNvSpPr>
            <a:spLocks xmlns:a="http://schemas.openxmlformats.org/drawingml/2006/main" noGrp="1"/>
          </p:cNvSpPr>
          <p:nvPr/>
        </p:nvSpPr>
        <p:spPr>
          <a:xfrm xmlns:a="http://schemas.openxmlformats.org/drawingml/2006/main">
            <a:off x="781050" y="3105150"/>
            <a:ext cx="28956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175" b="1">
                <a:solidFill>
                  <a:srgbClr val="FFFFFF"/>
                </a:solidFill>
                <a:latin typeface="Arial"/>
                <a:ea typeface="Arial"/>
                <a:cs typeface="Arial"/>
              </a:defRPr>
            </a:pPr>
            <a:r>
              <a:rPr sz="2175" b="1">
                <a:solidFill>
                  <a:srgbClr val="FFFFFF"/>
                </a:solidFill>
                <a:latin typeface="Arial"/>
                <a:ea typeface="Arial"/>
                <a:cs typeface="Arial"/>
              </a:rPr>
              <a:t>No participants or retention test</a:t>
            </a:r>
          </a:p>
        </p:txBody>
      </p:sp>
      <p:sp>
        <p:nvSpPr>
          <p:cNvPr id="10" name="">
            <a:extLst xmlns:a="http://schemas.openxmlformats.org/drawingml/2006/main">
              <a:ext uri="{FF2B5EF4-FFF2-40B4-BE49-F238E27FC236}">
                <a16:creationId xmlns:a16="http://schemas.microsoft.com/office/drawing/2014/main" id="{6BFE82FE-CB2C-46C4-8587-56C1A638AD6E}"/>
              </a:ext>
            </a:extLst>
          </p:cNvPr>
          <p:cNvSpPr>
            <a:spLocks xmlns:a="http://schemas.openxmlformats.org/drawingml/2006/main" noGrp="1"/>
          </p:cNvSpPr>
          <p:nvPr/>
        </p:nvSpPr>
        <p:spPr>
          <a:xfrm xmlns:a="http://schemas.openxmlformats.org/drawingml/2006/main">
            <a:off x="781050" y="4105275"/>
            <a:ext cx="1428750" cy="361950"/>
          </a:xfrm>
          <a:prstGeom xmlns:a="http://schemas.openxmlformats.org/drawingml/2006/main" prst="roundRect">
            <a:avLst>
              <a:gd name="adj" fmla="val 50000"/>
            </a:avLst>
          </a:prstGeom>
          <a:solidFill xmlns:a="http://schemas.openxmlformats.org/drawingml/2006/main">
            <a:srgbClr val="5DA8FF"/>
          </a:solidFill>
          <a:ln xmlns:a="http://schemas.openxmlformats.org/drawingml/2006/main" w="0">
            <a:solidFill>
              <a:srgbClr val="5DA8FF"/>
            </a:solidFill>
            <a:prstDash val="solid"/>
          </a:ln>
        </p:spPr>
        <p:txBody>
          <a:bodyPr xmlns:a="http://schemas.openxmlformats.org/drawingml/2006/main"/>
          <a:lstStyle xmlns:a="http://schemas.openxmlformats.org/drawingml/2006/main"/>
          <a:p xmlns:a="http://schemas.openxmlformats.org/drawingml/2006/main"/>
        </p:txBody>
      </p:sp>
      <p:sp>
        <p:nvSpPr>
          <p:cNvPr id="11" name="">
            <a:extLst xmlns:a="http://schemas.openxmlformats.org/drawingml/2006/main">
              <a:ext uri="{FF2B5EF4-FFF2-40B4-BE49-F238E27FC236}">
                <a16:creationId xmlns:a16="http://schemas.microsoft.com/office/drawing/2014/main" id="{39520C72-CC6A-4795-BE17-C935709139B2}"/>
              </a:ext>
            </a:extLst>
          </p:cNvPr>
          <p:cNvSpPr>
            <a:spLocks xmlns:a="http://schemas.openxmlformats.org/drawingml/2006/main" noGrp="1"/>
          </p:cNvSpPr>
          <p:nvPr/>
        </p:nvSpPr>
        <p:spPr>
          <a:xfrm xmlns:a="http://schemas.openxmlformats.org/drawingml/2006/main">
            <a:off x="895350" y="4181475"/>
            <a:ext cx="1200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Evidence gap</a:t>
            </a:r>
          </a:p>
        </p:txBody>
      </p:sp>
      <p:sp>
        <p:nvSpPr>
          <p:cNvPr id="12" name="">
            <a:extLst xmlns:a="http://schemas.openxmlformats.org/drawingml/2006/main">
              <a:ext uri="{FF2B5EF4-FFF2-40B4-BE49-F238E27FC236}">
                <a16:creationId xmlns:a16="http://schemas.microsoft.com/office/drawing/2014/main" id="{48F7B92D-391A-4051-B7E3-948C26E9D291}"/>
              </a:ext>
            </a:extLst>
          </p:cNvPr>
          <p:cNvSpPr>
            <a:spLocks xmlns:a="http://schemas.openxmlformats.org/drawingml/2006/main" noGrp="1"/>
          </p:cNvSpPr>
          <p:nvPr/>
        </p:nvSpPr>
        <p:spPr>
          <a:xfrm xmlns:a="http://schemas.openxmlformats.org/drawingml/2006/main">
            <a:off x="4305300" y="2228850"/>
            <a:ext cx="3467100" cy="2514600"/>
          </a:xfrm>
          <a:prstGeom xmlns:a="http://schemas.openxmlformats.org/drawingml/2006/main" prst="roundRect">
            <a:avLst>
              <a:gd name="adj" fmla="val 6061"/>
            </a:avLst>
          </a:prstGeom>
          <a:solidFill xmlns:a="http://schemas.openxmlformats.org/drawingml/2006/main">
            <a:srgbClr val="13243D"/>
          </a:solidFill>
          <a:ln xmlns:a="http://schemas.openxmlformats.org/drawingml/2006/main" w="1905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3" name="">
            <a:extLst xmlns:a="http://schemas.openxmlformats.org/drawingml/2006/main">
              <a:ext uri="{FF2B5EF4-FFF2-40B4-BE49-F238E27FC236}">
                <a16:creationId xmlns:a16="http://schemas.microsoft.com/office/drawing/2014/main" id="{46C59C74-0606-44AF-B15A-9866F1016AA8}"/>
              </a:ext>
            </a:extLst>
          </p:cNvPr>
          <p:cNvSpPr>
            <a:spLocks xmlns:a="http://schemas.openxmlformats.org/drawingml/2006/main" noGrp="1"/>
          </p:cNvSpPr>
          <p:nvPr/>
        </p:nvSpPr>
        <p:spPr>
          <a:xfrm xmlns:a="http://schemas.openxmlformats.org/drawingml/2006/main">
            <a:off x="4305300" y="2228850"/>
            <a:ext cx="3467100" cy="76200"/>
          </a:xfrm>
          <a:prstGeom xmlns:a="http://schemas.openxmlformats.org/drawingml/2006/main" prst="rect">
            <a:avLst/>
          </a:prstGeom>
          <a:solidFill xmlns:a="http://schemas.openxmlformats.org/drawingml/2006/main">
            <a:srgbClr val="48D2C2"/>
          </a:solidFill>
          <a:ln xmlns:a="http://schemas.openxmlformats.org/drawingml/2006/main" w="0">
            <a:solidFill>
              <a:srgbClr val="48D2C2"/>
            </a:solidFill>
            <a:prstDash val="solid"/>
          </a:ln>
        </p:spPr>
        <p:txBody>
          <a:bodyPr xmlns:a="http://schemas.openxmlformats.org/drawingml/2006/main"/>
          <a:lstStyle xmlns:a="http://schemas.openxmlformats.org/drawingml/2006/main"/>
          <a:p xmlns:a="http://schemas.openxmlformats.org/drawingml/2006/main"/>
        </p:txBody>
      </p:sp>
      <p:sp>
        <p:nvSpPr>
          <p:cNvPr id="14" name="">
            <a:extLst xmlns:a="http://schemas.openxmlformats.org/drawingml/2006/main">
              <a:ext uri="{FF2B5EF4-FFF2-40B4-BE49-F238E27FC236}">
                <a16:creationId xmlns:a16="http://schemas.microsoft.com/office/drawing/2014/main" id="{CA8A1002-4C81-4003-BC6F-E327B7195B11}"/>
              </a:ext>
            </a:extLst>
          </p:cNvPr>
          <p:cNvSpPr>
            <a:spLocks xmlns:a="http://schemas.openxmlformats.org/drawingml/2006/main" noGrp="1"/>
          </p:cNvSpPr>
          <p:nvPr/>
        </p:nvSpPr>
        <p:spPr>
          <a:xfrm xmlns:a="http://schemas.openxmlformats.org/drawingml/2006/main">
            <a:off x="4572000" y="25717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00" b="1">
                <a:solidFill>
                  <a:srgbClr val="48D2C2"/>
                </a:solidFill>
                <a:latin typeface="Arial"/>
                <a:ea typeface="Arial"/>
                <a:cs typeface="Arial"/>
              </a:defRPr>
            </a:pPr>
            <a:r>
              <a:rPr sz="1200" b="1">
                <a:solidFill>
                  <a:srgbClr val="48D2C2"/>
                </a:solidFill>
                <a:latin typeface="Arial"/>
                <a:ea typeface="Arial"/>
                <a:cs typeface="Arial"/>
              </a:rPr>
              <a:t>TECHNICAL</a:t>
            </a:r>
          </a:p>
        </p:txBody>
      </p:sp>
      <p:sp>
        <p:nvSpPr>
          <p:cNvPr id="15" name="">
            <a:extLst xmlns:a="http://schemas.openxmlformats.org/drawingml/2006/main">
              <a:ext uri="{FF2B5EF4-FFF2-40B4-BE49-F238E27FC236}">
                <a16:creationId xmlns:a16="http://schemas.microsoft.com/office/drawing/2014/main" id="{4C7F4877-C4FE-43E2-921A-1F8E43F377AE}"/>
              </a:ext>
            </a:extLst>
          </p:cNvPr>
          <p:cNvSpPr>
            <a:spLocks xmlns:a="http://schemas.openxmlformats.org/drawingml/2006/main" noGrp="1"/>
          </p:cNvSpPr>
          <p:nvPr/>
        </p:nvSpPr>
        <p:spPr>
          <a:xfrm xmlns:a="http://schemas.openxmlformats.org/drawingml/2006/main">
            <a:off x="4572000" y="3105150"/>
            <a:ext cx="28956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175" b="1">
                <a:solidFill>
                  <a:srgbClr val="FFFFFF"/>
                </a:solidFill>
                <a:latin typeface="Arial"/>
                <a:ea typeface="Arial"/>
                <a:cs typeface="Arial"/>
              </a:defRPr>
            </a:pPr>
            <a:r>
              <a:rPr sz="2175" b="1">
                <a:solidFill>
                  <a:srgbClr val="FFFFFF"/>
                </a:solidFill>
                <a:latin typeface="Arial"/>
                <a:ea typeface="Arial"/>
                <a:cs typeface="Arial"/>
              </a:rPr>
              <a:t>No production WebAuthn verifier</a:t>
            </a:r>
          </a:p>
        </p:txBody>
      </p:sp>
      <p:sp>
        <p:nvSpPr>
          <p:cNvPr id="16" name="">
            <a:extLst xmlns:a="http://schemas.openxmlformats.org/drawingml/2006/main">
              <a:ext uri="{FF2B5EF4-FFF2-40B4-BE49-F238E27FC236}">
                <a16:creationId xmlns:a16="http://schemas.microsoft.com/office/drawing/2014/main" id="{77E6660F-4FFA-4173-B03C-3586BDB21124}"/>
              </a:ext>
            </a:extLst>
          </p:cNvPr>
          <p:cNvSpPr>
            <a:spLocks xmlns:a="http://schemas.openxmlformats.org/drawingml/2006/main" noGrp="1"/>
          </p:cNvSpPr>
          <p:nvPr/>
        </p:nvSpPr>
        <p:spPr>
          <a:xfrm xmlns:a="http://schemas.openxmlformats.org/drawingml/2006/main">
            <a:off x="4572000" y="4105275"/>
            <a:ext cx="1428750" cy="361950"/>
          </a:xfrm>
          <a:prstGeom xmlns:a="http://schemas.openxmlformats.org/drawingml/2006/main" prst="roundRect">
            <a:avLst>
              <a:gd name="adj" fmla="val 50000"/>
            </a:avLst>
          </a:prstGeom>
          <a:solidFill xmlns:a="http://schemas.openxmlformats.org/drawingml/2006/main">
            <a:srgbClr val="48D2C2"/>
          </a:solidFill>
          <a:ln xmlns:a="http://schemas.openxmlformats.org/drawingml/2006/main" w="0">
            <a:solidFill>
              <a:srgbClr val="48D2C2"/>
            </a:solidFill>
            <a:prstDash val="solid"/>
          </a:ln>
        </p:spPr>
        <p:txBody>
          <a:bodyPr xmlns:a="http://schemas.openxmlformats.org/drawingml/2006/main"/>
          <a:lstStyle xmlns:a="http://schemas.openxmlformats.org/drawingml/2006/main"/>
          <a:p xmlns:a="http://schemas.openxmlformats.org/drawingml/2006/main"/>
        </p:txBody>
      </p:sp>
      <p:sp>
        <p:nvSpPr>
          <p:cNvPr id="17" name="">
            <a:extLst xmlns:a="http://schemas.openxmlformats.org/drawingml/2006/main">
              <a:ext uri="{FF2B5EF4-FFF2-40B4-BE49-F238E27FC236}">
                <a16:creationId xmlns:a16="http://schemas.microsoft.com/office/drawing/2014/main" id="{9DA9DA95-81FE-469B-8E83-5911EB78335B}"/>
              </a:ext>
            </a:extLst>
          </p:cNvPr>
          <p:cNvSpPr>
            <a:spLocks xmlns:a="http://schemas.openxmlformats.org/drawingml/2006/main" noGrp="1"/>
          </p:cNvSpPr>
          <p:nvPr/>
        </p:nvSpPr>
        <p:spPr>
          <a:xfrm xmlns:a="http://schemas.openxmlformats.org/drawingml/2006/main">
            <a:off x="4686300" y="4181475"/>
            <a:ext cx="1200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System boundary</a:t>
            </a:r>
          </a:p>
        </p:txBody>
      </p:sp>
      <p:sp>
        <p:nvSpPr>
          <p:cNvPr id="18" name="">
            <a:extLst xmlns:a="http://schemas.openxmlformats.org/drawingml/2006/main">
              <a:ext uri="{FF2B5EF4-FFF2-40B4-BE49-F238E27FC236}">
                <a16:creationId xmlns:a16="http://schemas.microsoft.com/office/drawing/2014/main" id="{F0DF0D1F-4C8E-40F8-A981-0F0A79BE6DDE}"/>
              </a:ext>
            </a:extLst>
          </p:cNvPr>
          <p:cNvSpPr>
            <a:spLocks xmlns:a="http://schemas.openxmlformats.org/drawingml/2006/main" noGrp="1"/>
          </p:cNvSpPr>
          <p:nvPr/>
        </p:nvSpPr>
        <p:spPr>
          <a:xfrm xmlns:a="http://schemas.openxmlformats.org/drawingml/2006/main">
            <a:off x="8096250" y="2228850"/>
            <a:ext cx="3467100" cy="2514600"/>
          </a:xfrm>
          <a:prstGeom xmlns:a="http://schemas.openxmlformats.org/drawingml/2006/main" prst="roundRect">
            <a:avLst>
              <a:gd name="adj" fmla="val 6061"/>
            </a:avLst>
          </a:prstGeom>
          <a:solidFill xmlns:a="http://schemas.openxmlformats.org/drawingml/2006/main">
            <a:srgbClr val="13243D"/>
          </a:solidFill>
          <a:ln xmlns:a="http://schemas.openxmlformats.org/drawingml/2006/main" w="19050">
            <a:solidFill>
              <a:srgbClr val="263B58"/>
            </a:solidFill>
            <a:prstDash val="solid"/>
          </a:ln>
        </p:spPr>
        <p:txBody>
          <a:bodyPr xmlns:a="http://schemas.openxmlformats.org/drawingml/2006/main"/>
          <a:lstStyle xmlns:a="http://schemas.openxmlformats.org/drawingml/2006/main"/>
          <a:p xmlns:a="http://schemas.openxmlformats.org/drawingml/2006/main"/>
        </p:txBody>
      </p:sp>
      <p:sp>
        <p:nvSpPr>
          <p:cNvPr id="19" name="">
            <a:extLst xmlns:a="http://schemas.openxmlformats.org/drawingml/2006/main">
              <a:ext uri="{FF2B5EF4-FFF2-40B4-BE49-F238E27FC236}">
                <a16:creationId xmlns:a16="http://schemas.microsoft.com/office/drawing/2014/main" id="{CB7FC9F6-2977-42CF-AF41-A0F799A1BE92}"/>
              </a:ext>
            </a:extLst>
          </p:cNvPr>
          <p:cNvSpPr>
            <a:spLocks xmlns:a="http://schemas.openxmlformats.org/drawingml/2006/main" noGrp="1"/>
          </p:cNvSpPr>
          <p:nvPr/>
        </p:nvSpPr>
        <p:spPr>
          <a:xfrm xmlns:a="http://schemas.openxmlformats.org/drawingml/2006/main">
            <a:off x="8096250" y="2228850"/>
            <a:ext cx="3467100" cy="76200"/>
          </a:xfrm>
          <a:prstGeom xmlns:a="http://schemas.openxmlformats.org/drawingml/2006/main" prst="rect">
            <a:avLst/>
          </a:prstGeom>
          <a:solidFill xmlns:a="http://schemas.openxmlformats.org/drawingml/2006/main">
            <a:srgbClr val="F4C866"/>
          </a:solidFill>
          <a:ln xmlns:a="http://schemas.openxmlformats.org/drawingml/2006/main" w="0">
            <a:solidFill>
              <a:srgbClr val="F4C866"/>
            </a:solidFill>
            <a:prstDash val="solid"/>
          </a:ln>
        </p:spPr>
        <p:txBody>
          <a:bodyPr xmlns:a="http://schemas.openxmlformats.org/drawingml/2006/main"/>
          <a:lstStyle xmlns:a="http://schemas.openxmlformats.org/drawingml/2006/main"/>
          <a:p xmlns:a="http://schemas.openxmlformats.org/drawingml/2006/main"/>
        </p:txBody>
      </p:sp>
      <p:sp>
        <p:nvSpPr>
          <p:cNvPr id="20" name="">
            <a:extLst xmlns:a="http://schemas.openxmlformats.org/drawingml/2006/main">
              <a:ext uri="{FF2B5EF4-FFF2-40B4-BE49-F238E27FC236}">
                <a16:creationId xmlns:a16="http://schemas.microsoft.com/office/drawing/2014/main" id="{3BB628AC-D006-4C26-820C-521C4BDA29D1}"/>
              </a:ext>
            </a:extLst>
          </p:cNvPr>
          <p:cNvSpPr>
            <a:spLocks xmlns:a="http://schemas.openxmlformats.org/drawingml/2006/main" noGrp="1"/>
          </p:cNvSpPr>
          <p:nvPr/>
        </p:nvSpPr>
        <p:spPr>
          <a:xfrm xmlns:a="http://schemas.openxmlformats.org/drawingml/2006/main">
            <a:off x="8362950" y="25717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00" b="1">
                <a:solidFill>
                  <a:srgbClr val="F4C866"/>
                </a:solidFill>
                <a:latin typeface="Arial"/>
                <a:ea typeface="Arial"/>
                <a:cs typeface="Arial"/>
              </a:defRPr>
            </a:pPr>
            <a:r>
              <a:rPr sz="1200" b="1">
                <a:solidFill>
                  <a:srgbClr val="F4C866"/>
                </a:solidFill>
                <a:latin typeface="Arial"/>
                <a:ea typeface="Arial"/>
                <a:cs typeface="Arial"/>
              </a:rPr>
              <a:t>ACCESS</a:t>
            </a:r>
          </a:p>
        </p:txBody>
      </p:sp>
      <p:sp>
        <p:nvSpPr>
          <p:cNvPr id="21" name="">
            <a:extLst xmlns:a="http://schemas.openxmlformats.org/drawingml/2006/main">
              <a:ext uri="{FF2B5EF4-FFF2-40B4-BE49-F238E27FC236}">
                <a16:creationId xmlns:a16="http://schemas.microsoft.com/office/drawing/2014/main" id="{724BE176-6B4C-4D02-B666-ED3632C68E16}"/>
              </a:ext>
            </a:extLst>
          </p:cNvPr>
          <p:cNvSpPr>
            <a:spLocks xmlns:a="http://schemas.openxmlformats.org/drawingml/2006/main" noGrp="1"/>
          </p:cNvSpPr>
          <p:nvPr/>
        </p:nvSpPr>
        <p:spPr>
          <a:xfrm xmlns:a="http://schemas.openxmlformats.org/drawingml/2006/main">
            <a:off x="8362950" y="3105150"/>
            <a:ext cx="28956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175" b="1">
                <a:solidFill>
                  <a:srgbClr val="FFFFFF"/>
                </a:solidFill>
                <a:latin typeface="Arial"/>
                <a:ea typeface="Arial"/>
                <a:cs typeface="Arial"/>
              </a:defRPr>
            </a:pPr>
            <a:r>
              <a:rPr sz="2175" b="1">
                <a:solidFill>
                  <a:srgbClr val="FFFFFF"/>
                </a:solidFill>
                <a:latin typeface="Arial"/>
                <a:ea typeface="Arial"/>
                <a:cs typeface="Arial"/>
              </a:rPr>
              <a:t>No screen-reader user study</a:t>
            </a:r>
          </a:p>
        </p:txBody>
      </p:sp>
      <p:sp>
        <p:nvSpPr>
          <p:cNvPr id="22" name="">
            <a:extLst xmlns:a="http://schemas.openxmlformats.org/drawingml/2006/main">
              <a:ext uri="{FF2B5EF4-FFF2-40B4-BE49-F238E27FC236}">
                <a16:creationId xmlns:a16="http://schemas.microsoft.com/office/drawing/2014/main" id="{CC586619-5771-4D25-88C2-4B1F2882217C}"/>
              </a:ext>
            </a:extLst>
          </p:cNvPr>
          <p:cNvSpPr>
            <a:spLocks xmlns:a="http://schemas.openxmlformats.org/drawingml/2006/main" noGrp="1"/>
          </p:cNvSpPr>
          <p:nvPr/>
        </p:nvSpPr>
        <p:spPr>
          <a:xfrm xmlns:a="http://schemas.openxmlformats.org/drawingml/2006/main">
            <a:off x="8362950" y="4105275"/>
            <a:ext cx="1428750" cy="361950"/>
          </a:xfrm>
          <a:prstGeom xmlns:a="http://schemas.openxmlformats.org/drawingml/2006/main" prst="roundRect">
            <a:avLst>
              <a:gd name="adj" fmla="val 50000"/>
            </a:avLst>
          </a:prstGeom>
          <a:solidFill xmlns:a="http://schemas.openxmlformats.org/drawingml/2006/main">
            <a:srgbClr val="F4C866"/>
          </a:solidFill>
          <a:ln xmlns:a="http://schemas.openxmlformats.org/drawingml/2006/main" w="0">
            <a:solidFill>
              <a:srgbClr val="F4C866"/>
            </a:solidFill>
            <a:prstDash val="solid"/>
          </a:ln>
        </p:spPr>
        <p:txBody>
          <a:bodyPr xmlns:a="http://schemas.openxmlformats.org/drawingml/2006/main"/>
          <a:lstStyle xmlns:a="http://schemas.openxmlformats.org/drawingml/2006/main"/>
          <a:p xmlns:a="http://schemas.openxmlformats.org/drawingml/2006/main"/>
        </p:txBody>
      </p:sp>
      <p:sp>
        <p:nvSpPr>
          <p:cNvPr id="23" name="">
            <a:extLst xmlns:a="http://schemas.openxmlformats.org/drawingml/2006/main">
              <a:ext uri="{FF2B5EF4-FFF2-40B4-BE49-F238E27FC236}">
                <a16:creationId xmlns:a16="http://schemas.microsoft.com/office/drawing/2014/main" id="{70526126-5B22-4A1F-B3F6-2837B6246FE7}"/>
              </a:ext>
            </a:extLst>
          </p:cNvPr>
          <p:cNvSpPr>
            <a:spLocks xmlns:a="http://schemas.openxmlformats.org/drawingml/2006/main" noGrp="1"/>
          </p:cNvSpPr>
          <p:nvPr/>
        </p:nvSpPr>
        <p:spPr>
          <a:xfrm xmlns:a="http://schemas.openxmlformats.org/drawingml/2006/main">
            <a:off x="8477250" y="4181475"/>
            <a:ext cx="1200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QA boundary</a:t>
            </a:r>
          </a:p>
        </p:txBody>
      </p:sp>
      <p:sp>
        <p:nvSpPr>
          <p:cNvPr id="24" name="">
            <a:extLst xmlns:a="http://schemas.openxmlformats.org/drawingml/2006/main">
              <a:ext uri="{FF2B5EF4-FFF2-40B4-BE49-F238E27FC236}">
                <a16:creationId xmlns:a16="http://schemas.microsoft.com/office/drawing/2014/main" id="{27BBE747-FA3C-43CC-B986-70B5364132DD}"/>
              </a:ext>
            </a:extLst>
          </p:cNvPr>
          <p:cNvSpPr>
            <a:spLocks xmlns:a="http://schemas.openxmlformats.org/drawingml/2006/main" noGrp="1"/>
          </p:cNvSpPr>
          <p:nvPr/>
        </p:nvSpPr>
        <p:spPr>
          <a:xfrm xmlns:a="http://schemas.openxmlformats.org/drawingml/2006/main">
            <a:off x="514350" y="52197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48D2C2"/>
                </a:solidFill>
                <a:latin typeface="Arial"/>
                <a:ea typeface="Arial"/>
                <a:cs typeface="Arial"/>
              </a:defRPr>
            </a:pPr>
            <a:r>
              <a:rPr sz="1050" b="1">
                <a:solidFill>
                  <a:srgbClr val="48D2C2"/>
                </a:solidFill>
                <a:latin typeface="Arial"/>
                <a:ea typeface="Arial"/>
                <a:cs typeface="Arial"/>
              </a:rPr>
              <a:t>Rule</a:t>
            </a:r>
          </a:p>
        </p:txBody>
      </p:sp>
      <p:sp>
        <p:nvSpPr>
          <p:cNvPr id="25" name="">
            <a:extLst xmlns:a="http://schemas.openxmlformats.org/drawingml/2006/main">
              <a:ext uri="{FF2B5EF4-FFF2-40B4-BE49-F238E27FC236}">
                <a16:creationId xmlns:a16="http://schemas.microsoft.com/office/drawing/2014/main" id="{F1C06D6D-DA44-4449-B000-31AD7471DECC}"/>
              </a:ext>
            </a:extLst>
          </p:cNvPr>
          <p:cNvSpPr>
            <a:spLocks xmlns:a="http://schemas.openxmlformats.org/drawingml/2006/main" noGrp="1"/>
          </p:cNvSpPr>
          <p:nvPr/>
        </p:nvSpPr>
        <p:spPr>
          <a:xfrm xmlns:a="http://schemas.openxmlformats.org/drawingml/2006/main">
            <a:off x="1390650" y="5181600"/>
            <a:ext cx="9620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a:solidFill>
                  <a:srgbClr val="FFFFFF"/>
                </a:solidFill>
                <a:latin typeface="Arial"/>
                <a:ea typeface="Arial"/>
                <a:cs typeface="Arial"/>
              </a:defRPr>
            </a:pPr>
            <a:r>
              <a:rPr sz="1800" b="1">
                <a:solidFill>
                  <a:srgbClr val="FFFFFF"/>
                </a:solidFill>
                <a:latin typeface="Arial"/>
                <a:ea typeface="Arial"/>
                <a:cs typeface="Arial"/>
              </a:rPr>
              <a:t>Build tests prove implementation; sources support technical claims; only genuine participants support teaching effectiveness.</a:t>
            </a:r>
          </a:p>
        </p:txBody>
      </p:sp>
    </p:spTree>
    <p:extLst>
      <p:ext uri="{BB962C8B-B14F-4D97-AF65-F5344CB8AC3E}">
        <p14:creationId xmlns:p14="http://schemas.microsoft.com/office/powerpoint/2010/main" val="765797237"/>
      </p:ext>
    </p:extLst>
  </p:cSld>
</p:sld>
</file>

<file path=ppt/slides/slide15.xml><?xml version="1.0" encoding="utf-8"?>
<p:sld xmlns:p="http://schemas.openxmlformats.org/presentationml/2006/main">
  <p:cSld>
    <p:bg>
      <p:bgPr>
        <a:solidFill xmlns:a="http://schemas.openxmlformats.org/drawingml/2006/main">
          <a:srgbClr val="F4F0E6"/>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27F97CA9-F04D-4655-91C2-1A8B99F928FB}"/>
              </a:ext>
            </a:extLst>
          </p:cNvPr>
          <p:cNvSpPr>
            <a:spLocks xmlns:a="http://schemas.openxmlformats.org/drawingml/2006/main" noGrp="1"/>
          </p:cNvSpPr>
          <p:nvPr/>
        </p:nvSpPr>
        <p:spPr>
          <a:xfrm xmlns:a="http://schemas.openxmlformats.org/drawingml/2006/main">
            <a:off x="552450" y="3810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07111F"/>
                </a:solidFill>
                <a:latin typeface="Arial"/>
                <a:ea typeface="Arial"/>
                <a:cs typeface="Arial"/>
              </a:defRPr>
            </a:pPr>
            <a:r>
              <a:rPr sz="975" b="1">
                <a:solidFill>
                  <a:srgbClr val="07111F"/>
                </a:solidFill>
                <a:latin typeface="Arial"/>
                <a:ea typeface="Arial"/>
                <a:cs typeface="Arial"/>
              </a:rPr>
              <a:t>AUTHLAB  /  Q&amp;A</a:t>
            </a:r>
          </a:p>
        </p:txBody>
      </p:sp>
      <p:sp>
        <p:nvSpPr>
          <p:cNvPr id="2" name="">
            <a:extLst xmlns:a="http://schemas.openxmlformats.org/drawingml/2006/main">
              <a:ext uri="{FF2B5EF4-FFF2-40B4-BE49-F238E27FC236}">
                <a16:creationId xmlns:a16="http://schemas.microsoft.com/office/drawing/2014/main" id="{1E2C1635-C66D-4DEA-914A-508A6562ABBC}"/>
              </a:ext>
            </a:extLst>
          </p:cNvPr>
          <p:cNvSpPr>
            <a:spLocks xmlns:a="http://schemas.openxmlformats.org/drawingml/2006/main" noGrp="1"/>
          </p:cNvSpPr>
          <p:nvPr/>
        </p:nvSpPr>
        <p:spPr>
          <a:xfrm xmlns:a="http://schemas.openxmlformats.org/drawingml/2006/main">
            <a:off x="552450" y="723900"/>
            <a:ext cx="11087100" cy="1905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txBody>
          <a:bodyPr xmlns:a="http://schemas.openxmlformats.org/drawingml/2006/main"/>
          <a:lstStyle xmlns:a="http://schemas.openxmlformats.org/drawingml/2006/main"/>
          <a:p xmlns:a="http://schemas.openxmlformats.org/drawingml/2006/main"/>
        </p:txBody>
      </p:sp>
      <p:sp>
        <p:nvSpPr>
          <p:cNvPr id="3" name="">
            <a:extLst xmlns:a="http://schemas.openxmlformats.org/drawingml/2006/main">
              <a:ext uri="{FF2B5EF4-FFF2-40B4-BE49-F238E27FC236}">
                <a16:creationId xmlns:a16="http://schemas.microsoft.com/office/drawing/2014/main" id="{5BA5BD25-E6AB-4310-86C0-AA64E2DBEF27}"/>
              </a:ext>
            </a:extLst>
          </p:cNvPr>
          <p:cNvSpPr>
            <a:spLocks xmlns:a="http://schemas.openxmlformats.org/drawingml/2006/main" noGrp="1"/>
          </p:cNvSpPr>
          <p:nvPr/>
        </p:nvSpPr>
        <p:spPr>
          <a:xfrm xmlns:a="http://schemas.openxmlformats.org/drawingml/2006/main">
            <a:off x="552450" y="1143000"/>
            <a:ext cx="6667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4050" b="1">
                <a:solidFill>
                  <a:srgbClr val="07111F"/>
                </a:solidFill>
                <a:latin typeface="Arial"/>
                <a:ea typeface="Arial"/>
                <a:cs typeface="Arial"/>
              </a:defRPr>
            </a:pPr>
            <a:r>
              <a:rPr sz="4050" b="1">
                <a:solidFill>
                  <a:srgbClr val="07111F"/>
                </a:solidFill>
                <a:latin typeface="Arial"/>
                <a:ea typeface="Arial"/>
                <a:cs typeface="Arial"/>
              </a:rPr>
              <a:t>Future work strengthens</a:t>
            </a:r>
          </a:p>
          <a:p xmlns:a="http://schemas.openxmlformats.org/drawingml/2006/main">
            <a:pPr algn="l">
              <a:buNone/>
              <a:defRPr sz="4050" b="1">
                <a:solidFill>
                  <a:srgbClr val="07111F"/>
                </a:solidFill>
                <a:latin typeface="Arial"/>
                <a:ea typeface="Arial"/>
                <a:cs typeface="Arial"/>
              </a:defRPr>
            </a:pPr>
            <a:r>
              <a:rPr sz="4050" b="1">
                <a:solidFill>
                  <a:srgbClr val="07111F"/>
                </a:solidFill>
                <a:latin typeface="Arial"/>
                <a:ea typeface="Arial"/>
                <a:cs typeface="Arial"/>
              </a:rPr>
              <a:t>evidence, not slogans.</a:t>
            </a:r>
          </a:p>
        </p:txBody>
      </p:sp>
      <p:sp>
        <p:nvSpPr>
          <p:cNvPr id="4" name="">
            <a:extLst xmlns:a="http://schemas.openxmlformats.org/drawingml/2006/main">
              <a:ext uri="{FF2B5EF4-FFF2-40B4-BE49-F238E27FC236}">
                <a16:creationId xmlns:a16="http://schemas.microsoft.com/office/drawing/2014/main" id="{D193DDFB-7E7E-4098-880F-EE7DF2EC053B}"/>
              </a:ext>
            </a:extLst>
          </p:cNvPr>
          <p:cNvSpPr>
            <a:spLocks xmlns:a="http://schemas.openxmlformats.org/drawingml/2006/main" noGrp="1"/>
          </p:cNvSpPr>
          <p:nvPr/>
        </p:nvSpPr>
        <p:spPr>
          <a:xfrm xmlns:a="http://schemas.openxmlformats.org/drawingml/2006/main">
            <a:off x="552450" y="3257550"/>
            <a:ext cx="3371850" cy="1619250"/>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9525">
            <a:solidFill>
              <a:srgbClr val="D9D3C6"/>
            </a:solidFill>
            <a:prstDash val="solid"/>
          </a:ln>
        </p:spPr>
        <p:txBody>
          <a:bodyPr xmlns:a="http://schemas.openxmlformats.org/drawingml/2006/main"/>
          <a:lstStyle xmlns:a="http://schemas.openxmlformats.org/drawingml/2006/main"/>
          <a:p xmlns:a="http://schemas.openxmlformats.org/drawingml/2006/main"/>
        </p:txBody>
      </p:sp>
      <p:sp>
        <p:nvSpPr>
          <p:cNvPr id="5" name="">
            <a:extLst xmlns:a="http://schemas.openxmlformats.org/drawingml/2006/main">
              <a:ext uri="{FF2B5EF4-FFF2-40B4-BE49-F238E27FC236}">
                <a16:creationId xmlns:a16="http://schemas.microsoft.com/office/drawing/2014/main" id="{000085C0-5A2A-43A5-88C5-9611ABC244B2}"/>
              </a:ext>
            </a:extLst>
          </p:cNvPr>
          <p:cNvSpPr>
            <a:spLocks xmlns:a="http://schemas.openxmlformats.org/drawingml/2006/main" noGrp="1"/>
          </p:cNvSpPr>
          <p:nvPr/>
        </p:nvSpPr>
        <p:spPr>
          <a:xfrm xmlns:a="http://schemas.openxmlformats.org/drawingml/2006/main">
            <a:off x="781050" y="3486150"/>
            <a:ext cx="476250" cy="361950"/>
          </a:xfrm>
          <a:prstGeom xmlns:a="http://schemas.openxmlformats.org/drawingml/2006/main" prst="roundRect">
            <a:avLst>
              <a:gd name="adj" fmla="val 50000"/>
            </a:avLst>
          </a:prstGeom>
          <a:solidFill xmlns:a="http://schemas.openxmlformats.org/drawingml/2006/main">
            <a:srgbClr val="5DA8FF"/>
          </a:solidFill>
          <a:ln xmlns:a="http://schemas.openxmlformats.org/drawingml/2006/main" w="0">
            <a:solidFill>
              <a:srgbClr val="5DA8FF"/>
            </a:solidFill>
            <a:prstDash val="solid"/>
          </a:ln>
        </p:spPr>
        <p:txBody>
          <a:bodyPr xmlns:a="http://schemas.openxmlformats.org/drawingml/2006/main"/>
          <a:lstStyle xmlns:a="http://schemas.openxmlformats.org/drawingml/2006/main"/>
          <a:p xmlns:a="http://schemas.openxmlformats.org/drawingml/2006/main"/>
        </p:txBody>
      </p:sp>
      <p:sp>
        <p:nvSpPr>
          <p:cNvPr id="6" name="">
            <a:extLst xmlns:a="http://schemas.openxmlformats.org/drawingml/2006/main">
              <a:ext uri="{FF2B5EF4-FFF2-40B4-BE49-F238E27FC236}">
                <a16:creationId xmlns:a16="http://schemas.microsoft.com/office/drawing/2014/main" id="{31B29F0C-E903-4B7C-9F43-C9C8C73FC678}"/>
              </a:ext>
            </a:extLst>
          </p:cNvPr>
          <p:cNvSpPr>
            <a:spLocks xmlns:a="http://schemas.openxmlformats.org/drawingml/2006/main" noGrp="1"/>
          </p:cNvSpPr>
          <p:nvPr/>
        </p:nvSpPr>
        <p:spPr>
          <a:xfrm xmlns:a="http://schemas.openxmlformats.org/drawingml/2006/main">
            <a:off x="895350" y="3562350"/>
            <a:ext cx="247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0C19DC1A-DC1F-416F-8907-3EB778955D8E}"/>
              </a:ext>
            </a:extLst>
          </p:cNvPr>
          <p:cNvSpPr>
            <a:spLocks xmlns:a="http://schemas.openxmlformats.org/drawingml/2006/main" noGrp="1"/>
          </p:cNvSpPr>
          <p:nvPr/>
        </p:nvSpPr>
        <p:spPr>
          <a:xfrm xmlns:a="http://schemas.openxmlformats.org/drawingml/2006/main">
            <a:off x="1428750" y="35242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b="1">
                <a:solidFill>
                  <a:srgbClr val="07111F"/>
                </a:solidFill>
                <a:latin typeface="Arial"/>
                <a:ea typeface="Arial"/>
                <a:cs typeface="Arial"/>
              </a:defRPr>
            </a:pPr>
            <a:r>
              <a:rPr sz="1650" b="1">
                <a:solidFill>
                  <a:srgbClr val="07111F"/>
                </a:solidFill>
                <a:latin typeface="Arial"/>
                <a:ea typeface="Arial"/>
                <a:cs typeface="Arial"/>
              </a:rPr>
              <a:t>Evaluate</a:t>
            </a:r>
          </a:p>
        </p:txBody>
      </p:sp>
      <p:sp>
        <p:nvSpPr>
          <p:cNvPr id="8" name="">
            <a:extLst xmlns:a="http://schemas.openxmlformats.org/drawingml/2006/main">
              <a:ext uri="{FF2B5EF4-FFF2-40B4-BE49-F238E27FC236}">
                <a16:creationId xmlns:a16="http://schemas.microsoft.com/office/drawing/2014/main" id="{F6233BE1-F466-42AC-8C92-CB22AB01ECE9}"/>
              </a:ext>
            </a:extLst>
          </p:cNvPr>
          <p:cNvSpPr>
            <a:spLocks xmlns:a="http://schemas.openxmlformats.org/drawingml/2006/main" noGrp="1"/>
          </p:cNvSpPr>
          <p:nvPr/>
        </p:nvSpPr>
        <p:spPr>
          <a:xfrm xmlns:a="http://schemas.openxmlformats.org/drawingml/2006/main">
            <a:off x="781050" y="4038600"/>
            <a:ext cx="2895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3C4858"/>
                </a:solidFill>
                <a:latin typeface="Arial"/>
                <a:ea typeface="Arial"/>
                <a:cs typeface="Arial"/>
              </a:defRPr>
            </a:pPr>
            <a:r>
              <a:rPr sz="1350" b="1">
                <a:solidFill>
                  <a:srgbClr val="3C4858"/>
                </a:solidFill>
                <a:latin typeface="Arial"/>
                <a:ea typeface="Arial"/>
                <a:cs typeface="Arial"/>
              </a:rPr>
              <a:t>Run the consented protocol and report every outcome.</a:t>
            </a:r>
          </a:p>
        </p:txBody>
      </p:sp>
      <p:sp>
        <p:nvSpPr>
          <p:cNvPr id="9" name="">
            <a:extLst xmlns:a="http://schemas.openxmlformats.org/drawingml/2006/main">
              <a:ext uri="{FF2B5EF4-FFF2-40B4-BE49-F238E27FC236}">
                <a16:creationId xmlns:a16="http://schemas.microsoft.com/office/drawing/2014/main" id="{D72B30E8-0376-4590-B1ED-AB06EB19DF08}"/>
              </a:ext>
            </a:extLst>
          </p:cNvPr>
          <p:cNvSpPr>
            <a:spLocks xmlns:a="http://schemas.openxmlformats.org/drawingml/2006/main" noGrp="1"/>
          </p:cNvSpPr>
          <p:nvPr/>
        </p:nvSpPr>
        <p:spPr>
          <a:xfrm xmlns:a="http://schemas.openxmlformats.org/drawingml/2006/main">
            <a:off x="4267200" y="3257550"/>
            <a:ext cx="3371850" cy="1619250"/>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9525">
            <a:solidFill>
              <a:srgbClr val="D9D3C6"/>
            </a:solidFill>
            <a:prstDash val="solid"/>
          </a:ln>
        </p:spPr>
        <p:txBody>
          <a:bodyPr xmlns:a="http://schemas.openxmlformats.org/drawingml/2006/main"/>
          <a:lstStyle xmlns:a="http://schemas.openxmlformats.org/drawingml/2006/main"/>
          <a:p xmlns:a="http://schemas.openxmlformats.org/drawingml/2006/main"/>
        </p:txBody>
      </p:sp>
      <p:sp>
        <p:nvSpPr>
          <p:cNvPr id="10" name="">
            <a:extLst xmlns:a="http://schemas.openxmlformats.org/drawingml/2006/main">
              <a:ext uri="{FF2B5EF4-FFF2-40B4-BE49-F238E27FC236}">
                <a16:creationId xmlns:a16="http://schemas.microsoft.com/office/drawing/2014/main" id="{366F7520-EE27-440E-859B-B41C17747FE2}"/>
              </a:ext>
            </a:extLst>
          </p:cNvPr>
          <p:cNvSpPr>
            <a:spLocks xmlns:a="http://schemas.openxmlformats.org/drawingml/2006/main" noGrp="1"/>
          </p:cNvSpPr>
          <p:nvPr/>
        </p:nvSpPr>
        <p:spPr>
          <a:xfrm xmlns:a="http://schemas.openxmlformats.org/drawingml/2006/main">
            <a:off x="4495800" y="3486150"/>
            <a:ext cx="476250" cy="361950"/>
          </a:xfrm>
          <a:prstGeom xmlns:a="http://schemas.openxmlformats.org/drawingml/2006/main" prst="roundRect">
            <a:avLst>
              <a:gd name="adj" fmla="val 50000"/>
            </a:avLst>
          </a:prstGeom>
          <a:solidFill xmlns:a="http://schemas.openxmlformats.org/drawingml/2006/main">
            <a:srgbClr val="FF7A85"/>
          </a:solidFill>
          <a:ln xmlns:a="http://schemas.openxmlformats.org/drawingml/2006/main" w="0">
            <a:solidFill>
              <a:srgbClr val="FF7A85"/>
            </a:solidFill>
            <a:prstDash val="solid"/>
          </a:ln>
        </p:spPr>
        <p:txBody>
          <a:bodyPr xmlns:a="http://schemas.openxmlformats.org/drawingml/2006/main"/>
          <a:lstStyle xmlns:a="http://schemas.openxmlformats.org/drawingml/2006/main"/>
          <a:p xmlns:a="http://schemas.openxmlformats.org/drawingml/2006/main"/>
        </p:txBody>
      </p:sp>
      <p:sp>
        <p:nvSpPr>
          <p:cNvPr id="11" name="">
            <a:extLst xmlns:a="http://schemas.openxmlformats.org/drawingml/2006/main">
              <a:ext uri="{FF2B5EF4-FFF2-40B4-BE49-F238E27FC236}">
                <a16:creationId xmlns:a16="http://schemas.microsoft.com/office/drawing/2014/main" id="{10300904-FCEE-4074-B2ED-4604A51A1A7E}"/>
              </a:ext>
            </a:extLst>
          </p:cNvPr>
          <p:cNvSpPr>
            <a:spLocks xmlns:a="http://schemas.openxmlformats.org/drawingml/2006/main" noGrp="1"/>
          </p:cNvSpPr>
          <p:nvPr/>
        </p:nvSpPr>
        <p:spPr>
          <a:xfrm xmlns:a="http://schemas.openxmlformats.org/drawingml/2006/main">
            <a:off x="4610100" y="3562350"/>
            <a:ext cx="247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02</a:t>
            </a:r>
          </a:p>
        </p:txBody>
      </p:sp>
      <p:sp>
        <p:nvSpPr>
          <p:cNvPr id="12" name="">
            <a:extLst xmlns:a="http://schemas.openxmlformats.org/drawingml/2006/main">
              <a:ext uri="{FF2B5EF4-FFF2-40B4-BE49-F238E27FC236}">
                <a16:creationId xmlns:a16="http://schemas.microsoft.com/office/drawing/2014/main" id="{C930AE4D-A289-4E5A-8384-B3ED8F7BC98E}"/>
              </a:ext>
            </a:extLst>
          </p:cNvPr>
          <p:cNvSpPr>
            <a:spLocks xmlns:a="http://schemas.openxmlformats.org/drawingml/2006/main" noGrp="1"/>
          </p:cNvSpPr>
          <p:nvPr/>
        </p:nvSpPr>
        <p:spPr>
          <a:xfrm xmlns:a="http://schemas.openxmlformats.org/drawingml/2006/main">
            <a:off x="5143500" y="35242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b="1">
                <a:solidFill>
                  <a:srgbClr val="07111F"/>
                </a:solidFill>
                <a:latin typeface="Arial"/>
                <a:ea typeface="Arial"/>
                <a:cs typeface="Arial"/>
              </a:defRPr>
            </a:pPr>
            <a:r>
              <a:rPr sz="1650" b="1">
                <a:solidFill>
                  <a:srgbClr val="07111F"/>
                </a:solidFill>
                <a:latin typeface="Arial"/>
                <a:ea typeface="Arial"/>
                <a:cs typeface="Arial"/>
              </a:rPr>
              <a:t>Extend</a:t>
            </a:r>
          </a:p>
        </p:txBody>
      </p:sp>
      <p:sp>
        <p:nvSpPr>
          <p:cNvPr id="13" name="">
            <a:extLst xmlns:a="http://schemas.openxmlformats.org/drawingml/2006/main">
              <a:ext uri="{FF2B5EF4-FFF2-40B4-BE49-F238E27FC236}">
                <a16:creationId xmlns:a16="http://schemas.microsoft.com/office/drawing/2014/main" id="{0A6E50BD-013C-443B-84B7-31EE9C3B07BB}"/>
              </a:ext>
            </a:extLst>
          </p:cNvPr>
          <p:cNvSpPr>
            <a:spLocks xmlns:a="http://schemas.openxmlformats.org/drawingml/2006/main" noGrp="1"/>
          </p:cNvSpPr>
          <p:nvPr/>
        </p:nvSpPr>
        <p:spPr>
          <a:xfrm xmlns:a="http://schemas.openxmlformats.org/drawingml/2006/main">
            <a:off x="4495800" y="4038600"/>
            <a:ext cx="2895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3C4858"/>
                </a:solidFill>
                <a:latin typeface="Arial"/>
                <a:ea typeface="Arial"/>
                <a:cs typeface="Arial"/>
              </a:defRPr>
            </a:pPr>
            <a:r>
              <a:rPr sz="1350" b="1">
                <a:solidFill>
                  <a:srgbClr val="3C4858"/>
                </a:solidFill>
                <a:latin typeface="Arial"/>
                <a:ea typeface="Arial"/>
                <a:cs typeface="Arial"/>
              </a:rPr>
              <a:t>Build a controlled reference RP plus recovery threat model.</a:t>
            </a:r>
          </a:p>
        </p:txBody>
      </p:sp>
      <p:sp>
        <p:nvSpPr>
          <p:cNvPr id="14" name="">
            <a:extLst xmlns:a="http://schemas.openxmlformats.org/drawingml/2006/main">
              <a:ext uri="{FF2B5EF4-FFF2-40B4-BE49-F238E27FC236}">
                <a16:creationId xmlns:a16="http://schemas.microsoft.com/office/drawing/2014/main" id="{5F967336-7C2D-4EC1-BC01-D8443006D5EE}"/>
              </a:ext>
            </a:extLst>
          </p:cNvPr>
          <p:cNvSpPr>
            <a:spLocks xmlns:a="http://schemas.openxmlformats.org/drawingml/2006/main" noGrp="1"/>
          </p:cNvSpPr>
          <p:nvPr/>
        </p:nvSpPr>
        <p:spPr>
          <a:xfrm xmlns:a="http://schemas.openxmlformats.org/drawingml/2006/main">
            <a:off x="7981950" y="3257550"/>
            <a:ext cx="3371850" cy="1619250"/>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9525">
            <a:solidFill>
              <a:srgbClr val="D9D3C6"/>
            </a:solidFill>
            <a:prstDash val="solid"/>
          </a:ln>
        </p:spPr>
        <p:txBody>
          <a:bodyPr xmlns:a="http://schemas.openxmlformats.org/drawingml/2006/main"/>
          <a:lstStyle xmlns:a="http://schemas.openxmlformats.org/drawingml/2006/main"/>
          <a:p xmlns:a="http://schemas.openxmlformats.org/drawingml/2006/main"/>
        </p:txBody>
      </p:sp>
      <p:sp>
        <p:nvSpPr>
          <p:cNvPr id="15" name="">
            <a:extLst xmlns:a="http://schemas.openxmlformats.org/drawingml/2006/main">
              <a:ext uri="{FF2B5EF4-FFF2-40B4-BE49-F238E27FC236}">
                <a16:creationId xmlns:a16="http://schemas.microsoft.com/office/drawing/2014/main" id="{4748CFA2-E659-407D-8076-FD8C9E37B63E}"/>
              </a:ext>
            </a:extLst>
          </p:cNvPr>
          <p:cNvSpPr>
            <a:spLocks xmlns:a="http://schemas.openxmlformats.org/drawingml/2006/main" noGrp="1"/>
          </p:cNvSpPr>
          <p:nvPr/>
        </p:nvSpPr>
        <p:spPr>
          <a:xfrm xmlns:a="http://schemas.openxmlformats.org/drawingml/2006/main">
            <a:off x="8210550" y="3486150"/>
            <a:ext cx="476250" cy="361950"/>
          </a:xfrm>
          <a:prstGeom xmlns:a="http://schemas.openxmlformats.org/drawingml/2006/main" prst="roundRect">
            <a:avLst>
              <a:gd name="adj" fmla="val 50000"/>
            </a:avLst>
          </a:prstGeom>
          <a:solidFill xmlns:a="http://schemas.openxmlformats.org/drawingml/2006/main">
            <a:srgbClr val="48D2C2"/>
          </a:solidFill>
          <a:ln xmlns:a="http://schemas.openxmlformats.org/drawingml/2006/main" w="0">
            <a:solidFill>
              <a:srgbClr val="48D2C2"/>
            </a:solidFill>
            <a:prstDash val="solid"/>
          </a:ln>
        </p:spPr>
        <p:txBody>
          <a:bodyPr xmlns:a="http://schemas.openxmlformats.org/drawingml/2006/main"/>
          <a:lstStyle xmlns:a="http://schemas.openxmlformats.org/drawingml/2006/main"/>
          <a:p xmlns:a="http://schemas.openxmlformats.org/drawingml/2006/main"/>
        </p:txBody>
      </p:sp>
      <p:sp>
        <p:nvSpPr>
          <p:cNvPr id="16" name="">
            <a:extLst xmlns:a="http://schemas.openxmlformats.org/drawingml/2006/main">
              <a:ext uri="{FF2B5EF4-FFF2-40B4-BE49-F238E27FC236}">
                <a16:creationId xmlns:a16="http://schemas.microsoft.com/office/drawing/2014/main" id="{D6ABC35F-6ACD-4FB6-A71C-C30B8DA920AD}"/>
              </a:ext>
            </a:extLst>
          </p:cNvPr>
          <p:cNvSpPr>
            <a:spLocks xmlns:a="http://schemas.openxmlformats.org/drawingml/2006/main" noGrp="1"/>
          </p:cNvSpPr>
          <p:nvPr/>
        </p:nvSpPr>
        <p:spPr>
          <a:xfrm xmlns:a="http://schemas.openxmlformats.org/drawingml/2006/main">
            <a:off x="8324850" y="3562350"/>
            <a:ext cx="247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7111F"/>
                </a:solidFill>
                <a:latin typeface="Arial"/>
                <a:ea typeface="Arial"/>
                <a:cs typeface="Arial"/>
              </a:defRPr>
            </a:pPr>
            <a:r>
              <a:rPr sz="1050" b="1">
                <a:solidFill>
                  <a:srgbClr val="07111F"/>
                </a:solidFill>
                <a:latin typeface="Arial"/>
                <a:ea typeface="Arial"/>
                <a:cs typeface="Arial"/>
              </a:rPr>
              <a:t>03</a:t>
            </a:r>
          </a:p>
        </p:txBody>
      </p:sp>
      <p:sp>
        <p:nvSpPr>
          <p:cNvPr id="17" name="">
            <a:extLst xmlns:a="http://schemas.openxmlformats.org/drawingml/2006/main">
              <a:ext uri="{FF2B5EF4-FFF2-40B4-BE49-F238E27FC236}">
                <a16:creationId xmlns:a16="http://schemas.microsoft.com/office/drawing/2014/main" id="{B81ABA82-D672-418F-897B-3AAB7B4B85AD}"/>
              </a:ext>
            </a:extLst>
          </p:cNvPr>
          <p:cNvSpPr>
            <a:spLocks xmlns:a="http://schemas.openxmlformats.org/drawingml/2006/main" noGrp="1"/>
          </p:cNvSpPr>
          <p:nvPr/>
        </p:nvSpPr>
        <p:spPr>
          <a:xfrm xmlns:a="http://schemas.openxmlformats.org/drawingml/2006/main">
            <a:off x="8858250" y="35242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b="1">
                <a:solidFill>
                  <a:srgbClr val="07111F"/>
                </a:solidFill>
                <a:latin typeface="Arial"/>
                <a:ea typeface="Arial"/>
                <a:cs typeface="Arial"/>
              </a:defRPr>
            </a:pPr>
            <a:r>
              <a:rPr sz="1650" b="1">
                <a:solidFill>
                  <a:srgbClr val="07111F"/>
                </a:solidFill>
                <a:latin typeface="Arial"/>
                <a:ea typeface="Arial"/>
                <a:cs typeface="Arial"/>
              </a:rPr>
              <a:t>Test</a:t>
            </a:r>
          </a:p>
        </p:txBody>
      </p:sp>
      <p:sp>
        <p:nvSpPr>
          <p:cNvPr id="18" name="">
            <a:extLst xmlns:a="http://schemas.openxmlformats.org/drawingml/2006/main">
              <a:ext uri="{FF2B5EF4-FFF2-40B4-BE49-F238E27FC236}">
                <a16:creationId xmlns:a16="http://schemas.microsoft.com/office/drawing/2014/main" id="{1627E216-FCC1-4E44-91C8-0C16E7E36024}"/>
              </a:ext>
            </a:extLst>
          </p:cNvPr>
          <p:cNvSpPr>
            <a:spLocks xmlns:a="http://schemas.openxmlformats.org/drawingml/2006/main" noGrp="1"/>
          </p:cNvSpPr>
          <p:nvPr/>
        </p:nvSpPr>
        <p:spPr>
          <a:xfrm xmlns:a="http://schemas.openxmlformats.org/drawingml/2006/main">
            <a:off x="8210550" y="4038600"/>
            <a:ext cx="2895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3C4858"/>
                </a:solidFill>
                <a:latin typeface="Arial"/>
                <a:ea typeface="Arial"/>
                <a:cs typeface="Arial"/>
              </a:defRPr>
            </a:pPr>
            <a:r>
              <a:rPr sz="1350" b="1">
                <a:solidFill>
                  <a:srgbClr val="3C4858"/>
                </a:solidFill>
                <a:latin typeface="Arial"/>
                <a:ea typeface="Arial"/>
                <a:cs typeface="Arial"/>
              </a:rPr>
              <a:t>Add assistive-technology and browser/authenticator coverage.</a:t>
            </a:r>
          </a:p>
        </p:txBody>
      </p:sp>
      <p:sp>
        <p:nvSpPr>
          <p:cNvPr id="19" name="">
            <a:extLst xmlns:a="http://schemas.openxmlformats.org/drawingml/2006/main">
              <a:ext uri="{FF2B5EF4-FFF2-40B4-BE49-F238E27FC236}">
                <a16:creationId xmlns:a16="http://schemas.microsoft.com/office/drawing/2014/main" id="{184A52C6-D5F6-44F8-9415-D2CFEDEC795C}"/>
              </a:ext>
            </a:extLst>
          </p:cNvPr>
          <p:cNvSpPr>
            <a:spLocks xmlns:a="http://schemas.openxmlformats.org/drawingml/2006/main" noGrp="1"/>
          </p:cNvSpPr>
          <p:nvPr/>
        </p:nvSpPr>
        <p:spPr>
          <a:xfrm xmlns:a="http://schemas.openxmlformats.org/drawingml/2006/main">
            <a:off x="552450" y="5410200"/>
            <a:ext cx="10801350" cy="666750"/>
          </a:xfrm>
          <a:prstGeom xmlns:a="http://schemas.openxmlformats.org/drawingml/2006/main" prst="roundRect">
            <a:avLst>
              <a:gd name="adj" fmla="val 17143"/>
            </a:avLst>
          </a:prstGeom>
          <a:solidFill xmlns:a="http://schemas.openxmlformats.org/drawingml/2006/main">
            <a:srgbClr val="07111F"/>
          </a:solidFill>
          <a:ln xmlns:a="http://schemas.openxmlformats.org/drawingml/2006/main" w="0">
            <a:solidFill>
              <a:srgbClr val="07111F"/>
            </a:solidFill>
            <a:prstDash val="solid"/>
          </a:ln>
        </p:spPr>
        <p:txBody>
          <a:bodyPr xmlns:a="http://schemas.openxmlformats.org/drawingml/2006/main"/>
          <a:lstStyle xmlns:a="http://schemas.openxmlformats.org/drawingml/2006/main"/>
          <a:p xmlns:a="http://schemas.openxmlformats.org/drawingml/2006/main"/>
        </p:txBody>
      </p:sp>
      <p:sp>
        <p:nvSpPr>
          <p:cNvPr id="20" name="">
            <a:extLst xmlns:a="http://schemas.openxmlformats.org/drawingml/2006/main">
              <a:ext uri="{FF2B5EF4-FFF2-40B4-BE49-F238E27FC236}">
                <a16:creationId xmlns:a16="http://schemas.microsoft.com/office/drawing/2014/main" id="{DA7A345E-6C72-42D7-A312-B941B9304930}"/>
              </a:ext>
            </a:extLst>
          </p:cNvPr>
          <p:cNvSpPr>
            <a:spLocks xmlns:a="http://schemas.openxmlformats.org/drawingml/2006/main" noGrp="1"/>
          </p:cNvSpPr>
          <p:nvPr/>
        </p:nvSpPr>
        <p:spPr>
          <a:xfrm xmlns:a="http://schemas.openxmlformats.org/drawingml/2006/main">
            <a:off x="800100" y="5600700"/>
            <a:ext cx="733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Next: genuine participant evidence · server verification · accessibility matrix</a:t>
            </a:r>
          </a:p>
        </p:txBody>
      </p:sp>
      <p:sp>
        <p:nvSpPr>
          <p:cNvPr id="21" name="">
            <a:extLst xmlns:a="http://schemas.openxmlformats.org/drawingml/2006/main">
              <a:ext uri="{FF2B5EF4-FFF2-40B4-BE49-F238E27FC236}">
                <a16:creationId xmlns:a16="http://schemas.microsoft.com/office/drawing/2014/main" id="{2188EB3F-5CB1-424C-B05E-FA5ECF0C2220}"/>
              </a:ext>
            </a:extLst>
          </p:cNvPr>
          <p:cNvSpPr>
            <a:spLocks xmlns:a="http://schemas.openxmlformats.org/drawingml/2006/main" noGrp="1"/>
          </p:cNvSpPr>
          <p:nvPr/>
        </p:nvSpPr>
        <p:spPr>
          <a:xfrm xmlns:a="http://schemas.openxmlformats.org/drawingml/2006/main">
            <a:off x="8248650" y="560070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350" b="1">
                <a:solidFill>
                  <a:srgbClr val="48D2C2"/>
                </a:solidFill>
                <a:latin typeface="Arial"/>
                <a:ea typeface="Arial"/>
                <a:cs typeface="Arial"/>
              </a:defRPr>
            </a:pPr>
            <a:r>
              <a:rPr sz="1350" b="1">
                <a:solidFill>
                  <a:srgbClr val="48D2C2"/>
                </a:solidFill>
                <a:latin typeface="Arial"/>
                <a:ea typeface="Arial"/>
                <a:cs typeface="Arial"/>
              </a:rPr>
              <a:t>No invented outcomes</a:t>
            </a:r>
          </a:p>
        </p:txBody>
      </p:sp>
      <p:sp>
        <p:nvSpPr>
          <p:cNvPr id="22" name="">
            <a:extLst xmlns:a="http://schemas.openxmlformats.org/drawingml/2006/main">
              <a:ext uri="{FF2B5EF4-FFF2-40B4-BE49-F238E27FC236}">
                <a16:creationId xmlns:a16="http://schemas.microsoft.com/office/drawing/2014/main" id="{5A7267A6-0590-4CAA-B9C3-AB26E3CF5D75}"/>
              </a:ext>
            </a:extLst>
          </p:cNvPr>
          <p:cNvSpPr>
            <a:spLocks xmlns:a="http://schemas.openxmlformats.org/drawingml/2006/main" noGrp="1"/>
          </p:cNvSpPr>
          <p:nvPr/>
        </p:nvSpPr>
        <p:spPr>
          <a:xfrm xmlns:a="http://schemas.openxmlformats.org/drawingml/2006/main">
            <a:off x="552450" y="6381750"/>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00" b="1">
                <a:solidFill>
                  <a:srgbClr val="07111F"/>
                </a:solidFill>
                <a:latin typeface="Arial"/>
                <a:ea typeface="Arial"/>
                <a:cs typeface="Arial"/>
              </a:defRPr>
            </a:pPr>
            <a:r>
              <a:rPr sz="1200" b="1">
                <a:solidFill>
                  <a:srgbClr val="07111F"/>
                </a:solidFill>
                <a:latin typeface="Arial"/>
                <a:ea typeface="Arial"/>
                <a:cs typeface="Arial"/>
              </a:rPr>
              <a:t>End of backup Q&amp;A</a:t>
            </a:r>
          </a:p>
        </p:txBody>
      </p:sp>
    </p:spTree>
    <p:extLst>
      <p:ext uri="{BB962C8B-B14F-4D97-AF65-F5344CB8AC3E}">
        <p14:creationId xmlns:p14="http://schemas.microsoft.com/office/powerpoint/2010/main" val="15293927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2026-07-20T02:35:47.7700000Z</dcterms:created>
  <dcterms:modified xsi:type="dcterms:W3CDTF">2026-07-20T02:35:47.7700000Z</dcterms:modified>
</coreProperties>
</file>