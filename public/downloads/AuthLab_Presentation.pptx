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97dbe1beee46ec" /><Relationship Type="http://schemas.openxmlformats.org/officeDocument/2006/relationships/extended-properties" Target="/docProps/app.xml" Id="R8a5e6a16b2134e89" /><Relationship Type="http://schemas.openxmlformats.org/officeDocument/2006/relationships/officeDocument" Target="/ppt/presentation.xml" Id="R30ab89fe19fd40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4b7cffd9cf4029"/>
  </p:sldMasterIdLst>
  <p:notesMasterIdLst>
    <p:notesMasterId xmlns:r="http://schemas.openxmlformats.org/officeDocument/2006/relationships" r:id="R3074fdcc89444c91"/>
  </p:notesMasterIdLst>
  <p:sldIdLst>
    <p:sldId xmlns:r="http://schemas.openxmlformats.org/officeDocument/2006/relationships" id="256" r:id="R35e66244229f4451"/>
    <p:sldId xmlns:r="http://schemas.openxmlformats.org/officeDocument/2006/relationships" id="257" r:id="Ra8caa0ef76494334"/>
    <p:sldId xmlns:r="http://schemas.openxmlformats.org/officeDocument/2006/relationships" id="258" r:id="R22c5676591f84015"/>
    <p:sldId xmlns:r="http://schemas.openxmlformats.org/officeDocument/2006/relationships" id="259" r:id="Rcb8414cc85fb4dad"/>
    <p:sldId xmlns:r="http://schemas.openxmlformats.org/officeDocument/2006/relationships" id="260" r:id="R0ee5b0223aa44d81"/>
    <p:sldId xmlns:r="http://schemas.openxmlformats.org/officeDocument/2006/relationships" id="261" r:id="R591340f58ae94c2f"/>
    <p:sldId xmlns:r="http://schemas.openxmlformats.org/officeDocument/2006/relationships" id="262" r:id="Rf7757e66c6004f5f"/>
    <p:sldId xmlns:r="http://schemas.openxmlformats.org/officeDocument/2006/relationships" id="263" r:id="R772d238b9839404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a14729e8a2246c4" /><Relationship Type="http://schemas.openxmlformats.org/officeDocument/2006/relationships/slideMaster" Target="/ppt/slideMasters/slideMaster1.xml" Id="R914b7cffd9cf4029" /><Relationship Type="http://schemas.openxmlformats.org/officeDocument/2006/relationships/notesMaster" Target="/ppt/notesMasters/notesMaster1.xml" Id="R3074fdcc89444c91" /><Relationship Type="http://schemas.openxmlformats.org/officeDocument/2006/relationships/presProps" Target="/ppt/presProps.xml" Id="R645ee97be9d64311" /><Relationship Type="http://schemas.openxmlformats.org/officeDocument/2006/relationships/tableStyles" Target="/ppt/tableStyles.xml" Id="R80c9cd47f3b4434f" /><Relationship Type="http://schemas.openxmlformats.org/officeDocument/2006/relationships/slide" Target="/ppt/slides/slide1.xml" Id="R35e66244229f4451" /><Relationship Type="http://schemas.openxmlformats.org/officeDocument/2006/relationships/slide" Target="/ppt/slides/slide2.xml" Id="Ra8caa0ef76494334" /><Relationship Type="http://schemas.openxmlformats.org/officeDocument/2006/relationships/slide" Target="/ppt/slides/slide3.xml" Id="R22c5676591f84015" /><Relationship Type="http://schemas.openxmlformats.org/officeDocument/2006/relationships/slide" Target="/ppt/slides/slide4.xml" Id="Rcb8414cc85fb4dad" /><Relationship Type="http://schemas.openxmlformats.org/officeDocument/2006/relationships/slide" Target="/ppt/slides/slide5.xml" Id="R0ee5b0223aa44d81" /><Relationship Type="http://schemas.openxmlformats.org/officeDocument/2006/relationships/slide" Target="/ppt/slides/slide6.xml" Id="R591340f58ae94c2f" /><Relationship Type="http://schemas.openxmlformats.org/officeDocument/2006/relationships/slide" Target="/ppt/slides/slide7.xml" Id="Rf7757e66c6004f5f" /><Relationship Type="http://schemas.openxmlformats.org/officeDocument/2006/relationships/slide" Target="/ppt/slides/slide8.xml" Id="R772d238b983940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7b8d61826642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3c7b9c7dd9432b" /><Relationship Type="http://schemas.openxmlformats.org/officeDocument/2006/relationships/notesMaster" Target="/ppt/notesMasters/notesMaster1.xml" Id="Ra3ff15084cdc4f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cf27715d7542ae" /><Relationship Type="http://schemas.openxmlformats.org/officeDocument/2006/relationships/notesMaster" Target="/ppt/notesMasters/notesMaster1.xml" Id="R990207b3429d43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d7e7e3274e458b" /><Relationship Type="http://schemas.openxmlformats.org/officeDocument/2006/relationships/notesMaster" Target="/ppt/notesMasters/notesMaster1.xml" Id="R73b1c5e1be6640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34b8e72efe41cc" /><Relationship Type="http://schemas.openxmlformats.org/officeDocument/2006/relationships/notesMaster" Target="/ppt/notesMasters/notesMaster1.xml" Id="R3feb63d298f94d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14e21e7da64ccd" /><Relationship Type="http://schemas.openxmlformats.org/officeDocument/2006/relationships/notesMaster" Target="/ppt/notesMasters/notesMaster1.xml" Id="R369c02fed52f462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c318ff1d063406c" /><Relationship Type="http://schemas.openxmlformats.org/officeDocument/2006/relationships/notesMaster" Target="/ppt/notesMasters/notesMaster1.xml" Id="Ra9c22a133367401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67ccd1481264a90" /><Relationship Type="http://schemas.openxmlformats.org/officeDocument/2006/relationships/notesMaster" Target="/ppt/notesMasters/notesMaster1.xml" Id="R3001315e2e7d497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c212e141f643b2" /><Relationship Type="http://schemas.openxmlformats.org/officeDocument/2006/relationships/notesMaster" Target="/ppt/notesMasters/notesMaster1.xml" Id="R3f2638f368a84f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project began with a simple question: why do people still get phished after being told to choose stronger passwords?</a:t>
            </a:r>
          </a:p>
          <a:p xmlns:a="http://schemas.openxmlformats.org/drawingml/2006/main">
            <a:r>
              <a:t>My answer is that authentication security is a protocol problem as well as a user-behaviour problem.</a:t>
            </a:r>
          </a:p>
          <a:p xmlns:a="http://schemas.openxmlformats.org/drawingml/2006/main">
            <a:r>
              <a:t>I built AuthLab, an interactive beginner guide that connects password reuse, phishing, MFA and passkeys in one attack-and-control story.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first design decision was to separate identity, authentication and authorisation.</a:t>
            </a:r>
          </a:p>
          <a:p xmlns:a="http://schemas.openxmlformats.org/drawingml/2006/main">
            <a:r>
              <a:t>A valid login can still be unsafe if the identity record is recovered incorrectly or if the account receives excessive privilege.</a:t>
            </a:r>
          </a:p>
          <a:p xmlns:a="http://schemas.openxmlformats.org/drawingml/2006/main">
            <a:r>
              <a:t>The learning objective is diagnostic: learners should name the failed layer, choose a control that changes the attack path, and still identify what risk remains.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finished website contains four modules, a pre-test and post-test, short reflections, and an anonymous CSV or JSON export.</a:t>
            </a:r>
          </a:p>
          <a:p xmlns:a="http://schemas.openxmlformats.org/drawingml/2006/main">
            <a:r>
              <a:t>It uses only fictional domains and dummy credentials, and browser storage stays local to the device.</a:t>
            </a:r>
          </a:p>
          <a:p xmlns:a="http://schemas.openxmlformats.org/drawingml/2006/main">
            <a:r>
              <a:t>I also produced a printable workbook, report, demonstration video, and this editable slide deck so the resource works in different teaching settings.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simulation uses one dummy credential pair across three fictional services.</a:t>
            </a:r>
          </a:p>
          <a:p xmlns:a="http://schemas.openxmlformats.org/drawingml/2006/main">
            <a:r>
              <a:t>Two services reuse the password and are shown as compromised; one uses a unique password and blocks the replay.</a:t>
            </a:r>
          </a:p>
          <a:p xmlns:a="http://schemas.openxmlformats.org/drawingml/2006/main">
            <a:r>
              <a:t>The deeper point is that complexity does not stop replay. Controls are needed at different stages: detect exposure, slow automation, and remove shared replayable proof where possible.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phishing module avoids the weak habit of teaching people to spot bad grammar or ugly logos.</a:t>
            </a:r>
          </a:p>
          <a:p xmlns:a="http://schemas.openxmlformats.org/drawingml/2006/main">
            <a:r>
              <a:t>Each scenario asks for stronger evidence: the registered domain, the application requesting access, the context, and a trusted way to reach the service.</a:t>
            </a:r>
          </a:p>
          <a:p xmlns:a="http://schemas.openxmlformats.org/drawingml/2006/main">
            <a:r>
              <a:t>This matters because a polished page can still relay a password or a live one-time code to the real service.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most technical section compares passwords, OTP methods and WebAuthn passkeys.</a:t>
            </a:r>
          </a:p>
          <a:p xmlns:a="http://schemas.openxmlformats.org/drawingml/2006/main">
            <a:r>
              <a:t>During a passkey ceremony, the relying party sends a fresh challenge. The authenticator signs it with a private key that does not leave the authenticator, and the browser scopes the operation to the relying party.</a:t>
            </a:r>
          </a:p>
          <a:p xmlns:a="http://schemas.openxmlformats.org/drawingml/2006/main">
            <a:r>
              <a:t>This gives phishing resistance, but not perfection: recovery, device compromise, ecosystem availability and excessive authorisation still require engineering controls.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verified the production build, completed the entire browser path, checked local reset and export behaviour, and reviewed the document and slide renders.</a:t>
            </a:r>
          </a:p>
          <a:p xmlns:a="http://schemas.openxmlformats.org/drawingml/2006/main">
            <a:r>
              <a:t>That is evidence that the artefact works. It is not evidence that real learners improved.</a:t>
            </a:r>
          </a:p>
          <a:p xmlns:a="http://schemas.openxmlformats.org/drawingml/2006/main">
            <a:r>
              <a:t>To keep the report honest, the workbook includes a ready-to-run protocol for three to five volunteers, anonymous participant codes, pre/post scoring and open feedback. No participant data has been invented.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My main conclusion is that security improves when the proof changes, not only when the password string becomes harder to guess.</a:t>
            </a:r>
          </a:p>
          <a:p xmlns:a="http://schemas.openxmlformats.org/drawingml/2006/main">
            <a:r>
              <a:t>The project teaches three reusable moves: diagnose the failed layer, interrupt the attack at multiple stages, and bind authentication output to the intended verifier.</a:t>
            </a:r>
          </a:p>
          <a:p xmlns:a="http://schemas.openxmlformats.org/drawingml/2006/main">
            <a:r>
              <a:t>The complete package includes the interactive site, workbook, report, demonstration video and editable slides. Thank you; I am happy to take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aa4a79aa3240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336580fd6f44c1" /><Relationship Type="http://schemas.openxmlformats.org/officeDocument/2006/relationships/slideLayout" Target="/ppt/slideLayouts/slideLayout1.xml" Id="R036dab690eb14b4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6dab690eb14b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12945aab3f4691" /><Relationship Type="http://schemas.openxmlformats.org/officeDocument/2006/relationships/image" Target="/ppt/media/image.png" Id="R06d2e0bb2f4a44ad" /><Relationship Type="http://schemas.openxmlformats.org/officeDocument/2006/relationships/notesSlide" Target="/ppt/notesSlides/notesSlide1.xml" Id="Rf8d4f4ed922a41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ca477328db422e" /><Relationship Type="http://schemas.openxmlformats.org/officeDocument/2006/relationships/notesSlide" Target="/ppt/notesSlides/notesSlide2.xml" Id="R3c6e98ba4f794d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d74749cecb429b" /><Relationship Type="http://schemas.openxmlformats.org/officeDocument/2006/relationships/image" Target="/ppt/media/image.jpeg" Id="Rd202b043779147b8" /><Relationship Type="http://schemas.openxmlformats.org/officeDocument/2006/relationships/notesSlide" Target="/ppt/notesSlides/notesSlide3.xml" Id="R0e6a3c323be34b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b41d96dadb44c2" /><Relationship Type="http://schemas.openxmlformats.org/officeDocument/2006/relationships/image" Target="/ppt/media/image2.jpeg" Id="R2b14dee0173b4879" /><Relationship Type="http://schemas.openxmlformats.org/officeDocument/2006/relationships/notesSlide" Target="/ppt/notesSlides/notesSlide4.xml" Id="R840d110f4b4d49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586d9608684e47" /><Relationship Type="http://schemas.openxmlformats.org/officeDocument/2006/relationships/image" Target="/ppt/media/image3.jpeg" Id="R8bb0d8b672a24d47" /><Relationship Type="http://schemas.openxmlformats.org/officeDocument/2006/relationships/notesSlide" Target="/ppt/notesSlides/notesSlide5.xml" Id="Rca7bfd117fe448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c333628cc0485e" /><Relationship Type="http://schemas.openxmlformats.org/officeDocument/2006/relationships/image" Target="/ppt/media/image4.jpeg" Id="Ra2bc28abd357480b" /><Relationship Type="http://schemas.openxmlformats.org/officeDocument/2006/relationships/notesSlide" Target="/ppt/notesSlides/notesSlide6.xml" Id="Rcb76d61af32e438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cd867dceb94d0b" /><Relationship Type="http://schemas.openxmlformats.org/officeDocument/2006/relationships/image" Target="/ppt/media/image5.jpeg" Id="Rf2fa4e5b3c044d9a" /><Relationship Type="http://schemas.openxmlformats.org/officeDocument/2006/relationships/notesSlide" Target="/ppt/notesSlides/notesSlide7.xml" Id="Ra708cfab5cd44ce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60f1c20a0d4c6a" /><Relationship Type="http://schemas.openxmlformats.org/officeDocument/2006/relationships/notesSlide" Target="/ppt/notesSlides/notesSlide8.xml" Id="Rb4bb688c3d17450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35A88D-50E6-4EF6-A864-76E90EF3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24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d2e0bb2f4a44ad"/>
          <a:srcRect xmlns:a="http://schemas.openxmlformats.org/drawingml/2006/main" l="31042" t="0" r="310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oundRect">
            <a:avLst>
              <a:gd name="adj" fmla="val 2308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DE3A6F-F609-4262-BFB7-84D30C4B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0"/>
            <a:ext cx="857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9157C5-50AF-4FD5-B6F3-C2E09296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28194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8D2C2"/>
          </a:solidFill>
          <a:ln xmlns:a="http://schemas.openxmlformats.org/drawingml/2006/main" w="0">
            <a:solidFill>
              <a:srgbClr val="48D2C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627875-B7CD-48D0-BEAD-E0830585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2450"/>
            <a:ext cx="259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COMP6441 SECURITY ENGINEERING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7C8A34-F025-4392-9E89-C102C761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619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FROM PASSWORDS</a:t>
            </a:r>
          </a:p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TO PASSKEYS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3B05C2-DCD8-4B08-815A-D9EBCD9E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581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9B5C5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A9B5C5"/>
                </a:solidFill>
                <a:latin typeface="Aptos"/>
                <a:ea typeface="Aptos"/>
                <a:cs typeface="Aptos"/>
              </a:rPr>
              <a:t>An interactive guide to authentication, phishing and MFA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27C1EA-51AB-4937-A927-70DD8434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1143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D2C2"/>
          </a:solidFill>
          <a:ln xmlns:a="http://schemas.openxmlformats.org/drawingml/2006/main" w="0">
            <a:solidFill>
              <a:srgbClr val="48D2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AC16A1-3BB0-4FDE-9E67-A0D970F3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Name: ____________   zID: ____________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A4FCBC-BDA0-4C78-9C68-B77363EA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5C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5C5"/>
                </a:solidFill>
                <a:latin typeface="Aptos"/>
                <a:ea typeface="Aptos"/>
                <a:cs typeface="Aptos"/>
              </a:rPr>
              <a:t>Teach Something · beginner audience · 5-minute presentation</a:t>
            </a:r>
          </a:p>
        </p:txBody>
      </p:sp>
    </p:spTree>
    <p:extLst>
      <p:ext uri="{BB962C8B-B14F-4D97-AF65-F5344CB8AC3E}">
        <p14:creationId xmlns:p14="http://schemas.microsoft.com/office/powerpoint/2010/main" val="15228440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DB1837-3003-45D2-BDCB-537CDA05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8D2C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8D2C2"/>
                </a:solidFill>
                <a:latin typeface="Aptos"/>
                <a:ea typeface="Aptos"/>
                <a:cs typeface="Aptos"/>
              </a:rPr>
              <a:t>AUTHLAB  / 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99FD52-1E0E-4554-8819-1B1B2242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952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9B5C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9B5C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CE8863-49D0-46B1-8AF9-B3554946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1182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B58"/>
          </a:solidFill>
          <a:ln xmlns:a="http://schemas.openxmlformats.org/drawingml/2006/main" w="0">
            <a:solidFill>
              <a:srgbClr val="263B5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5F430C-2EA5-4A7D-8B88-575AB987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01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Login security fails when three decisions blur together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A4935B-323E-4AD9-8E56-4E11472F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B5C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5C5"/>
                </a:solidFill>
                <a:latin typeface="Aptos"/>
                <a:ea typeface="Aptos"/>
                <a:cs typeface="Aptos"/>
              </a:rPr>
              <a:t>The project teaches the boundary before it teaches the technology.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705CDF-8176-4A0C-BFB2-DEA21C112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28850"/>
            <a:ext cx="3467100" cy="25146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3243D"/>
          </a:solidFill>
          <a:ln xmlns:a="http://schemas.openxmlformats.org/drawingml/2006/main" w="19050">
            <a:solidFill>
              <a:srgbClr val="263B5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FDBD5D-C6A5-49EA-9F9B-AEA6FD6C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28850"/>
            <a:ext cx="3467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A8FF"/>
          </a:solidFill>
          <a:ln xmlns:a="http://schemas.openxmlformats.org/drawingml/2006/main" w="0">
            <a:solidFill>
              <a:srgbClr val="5DA8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B7AC1C-A32F-4916-A7E1-2D208FA7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A8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DA8FF"/>
                </a:solidFill>
                <a:latin typeface="Aptos"/>
                <a:ea typeface="Aptos"/>
                <a:cs typeface="Aptos"/>
              </a:rPr>
              <a:t>IDENTITY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B07388-3C5B-4102-923B-D53E4486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2895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Who is the account about?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FE82FE-CB2C-46C4-8587-56C1A638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05275"/>
            <a:ext cx="1428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A8FF"/>
          </a:solidFill>
          <a:ln xmlns:a="http://schemas.openxmlformats.org/drawingml/2006/main" w="0">
            <a:solidFill>
              <a:srgbClr val="5DA8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520C72-CC6A-4795-BE17-C9357091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81475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Record / claim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F7B92D-391A-4051-B7E3-948C26E9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28850"/>
            <a:ext cx="3467100" cy="25146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3243D"/>
          </a:solidFill>
          <a:ln xmlns:a="http://schemas.openxmlformats.org/drawingml/2006/main" w="19050">
            <a:solidFill>
              <a:srgbClr val="263B5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C59C74-0606-44AF-B15A-9866F1016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28850"/>
            <a:ext cx="3467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D2C2"/>
          </a:solidFill>
          <a:ln xmlns:a="http://schemas.openxmlformats.org/drawingml/2006/main" w="0">
            <a:solidFill>
              <a:srgbClr val="48D2C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8A1002-4C81-4003-BC6F-E327B7195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717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8D2C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8D2C2"/>
                </a:solidFill>
                <a:latin typeface="Aptos"/>
                <a:ea typeface="Aptos"/>
                <a:cs typeface="Aptos"/>
              </a:rPr>
              <a:t>AUTHENTICATION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7F4877-C4FE-43E2-921A-1F8E43F3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05150"/>
            <a:ext cx="2895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proof is accepted now?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E6660F-4FFA-4173-B03C-3586BDB2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05275"/>
            <a:ext cx="1428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8D2C2"/>
          </a:solidFill>
          <a:ln xmlns:a="http://schemas.openxmlformats.org/drawingml/2006/main" w="0">
            <a:solidFill>
              <a:srgbClr val="48D2C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A9DA95-81FE-469B-8E83-5911EB78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181475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Password / key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DF0D1F-4C8E-40F8-A981-0F0A79BE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28850"/>
            <a:ext cx="3467100" cy="25146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3243D"/>
          </a:solidFill>
          <a:ln xmlns:a="http://schemas.openxmlformats.org/drawingml/2006/main" w="19050">
            <a:solidFill>
              <a:srgbClr val="263B5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7FC9F6-2977-42CF-AF41-A0F799A1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28850"/>
            <a:ext cx="3467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866"/>
          </a:solidFill>
          <a:ln xmlns:a="http://schemas.openxmlformats.org/drawingml/2006/main" w="0">
            <a:solidFill>
              <a:srgbClr val="F4C86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B628AC-D006-4C26-820C-521C4BDA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717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C86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C866"/>
                </a:solidFill>
                <a:latin typeface="Aptos"/>
                <a:ea typeface="Aptos"/>
                <a:cs typeface="Aptos"/>
              </a:rPr>
              <a:t>AUTHORISATION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4BE176-6B4C-4D02-B666-ED3632C6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05150"/>
            <a:ext cx="2895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may the session do?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586619-5771-4D25-88C2-4B1F2882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05275"/>
            <a:ext cx="1428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C866"/>
          </a:solidFill>
          <a:ln xmlns:a="http://schemas.openxmlformats.org/drawingml/2006/main" w="0">
            <a:solidFill>
              <a:srgbClr val="F4C86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526126-5B22-4A1F-B3F6-2837B624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81475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Scope / privilege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BBE747-FA3C-43CC-B986-70B53641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197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D2C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8D2C2"/>
                </a:solidFill>
                <a:latin typeface="Aptos"/>
                <a:ea typeface="Aptos"/>
                <a:cs typeface="Aptos"/>
              </a:rPr>
              <a:t>Goal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C06D6D-DA44-4449-B000-31AD7471D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81600"/>
            <a:ext cx="962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Enable a beginner to diagnose the failed layer, choose a control that changes the attack path, and explain residual risk.</a:t>
            </a:r>
          </a:p>
        </p:txBody>
      </p:sp>
    </p:spTree>
    <p:extLst>
      <p:ext uri="{BB962C8B-B14F-4D97-AF65-F5344CB8AC3E}">
        <p14:creationId xmlns:p14="http://schemas.microsoft.com/office/powerpoint/2010/main" val="7657972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31A683-8DF4-428C-AC40-AB5193BF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8D2C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8D2C2"/>
                </a:solidFill>
                <a:latin typeface="Aptos"/>
                <a:ea typeface="Aptos"/>
                <a:cs typeface="Aptos"/>
              </a:rPr>
              <a:t>AUTHLAB  /  BUILD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98F55C-8FD1-473A-8085-6D00A0650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952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9B5C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9B5C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2B9FB4-D317-4188-BB9A-E761D1B9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1182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B58"/>
          </a:solidFill>
          <a:ln xmlns:a="http://schemas.openxmlformats.org/drawingml/2006/main" w="0">
            <a:solidFill>
              <a:srgbClr val="263B5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35F176-16A7-4D9C-B57D-6C0E62FCF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01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Four modules turn an attack chain into decisions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BD2EF3-9668-4A3D-A801-CE73D0C7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B5C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5C5"/>
                </a:solidFill>
                <a:latin typeface="Aptos"/>
                <a:ea typeface="Aptos"/>
                <a:cs typeface="Aptos"/>
              </a:rPr>
              <a:t>The website stores progress locally and exports anonymous learning evidence.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02b043779147b8"/>
          <a:srcRect xmlns:a="http://schemas.openxmlformats.org/drawingml/2006/main" l="32" t="0" r="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2076450"/>
            <a:ext cx="6667500" cy="3752850"/>
          </a:xfrm>
          <a:prstGeom xmlns:a="http://schemas.openxmlformats.org/drawingml/2006/main" prst="roundRect">
            <a:avLst>
              <a:gd name="adj" fmla="val 3046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6F2EA7-9166-4904-BADE-C6C72197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076450"/>
            <a:ext cx="4210050" cy="3752850"/>
          </a:xfrm>
          <a:prstGeom xmlns:a="http://schemas.openxmlformats.org/drawingml/2006/main" prst="roundRect">
            <a:avLst>
              <a:gd name="adj" fmla="val 4061"/>
            </a:avLst>
          </a:prstGeom>
          <a:solidFill xmlns:a="http://schemas.openxmlformats.org/drawingml/2006/main">
            <a:srgbClr val="13243D"/>
          </a:solidFill>
          <a:ln xmlns:a="http://schemas.openxmlformats.org/drawingml/2006/main" w="19050">
            <a:solidFill>
              <a:srgbClr val="263B5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B1713D-04B8-4693-97D1-AED5F812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43150"/>
            <a:ext cx="4572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A8FF"/>
          </a:solidFill>
          <a:ln xmlns:a="http://schemas.openxmlformats.org/drawingml/2006/main" w="0">
            <a:solidFill>
              <a:srgbClr val="5DA8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E0A6BF-0202-403C-B03F-FE3079B3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193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407EE7-E160-4B52-A958-1DA2F8B3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90775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Separate the layers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775BA0-DB36-4913-B9CE-5A70D678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57500"/>
            <a:ext cx="365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B58"/>
          </a:solidFill>
          <a:ln xmlns:a="http://schemas.openxmlformats.org/drawingml/2006/main" w="0">
            <a:solidFill>
              <a:srgbClr val="263B5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55868A-EB8E-4AF0-8DF6-71AB0891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76575"/>
            <a:ext cx="4572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85"/>
          </a:solidFill>
          <a:ln xmlns:a="http://schemas.openxmlformats.org/drawingml/2006/main" w="0">
            <a:solidFill>
              <a:srgbClr val="FF7A8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DF987C-0C64-4062-A0BE-90D7F68D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527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1B2EAF-ACBA-496E-B3F7-F2577647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2420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Trace credential stuffing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8F6A75-588C-4D7E-84AB-4608AB071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590925"/>
            <a:ext cx="365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B58"/>
          </a:solidFill>
          <a:ln xmlns:a="http://schemas.openxmlformats.org/drawingml/2006/main" w="0">
            <a:solidFill>
              <a:srgbClr val="263B5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B79CE9-C031-4159-8A64-2AD343175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10000"/>
            <a:ext cx="4572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C866"/>
          </a:solidFill>
          <a:ln xmlns:a="http://schemas.openxmlformats.org/drawingml/2006/main" w="0">
            <a:solidFill>
              <a:srgbClr val="F4C86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A1F429-26DC-49A4-98C9-4ACACC44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862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4F8F0C-16F6-4D18-BF7E-E758DBEB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57625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Inspect origin and context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82B1ED-EACF-45E4-B716-CC4361D9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324350"/>
            <a:ext cx="365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B58"/>
          </a:solidFill>
          <a:ln xmlns:a="http://schemas.openxmlformats.org/drawingml/2006/main" w="0">
            <a:solidFill>
              <a:srgbClr val="263B5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1403B8-1923-44DC-9EC1-0C8F8D76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43425"/>
            <a:ext cx="4572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8D2C2"/>
          </a:solidFill>
          <a:ln xmlns:a="http://schemas.openxmlformats.org/drawingml/2006/main" w="0">
            <a:solidFill>
              <a:srgbClr val="48D2C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351764-1AB2-4737-B493-155F4936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196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468AED-5696-467B-AB2C-45BCF9B0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9105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Compare MFA with passkeys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93A8FA-95FA-4F15-ABC6-BAC5CC8F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3340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8D2C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8D2C2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A9D820-2E61-4118-8A54-A5F9C4338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9590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5C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5C5"/>
                </a:solidFill>
                <a:latin typeface="Aptos"/>
                <a:ea typeface="Aptos"/>
                <a:cs typeface="Aptos"/>
              </a:rPr>
              <a:t>Pre/post score · scenario answers · confidence · reflection</a:t>
            </a:r>
          </a:p>
        </p:txBody>
      </p:sp>
    </p:spTree>
    <p:extLst>
      <p:ext uri="{BB962C8B-B14F-4D97-AF65-F5344CB8AC3E}">
        <p14:creationId xmlns:p14="http://schemas.microsoft.com/office/powerpoint/2010/main" val="18220022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5219D2-77DF-41E4-B98A-B31B0CB1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8D2C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8D2C2"/>
                </a:solidFill>
                <a:latin typeface="Aptos"/>
                <a:ea typeface="Aptos"/>
                <a:cs typeface="Aptos"/>
              </a:rPr>
              <a:t>AUTHLAB  / 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A84D3B-CBAF-4DB1-9F1A-1D655662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952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9B5C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9B5C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7AC509-E632-4ABA-8563-F41BA48F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1182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B58"/>
          </a:solidFill>
          <a:ln xmlns:a="http://schemas.openxmlformats.org/drawingml/2006/main" w="0">
            <a:solidFill>
              <a:srgbClr val="263B5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6F3EDD-27A9-4B31-906F-A48D45AA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01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strong reused password is still replayable proof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F08D6E-E048-4CDA-9557-AEF85DCA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B5C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5C5"/>
                </a:solidFill>
                <a:latin typeface="Aptos"/>
                <a:ea typeface="Aptos"/>
                <a:cs typeface="Aptos"/>
              </a:rPr>
              <a:t>The simulation changes one variable and makes two account takeovers visible.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14dee0173b4879"/>
          <a:srcRect xmlns:a="http://schemas.openxmlformats.org/drawingml/2006/main" l="0" t="102" r="0" b="1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2133600"/>
            <a:ext cx="729615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D8EAC5-C046-499D-A559-A6949472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90750"/>
            <a:ext cx="4381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85"/>
          </a:solidFill>
          <a:ln xmlns:a="http://schemas.openxmlformats.org/drawingml/2006/main" w="0">
            <a:solidFill>
              <a:srgbClr val="FF7A8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7FF24A-4A03-47D4-9A35-847F2F95E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669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37B83E-3F1A-43EA-8F2F-C4F8F9C4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9075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A8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7A85"/>
                </a:solidFill>
                <a:latin typeface="Aptos"/>
                <a:ea typeface="Aptos"/>
                <a:cs typeface="Aptos"/>
              </a:rPr>
              <a:t>Exposure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9F3413-B5D0-4740-953B-AA85601A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24125"/>
            <a:ext cx="271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Breach detection + notification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28AE5C-55EE-4E19-83CB-7CE9CD21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52800"/>
            <a:ext cx="4381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C866"/>
          </a:solidFill>
          <a:ln xmlns:a="http://schemas.openxmlformats.org/drawingml/2006/main" w="0">
            <a:solidFill>
              <a:srgbClr val="F4C86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B68C25-F840-4F91-8189-9F4DAEC5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290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670011-878C-4AC0-AB2D-1C4DFD93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5280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C86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C866"/>
                </a:solidFill>
                <a:latin typeface="Aptos"/>
                <a:ea typeface="Aptos"/>
                <a:cs typeface="Aptos"/>
              </a:rPr>
              <a:t>Automated replay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DC3790-5639-45A6-95D3-FF0D607D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86175"/>
            <a:ext cx="271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Rate limits + bot signals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8512CC-C062-4C3E-B5F0-328AD23D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514850"/>
            <a:ext cx="4381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8D2C2"/>
          </a:solidFill>
          <a:ln xmlns:a="http://schemas.openxmlformats.org/drawingml/2006/main" w="0">
            <a:solidFill>
              <a:srgbClr val="48D2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01E9CB-A447-438D-86A2-0F4CEBD5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910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0F9FCD-2737-45DB-9EF9-2D842213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1485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8D2C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48D2C2"/>
                </a:solidFill>
                <a:latin typeface="Aptos"/>
                <a:ea typeface="Aptos"/>
                <a:cs typeface="Aptos"/>
              </a:rPr>
              <a:t>Cross-service acceptance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8CD53A-2B36-459C-ACCB-10EBF9613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48225"/>
            <a:ext cx="271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Unique or non-replayable proof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C3971A-19E9-4E83-B521-01CFE123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34050"/>
            <a:ext cx="3429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3243D"/>
          </a:solidFill>
          <a:ln xmlns:a="http://schemas.openxmlformats.org/drawingml/2006/main" w="9525">
            <a:solidFill>
              <a:srgbClr val="263B5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987D45-A824-443A-9D98-CD027570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8674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632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Control the protocol, not only the string.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F76D82-E30B-486E-8468-668E82F7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2462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9B5C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9B5C5"/>
                </a:solidFill>
                <a:latin typeface="Aptos"/>
                <a:ea typeface="Aptos"/>
                <a:cs typeface="Aptos"/>
              </a:rPr>
              <a:t>Source basis: OWASP Credential Stuffing; NIST SP 800-63B password guidance.</a:t>
            </a:r>
          </a:p>
        </p:txBody>
      </p:sp>
    </p:spTree>
    <p:extLst>
      <p:ext uri="{BB962C8B-B14F-4D97-AF65-F5344CB8AC3E}">
        <p14:creationId xmlns:p14="http://schemas.microsoft.com/office/powerpoint/2010/main" val="12374476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4DFE8F-1A70-4B52-924C-BA7F1FD9C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8D2C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8D2C2"/>
                </a:solidFill>
                <a:latin typeface="Aptos"/>
                <a:ea typeface="Aptos"/>
                <a:cs typeface="Aptos"/>
              </a:rPr>
              <a:t>AUTHLAB  / 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29035B-E231-4D3F-9657-244CB307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952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9B5C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9B5C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7247AC-D9BE-4631-B698-D8FAAF4B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1182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B58"/>
          </a:solidFill>
          <a:ln xmlns:a="http://schemas.openxmlformats.org/drawingml/2006/main" w="0">
            <a:solidFill>
              <a:srgbClr val="263B5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49C2C8-F216-4D4D-9CAA-83B80C1E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01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182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copied logo is weak evidence; the registered domain is decisive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16948D-9301-447D-803E-A3B9D1EF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B5C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5C5"/>
                </a:solidFill>
                <a:latin typeface="Aptos"/>
                <a:ea typeface="Aptos"/>
                <a:cs typeface="Aptos"/>
              </a:rPr>
              <a:t>Four scenarios force an evidence-based action before revealing feedback.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b0d8b672a24d47"/>
          <a:srcRect xmlns:a="http://schemas.openxmlformats.org/drawingml/2006/main" l="1199" t="0" r="11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2057400"/>
            <a:ext cx="7239000" cy="4171950"/>
          </a:xfrm>
          <a:prstGeom xmlns:a="http://schemas.openxmlformats.org/drawingml/2006/main" prst="roundRect">
            <a:avLst>
              <a:gd name="adj" fmla="val 274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49E91D-5889-4933-BC65-D45476F6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76450"/>
            <a:ext cx="3409950" cy="19812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3243D"/>
          </a:solidFill>
          <a:ln xmlns:a="http://schemas.openxmlformats.org/drawingml/2006/main" w="19050">
            <a:solidFill>
              <a:srgbClr val="263B5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B553D4-7098-4AEC-8FA0-2886C390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431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C86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C866"/>
                </a:solidFill>
                <a:latin typeface="Aptos"/>
                <a:ea typeface="Aptos"/>
                <a:cs typeface="Aptos"/>
              </a:rPr>
              <a:t>DECISION RULE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0C2FD3-C35E-4D0A-8FE1-37266D4D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00350"/>
            <a:ext cx="276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Inspect origin.</a:t>
            </a:r>
          </a:p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 a trusted route.</a:t>
            </a:r>
          </a:p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Verify context.</a:t>
            </a:r>
          </a:p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Report safely.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CD7D67-7141-468F-A050-C1D5656B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43400"/>
            <a:ext cx="3409950" cy="1695450"/>
          </a:xfrm>
          <a:prstGeom xmlns:a="http://schemas.openxmlformats.org/drawingml/2006/main" prst="roundRect">
            <a:avLst>
              <a:gd name="adj" fmla="val 8989"/>
            </a:avLst>
          </a:prstGeom>
          <a:solidFill xmlns:a="http://schemas.openxmlformats.org/drawingml/2006/main">
            <a:srgbClr val="1B2838"/>
          </a:solidFill>
          <a:ln xmlns:a="http://schemas.openxmlformats.org/drawingml/2006/main" w="19050">
            <a:solidFill>
              <a:srgbClr val="263B5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C7BA8C-72A5-4018-B935-779506B83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6101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8D2C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8D2C2"/>
                </a:solidFill>
                <a:latin typeface="Aptos"/>
                <a:ea typeface="Aptos"/>
                <a:cs typeface="Aptos"/>
              </a:rPr>
              <a:t>Why this matters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6C199A-7114-46AC-860C-1508978D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953000"/>
            <a:ext cx="278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5C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5C5"/>
                </a:solidFill>
                <a:latin typeface="Aptos"/>
                <a:ea typeface="Aptos"/>
                <a:cs typeface="Aptos"/>
              </a:rPr>
              <a:t>Passwords and real-time OTPs can be relayed. A trustworthy-looking interface cannot prove which verifier receives the secret.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D634FC-D8D7-4F8A-94E7-B552BD19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2462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9B5C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9B5C5"/>
                </a:solidFill>
                <a:latin typeface="Aptos"/>
                <a:ea typeface="Aptos"/>
                <a:cs typeface="Aptos"/>
              </a:rPr>
              <a:t>Source basis: CISA phishing guidance; NIST phishing-resistance criteria.</a:t>
            </a:r>
          </a:p>
        </p:txBody>
      </p:sp>
    </p:spTree>
    <p:extLst>
      <p:ext uri="{BB962C8B-B14F-4D97-AF65-F5344CB8AC3E}">
        <p14:creationId xmlns:p14="http://schemas.microsoft.com/office/powerpoint/2010/main" val="16779173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C2FC30-20DA-41B9-B082-FF50FA79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8D2C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8D2C2"/>
                </a:solidFill>
                <a:latin typeface="Aptos"/>
                <a:ea typeface="Aptos"/>
                <a:cs typeface="Aptos"/>
              </a:rPr>
              <a:t>AUTHLAB  /  TECHNICALITY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C723E0-CBE7-4135-80C1-6309D258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952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9B5C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9B5C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4EAD31-092F-4544-AB44-DA837FE4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1182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B58"/>
          </a:solidFill>
          <a:ln xmlns:a="http://schemas.openxmlformats.org/drawingml/2006/main" w="0">
            <a:solidFill>
              <a:srgbClr val="263B5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044917-BE2C-48FA-A393-8BCEDE86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01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139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Passkeys resist phishing by binding proof to the relying party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25E185-247C-43F3-87D0-3F9BC76A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B5C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5C5"/>
                </a:solidFill>
                <a:latin typeface="Aptos"/>
                <a:ea typeface="Aptos"/>
                <a:cs typeface="Aptos"/>
              </a:rPr>
              <a:t>The private key stays with the authenticator; a look-alike origin cannot obtain a valid assertion.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bc28abd357480b"/>
          <a:srcRect xmlns:a="http://schemas.openxmlformats.org/drawingml/2006/main" l="0" t="123" r="0" b="1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2114550"/>
            <a:ext cx="6858000" cy="3848100"/>
          </a:xfrm>
          <a:prstGeom xmlns:a="http://schemas.openxmlformats.org/drawingml/2006/main" prst="roundRect">
            <a:avLst>
              <a:gd name="adj" fmla="val 297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E02B77-33C6-4593-8C90-633125C4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90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9B5C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9B5C5"/>
                </a:solidFill>
                <a:latin typeface="Aptos"/>
                <a:ea typeface="Aptos"/>
                <a:cs typeface="Aptos"/>
              </a:rPr>
              <a:t>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24822D-9646-4D8C-92DC-5BBA7C839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9075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9B5C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9B5C5"/>
                </a:solidFill>
                <a:latin typeface="Aptos"/>
                <a:ea typeface="Aptos"/>
                <a:cs typeface="Aptos"/>
              </a:rPr>
              <a:t>PROOF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3E17FE-E830-4FE2-82CD-529C2251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1907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5C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9B5C5"/>
                </a:solidFill>
                <a:latin typeface="Aptos"/>
                <a:ea typeface="Aptos"/>
                <a:cs typeface="Aptos"/>
              </a:rPr>
              <a:t>ORIGIN-BOUND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D5D763-34B0-4733-A34D-7D58E5D36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52700"/>
            <a:ext cx="39052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3243D"/>
          </a:solidFill>
          <a:ln xmlns:a="http://schemas.openxmlformats.org/drawingml/2006/main" w="9525">
            <a:solidFill>
              <a:srgbClr val="263B5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78F8AF-BC9E-405E-BB40-53B75E9A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71462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A8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7A85"/>
                </a:solidFill>
                <a:latin typeface="Aptos"/>
                <a:ea typeface="Aptos"/>
                <a:cs typeface="Aptos"/>
              </a:rPr>
              <a:t>PASSWORD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E8468A-E49C-40FC-BEBF-4ED878D5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14625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replayable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F8FCB8-1822-466E-B9BC-0B45E779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647950"/>
            <a:ext cx="742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85"/>
          </a:solidFill>
          <a:ln xmlns:a="http://schemas.openxmlformats.org/drawingml/2006/main" w="0">
            <a:solidFill>
              <a:srgbClr val="FF7A8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076163-2A78-4DBB-B11B-77D6A3EF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7241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419472-E410-40F4-88E3-C861DB52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48025"/>
            <a:ext cx="39052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3243D"/>
          </a:solidFill>
          <a:ln xmlns:a="http://schemas.openxmlformats.org/drawingml/2006/main" w="9525">
            <a:solidFill>
              <a:srgbClr val="263B5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DD93C2-610C-45BB-8465-28BABB9D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4099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C86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C866"/>
                </a:solidFill>
                <a:latin typeface="Aptos"/>
                <a:ea typeface="Aptos"/>
                <a:cs typeface="Aptos"/>
              </a:rPr>
              <a:t>TOTP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140FC9-64C2-4A4B-8F17-53D41A3F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4099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short-lived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3B269D-931B-4DB4-845A-E118691DF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343275"/>
            <a:ext cx="742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C866"/>
          </a:solidFill>
          <a:ln xmlns:a="http://schemas.openxmlformats.org/drawingml/2006/main" w="0">
            <a:solidFill>
              <a:srgbClr val="F4C86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C1E979-8543-457A-A6FB-377826B1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4194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22B984-4101-4F70-8C63-8E536D7A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943350"/>
            <a:ext cx="39052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3243D"/>
          </a:solidFill>
          <a:ln xmlns:a="http://schemas.openxmlformats.org/drawingml/2006/main" w="9525">
            <a:solidFill>
              <a:srgbClr val="263B5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099D9A-4199-4660-B372-74B7856BF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0527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8D2C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8D2C2"/>
                </a:solidFill>
                <a:latin typeface="Aptos"/>
                <a:ea typeface="Aptos"/>
                <a:cs typeface="Aptos"/>
              </a:rPr>
              <a:t>PASSKEY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9818DE-6EEE-4536-946A-F5306773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105275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signed challenge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3E5DC7-BEB6-4D5C-AB1F-55B2155C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038600"/>
            <a:ext cx="742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8D2C2"/>
          </a:solidFill>
          <a:ln xmlns:a="http://schemas.openxmlformats.org/drawingml/2006/main" w="0">
            <a:solidFill>
              <a:srgbClr val="48D2C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47FFBA-3411-4ABC-B4BA-9737D8F9D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1148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49E327-B29D-4664-8E82-C9D0D8D0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95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C86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C866"/>
                </a:solidFill>
                <a:latin typeface="Aptos"/>
                <a:ea typeface="Aptos"/>
                <a:cs typeface="Aptos"/>
              </a:rPr>
              <a:t>Residual risk remains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A2837A-55C4-4377-B40F-8AE48A3B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238750"/>
            <a:ext cx="3790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Device compromise · recovery · ecosystem availability · excessive authorisation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998F60-F4D3-4EBB-91F7-7374E5054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2462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9B5C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9B5C5"/>
                </a:solidFill>
                <a:latin typeface="Aptos"/>
                <a:ea typeface="Aptos"/>
                <a:cs typeface="Aptos"/>
              </a:rPr>
              <a:t>Source basis: W3C WebAuthn Level 3; FIDO Alliance passkey guidance; NIST SP 800-63B.</a:t>
            </a:r>
          </a:p>
        </p:txBody>
      </p:sp>
    </p:spTree>
    <p:extLst>
      <p:ext uri="{BB962C8B-B14F-4D97-AF65-F5344CB8AC3E}">
        <p14:creationId xmlns:p14="http://schemas.microsoft.com/office/powerpoint/2010/main" val="13405119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2E27B8-F4D4-4C98-B752-8A3D44F06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8D2C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8D2C2"/>
                </a:solidFill>
                <a:latin typeface="Aptos"/>
                <a:ea typeface="Aptos"/>
                <a:cs typeface="Aptos"/>
              </a:rPr>
              <a:t>AUTHLAB  / 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F2AF02-B904-4720-8515-F3535ECE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952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9B5C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9B5C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DB37B5-206F-4A88-9F5B-C332E7AC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1182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B58"/>
          </a:solidFill>
          <a:ln xmlns:a="http://schemas.openxmlformats.org/drawingml/2006/main" w="0">
            <a:solidFill>
              <a:srgbClr val="263B5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55CFEE-A697-400A-A75C-B9A82819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01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051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artefact works; learning evidence still needs participants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275EE1-0921-4B3D-B84C-B08361BAA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B5C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5C5"/>
                </a:solidFill>
                <a:latin typeface="Aptos"/>
                <a:ea typeface="Aptos"/>
                <a:cs typeface="Aptos"/>
              </a:rPr>
              <a:t>Functional evidence and human evidence are reported separately.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fa4e5b3c044d9a"/>
          <a:srcRect xmlns:a="http://schemas.openxmlformats.org/drawingml/2006/main" l="16" t="0" r="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2095500"/>
            <a:ext cx="6534150" cy="3676650"/>
          </a:xfrm>
          <a:prstGeom xmlns:a="http://schemas.openxmlformats.org/drawingml/2006/main" prst="roundRect">
            <a:avLst>
              <a:gd name="adj" fmla="val 3109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3571D4-5E14-4645-A123-DEB8DCEE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95500"/>
            <a:ext cx="41719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3243D"/>
          </a:solidFill>
          <a:ln xmlns:a="http://schemas.openxmlformats.org/drawingml/2006/main" w="9525">
            <a:solidFill>
              <a:srgbClr val="263B5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70A921-4561-4825-9737-3B734F2B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2383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9B5C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9B5C5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7A3B9B-BBA8-4C04-AB7D-147560BE4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457450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5D6A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75D6A3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A2391B-FA61-4023-98FD-D4C31454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4315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Production build completed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D8BE95-D046-43C8-8776-5DFBA34C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62300"/>
            <a:ext cx="41719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3243D"/>
          </a:solidFill>
          <a:ln xmlns:a="http://schemas.openxmlformats.org/drawingml/2006/main" w="9525">
            <a:solidFill>
              <a:srgbClr val="263B5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04B0F4-07F4-48AC-A059-B7DBCD1E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3051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9B5C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9B5C5"/>
                </a:solidFill>
                <a:latin typeface="Aptos"/>
                <a:ea typeface="Aptos"/>
                <a:cs typeface="Aptos"/>
              </a:rPr>
              <a:t>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C1AE76-3CC3-4CCE-A9F5-BD4A2060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24250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5D6A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75D6A3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07D2FF-07A2-491C-9062-1E829250A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0995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Full learner journey tested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6F0112-6712-463A-9B11-ABD9E9074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29100"/>
            <a:ext cx="41719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3243D"/>
          </a:solidFill>
          <a:ln xmlns:a="http://schemas.openxmlformats.org/drawingml/2006/main" w="9525">
            <a:solidFill>
              <a:srgbClr val="263B5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1B81AC-3CAF-44A5-9465-51F6AE81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3719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9B5C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9B5C5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5BF7BC-88EF-491A-9873-7D7B45CD7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591050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C86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C866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F2F08A-6785-4300-A915-C2B00F2C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7675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 participant results invented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569BCD-4F7B-4910-A654-B03C0B88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457825"/>
            <a:ext cx="41719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2B2416"/>
          </a:solidFill>
          <a:ln xmlns:a="http://schemas.openxmlformats.org/drawingml/2006/main" w="9525">
            <a:solidFill>
              <a:srgbClr val="F4C86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3C34C6-28CA-4D1E-B7E9-4C21A0E47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60070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93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Next: run the supplied pre/post protocol with 3–5 volunteers and report every outcome, including zero or negative change.</a:t>
            </a:r>
          </a:p>
        </p:txBody>
      </p:sp>
    </p:spTree>
    <p:extLst>
      <p:ext uri="{BB962C8B-B14F-4D97-AF65-F5344CB8AC3E}">
        <p14:creationId xmlns:p14="http://schemas.microsoft.com/office/powerpoint/2010/main" val="6971130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F97CA9-F04D-4655-91C2-1A8B99F9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AUTHLAB  /  TAKEAWAY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2C1635-C66D-4DEA-914A-508A6562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A5BD25-E6AB-4310-86C0-AA64E2DBE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666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Security improves when</a:t>
            </a:r>
          </a:p>
          <a:p xmlns:a="http://schemas.openxmlformats.org/drawingml/2006/main">
            <a:pPr algn="l">
              <a:defRPr sz="40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the proof changes.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93DDFB-7E7E-4098-880F-EE7DF2EC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57550"/>
            <a:ext cx="33718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3C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0085C0-5A2A-43A5-88C5-9611ABC2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476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A8FF"/>
          </a:solidFill>
          <a:ln xmlns:a="http://schemas.openxmlformats.org/drawingml/2006/main" w="0">
            <a:solidFill>
              <a:srgbClr val="5DA8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B29F0C-E903-4B7C-9F43-C9C8C73F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62350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19DC1A-DC1F-416F-8907-3EB77895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Diagnose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233BE1-F466-42AC-8C92-CB22AB01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38600"/>
            <a:ext cx="2895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C485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C4858"/>
                </a:solidFill>
                <a:latin typeface="Aptos"/>
                <a:ea typeface="Aptos"/>
                <a:cs typeface="Aptos"/>
              </a:rPr>
              <a:t>Separate identity, authentication and authorisation.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2B30E8-0376-4590-B1ED-AB06EB19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57550"/>
            <a:ext cx="33718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3C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6F7520-EE27-440E-859B-B41C1774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86150"/>
            <a:ext cx="476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85"/>
          </a:solidFill>
          <a:ln xmlns:a="http://schemas.openxmlformats.org/drawingml/2006/main" w="0">
            <a:solidFill>
              <a:srgbClr val="FF7A8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300904-FCEE-4074-B2ED-4604A51A1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562350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30AE4D-A289-4E5A-8384-B3ED8F7B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24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Interrupt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6E50BD-013C-443B-84B7-31EE9C3B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38600"/>
            <a:ext cx="2895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C485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C4858"/>
                </a:solidFill>
                <a:latin typeface="Aptos"/>
                <a:ea typeface="Aptos"/>
                <a:cs typeface="Aptos"/>
              </a:rPr>
              <a:t>Place controls along the whole attack path.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967336-7C2D-4EC1-BC01-D8443006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57550"/>
            <a:ext cx="33718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3C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48CFA2-E659-407D-8076-FD8C9E37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86150"/>
            <a:ext cx="476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8D2C2"/>
          </a:solidFill>
          <a:ln xmlns:a="http://schemas.openxmlformats.org/drawingml/2006/main" w="0">
            <a:solidFill>
              <a:srgbClr val="48D2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ABC35F-6ACD-4FB6-A71C-C30B8DA9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62350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1ABA82-D672-418F-897B-3AAB7B4B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24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Bind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27E216-FCC1-4E44-91C8-0C16E7E36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38600"/>
            <a:ext cx="2895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C485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C4858"/>
                </a:solidFill>
                <a:latin typeface="Aptos"/>
                <a:ea typeface="Aptos"/>
                <a:cs typeface="Aptos"/>
              </a:rPr>
              <a:t>Prefer origin-bound, non-replayable authentication.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4A52C6-D5F6-44F8-9415-D2CFEDEC7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10200"/>
            <a:ext cx="108013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7A345E-6C72-42D7-A312-B941B930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00700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Interactive guide · workbook · report · 90-second demo · editable slides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88EB3F-5CB1-424C-B05E-FA5ECF0C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600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48D2C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8D2C2"/>
                </a:solidFill>
                <a:latin typeface="Aptos"/>
                <a:ea typeface="Aptos"/>
                <a:cs typeface="Aptos"/>
              </a:rPr>
              <a:t>Open the project website to try 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7267A6-0590-4CAA-B9C3-AB26E3CF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5293927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2026-07-20T00:15:25.0180000Z</dcterms:created>
  <dcterms:modified xsi:type="dcterms:W3CDTF">2026-07-20T00:15:25.0180000Z</dcterms:modified>
</coreProperties>
</file>